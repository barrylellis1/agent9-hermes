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6" d="100"/>
          <a:sy n="106" d="100"/>
        </p:scale>
        <p:origin x="176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B6474B-F3C8-41F9-B758-63912C576582}" type="datetimeFigureOut">
              <a:rPr lang="en-US" smtClean="0"/>
              <a:t>12/3/2025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FBBC03-F8B7-4C17-B651-4CB490DF796B}" type="slidenum">
              <a:rPr lang="en-US" smtClean="0"/>
              <a:t>‹#›</a:t>
            </a:fld>
            <a:endParaRPr lang="en-US"/>
          </a:p>
        </p:txBody>
      </p:sp>
    </p:spTree>
    <p:extLst>
      <p:ext uri="{BB962C8B-B14F-4D97-AF65-F5344CB8AC3E}">
        <p14:creationId xmlns:p14="http://schemas.microsoft.com/office/powerpoint/2010/main" val="2307506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paint the picture of what enterprises face today. They're paying millions for insights that arrive months late. They get one firm's perspective with no way to verify the reasoning. And when the engagement ends, all that knowledge walks out the door. This is an $800 billion market ripe for disruption.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gap in the market. Traditional consulting has expertise but lacks speed and affordability. Generic AI tools are fast and cheap but lack real expertise and accountability. Agent9 sits in the middle—we deliver branded expertise at AI speed with full audit trails. No one else is doing this.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how Agent9 works. When a customer has a strategic question, they don't get one consultant's opinion—they get multiple branded AI agents, each trained on a firm's proprietary methodology, debating the problem. The platform synthesizes the best ideas and delivers a recommendation with a complete audit trail.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core technical differentiation. Agent9 isn't a chatbot waiting for questions—it's an always-on intelligence system. Situation Awareness continuously monitors KPIs. Deep Analysis investigates anomalies. Solution Finding debates options. This pipeline is what makes the consulting marketplace valuable.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Situation Awareness is our always-on monitoring layer. It connects to your data warehouse and continuously scans KPIs. When something significant happens—a revenue drop, a margin squeeze, a customer churn spike—it surfaces immediately to the right executive. This replaces the army of analysts building dashboards that no one looks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Situation Awareness flags an issue, Deep Analysis automatically investigates. It doesn't just tell you revenue is down—it tells you WHY. It drills across every dimension in your data, quantifies contributing factors, and builds a structured problem frame. This is what consultants spend 4-8 weeks doing manually.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where the CaaS marketplace comes alive. The Deep Analysis output feeds into Solution Finding, where multiple branded agents—each trained on a firm's proprietary methodology—debate the options. You get McKinsey's perspective AND BCG's perspective AND your industry expert's perspective, synthesized into a recommendation with full audit trail.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why our pipeline is defensible. ChatGPT can't monitor your data—it waits for questions. Traditional consulting is reactive and slow. Only Agent9 combines proactive monitoring, automated investigation, and multi-perspective solution finding with full audit trails.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break down the timeline. Traditional consulting takes 3-6 months from kickoff to final recommendation. With Agent9, because we're pre-connected to customer data and our agents work in parallel, we compress that to hours.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We're not pitching a vision—we've built the core platform. Our orchestrator coordinates multiple agents through complete workflows. Every decision has an audit trail. What we're building next is the marketplace layer.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business model is a three-sided marketplace. On the supply side, consulting firms and domain experts bring their methodologies. On the demand side, enterprises need strategic insights. Agent9 earns from subscriptions, transaction fees, services, and partner revenue share.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We're targeting segments that are data-mature and frustrated with traditional consulting. PE portfolio ops teams are ideal—they have a mandate to improve operations and they're tired of paying McKinsey $2M per portfolio company.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ideal customer already has data infrastructure. They have an analytics team who can validate outputs. And they're spending at least a million a year on consulting, so the pain is real.</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go-to-market has three phases. First, we land early adopters through direct sales. Then we expand within those accounts. Finally, we launch the partner marketplace, which becomes our primary growth engine.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number one objection from partners is revenue cannibalization. Our reframe: Agent9 lets them access the mid-market—companies that can't afford a $500K engagement. These become qualified leads for human work.</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Traditional consulting is high expertise but low scale. Generic AI is high scale but low expertise. Agent9 occupies the upper right quadrant: branded expertise at AI scale. No one else is there.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defensibility comes from network effects. As we add partners, we have more expertise, which attracts more customers. Partner methodologies encoded in our platform create lock-in.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We're targeting 15 customers in year one at $100K average deal size, growing to 150 customers by year three. Our unit economics are strong—LTV to CAC ratio of 8-10x with 75-80% gross margins.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We're not just pitching an idea—we have working software. Our core platform is built. We're now polishing the UI for demos and beginning customer pilots.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[Customize with your actual team backgrounds and credentials]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what we're looking for. From investors, we're raising [X] million. From partners, we want 2-3 strategic firms for co-development. From customers, we're seeking 5-10 early adopter pilots.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is now the right time? The technology is ready, the market is ready, and there's no competition. The first mover will define the category.</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We're going after an $800 billion market with a solution that's 10-50x faster and 70-90% cheaper. We bring multiple perspectives together through AI debate, with full audit trails. We're building the future of consulting.</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Mid-market example with $3M consulting spend. 69% cost reduction with 10x faster insights.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Partners can earn over $1M in year one from a combination of agent fees, transaction revenue, and upsells to human engagements.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Agent9 is the only solution that combines strategic expertise, on-demand availability, multi-perspective debate, and full audit trails.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365D"/>
        </a:solidFill>
        <a:effectLst/>
      </p:bgPr>
    </p:bg>
    <p:spTree>
      <p:nvGrpSpPr>
        <p:cNvPr id="1" name=""/>
        <p:cNvGrpSpPr/>
        <p:nvPr/>
      </p:nvGrpSpPr>
      <p:grpSpPr>
        <a:xfrm>
          <a:off x="0" y="0"/>
          <a:ext cx="0" cy="0"/>
          <a:chOff x="0" y="0"/>
          <a:chExt cx="0" cy="0"/>
        </a:xfrm>
      </p:grpSpPr>
      <p:sp>
        <p:nvSpPr>
          <p:cNvPr id="2" name="TextBox 1"/>
          <p:cNvSpPr txBox="1"/>
          <p:nvPr/>
        </p:nvSpPr>
        <p:spPr>
          <a:xfrm>
            <a:off x="457200" y="2286000"/>
            <a:ext cx="8229600" cy="914400"/>
          </a:xfrm>
          <a:prstGeom prst="rect">
            <a:avLst/>
          </a:prstGeom>
          <a:noFill/>
        </p:spPr>
        <p:txBody>
          <a:bodyPr wrap="none">
            <a:spAutoFit/>
          </a:bodyPr>
          <a:lstStyle/>
          <a:p>
            <a:pPr algn="ctr">
              <a:defRPr sz="5400" b="1">
                <a:solidFill>
                  <a:srgbClr val="FFFFFF"/>
                </a:solidFill>
              </a:defRPr>
            </a:pPr>
            <a:r>
              <a:t>Agent9</a:t>
            </a:r>
          </a:p>
        </p:txBody>
      </p:sp>
      <p:sp>
        <p:nvSpPr>
          <p:cNvPr id="3" name="TextBox 2"/>
          <p:cNvSpPr txBox="1"/>
          <p:nvPr/>
        </p:nvSpPr>
        <p:spPr>
          <a:xfrm>
            <a:off x="457200" y="3291840"/>
            <a:ext cx="8229600" cy="731520"/>
          </a:xfrm>
          <a:prstGeom prst="rect">
            <a:avLst/>
          </a:prstGeom>
          <a:noFill/>
        </p:spPr>
        <p:txBody>
          <a:bodyPr wrap="none">
            <a:spAutoFit/>
          </a:bodyPr>
          <a:lstStyle/>
          <a:p>
            <a:pPr algn="ctr">
              <a:defRPr sz="2800">
                <a:solidFill>
                  <a:srgbClr val="FFFFFF"/>
                </a:solidFill>
              </a:defRPr>
            </a:pPr>
            <a:r>
              <a:t>The Agentic Consulting Marketplace</a:t>
            </a:r>
          </a:p>
        </p:txBody>
      </p:sp>
      <p:sp>
        <p:nvSpPr>
          <p:cNvPr id="4" name="TextBox 3"/>
          <p:cNvSpPr txBox="1"/>
          <p:nvPr/>
        </p:nvSpPr>
        <p:spPr>
          <a:xfrm>
            <a:off x="457200" y="4206240"/>
            <a:ext cx="8229600" cy="548640"/>
          </a:xfrm>
          <a:prstGeom prst="rect">
            <a:avLst/>
          </a:prstGeom>
          <a:noFill/>
        </p:spPr>
        <p:txBody>
          <a:bodyPr wrap="none">
            <a:spAutoFit/>
          </a:bodyPr>
          <a:lstStyle/>
          <a:p>
            <a:pPr algn="ctr">
              <a:defRPr sz="1800" i="1">
                <a:solidFill>
                  <a:srgbClr val="FFFFFF"/>
                </a:solidFill>
              </a:defRPr>
            </a:pPr>
            <a:r>
              <a:t>Transforming $800B of consulting into on-demand, AI-powered expertise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Enterprise Decision-Making is Broken</a:t>
            </a:r>
          </a:p>
        </p:txBody>
      </p:sp>
      <p:sp>
        <p:nvSpPr>
          <p:cNvPr id="4" name="TextBox 3"/>
          <p:cNvSpPr txBox="1"/>
          <p:nvPr/>
        </p:nvSpPr>
        <p:spPr>
          <a:xfrm>
            <a:off x="457200" y="1371600"/>
            <a:ext cx="8229600" cy="4572000"/>
          </a:xfrm>
          <a:prstGeom prst="rect">
            <a:avLst/>
          </a:prstGeom>
          <a:noFill/>
        </p:spPr>
        <p:txBody>
          <a:bodyPr wrap="square">
            <a:spAutoFit/>
          </a:bodyPr>
          <a:lstStyle/>
          <a:p>
            <a:pPr>
              <a:spcAft>
                <a:spcPts val="1200"/>
              </a:spcAft>
              <a:defRPr sz="2400">
                <a:solidFill>
                  <a:srgbClr val="424242"/>
                </a:solidFill>
              </a:defRPr>
            </a:pPr>
            <a:r>
              <a:t>⏱️  Consulting is slow — 12-24 weeks for strategic insights</a:t>
            </a:r>
          </a:p>
          <a:p>
            <a:pPr>
              <a:spcAft>
                <a:spcPts val="1200"/>
              </a:spcAft>
              <a:defRPr sz="2400">
                <a:solidFill>
                  <a:srgbClr val="424242"/>
                </a:solidFill>
              </a:defRPr>
            </a:pPr>
            <a:r>
              <a:t>💰  Consulting is expensive — $500K-$2M minimum engagements</a:t>
            </a:r>
          </a:p>
          <a:p>
            <a:pPr>
              <a:spcAft>
                <a:spcPts val="1200"/>
              </a:spcAft>
              <a:defRPr sz="2400">
                <a:solidFill>
                  <a:srgbClr val="424242"/>
                </a:solidFill>
              </a:defRPr>
            </a:pPr>
            <a:r>
              <a:t>👁️  Single perspective — One firm's bias, no debate</a:t>
            </a:r>
          </a:p>
          <a:p>
            <a:pPr>
              <a:spcAft>
                <a:spcPts val="1200"/>
              </a:spcAft>
              <a:defRPr sz="2400">
                <a:solidFill>
                  <a:srgbClr val="424242"/>
                </a:solidFill>
              </a:defRPr>
            </a:pPr>
            <a:r>
              <a:t>📋  No audit trail — "Trust us" doesn't satisfy boards</a:t>
            </a:r>
          </a:p>
          <a:p>
            <a:pPr>
              <a:spcAft>
                <a:spcPts val="1200"/>
              </a:spcAft>
              <a:defRPr sz="2400">
                <a:solidFill>
                  <a:srgbClr val="424242"/>
                </a:solidFill>
              </a:defRPr>
            </a:pPr>
            <a:r>
              <a:t>🚪  IP walks out — Knowledge leaves with consultants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$800B Market, Zero Agentic Players</a:t>
            </a:r>
          </a:p>
        </p:txBody>
      </p:sp>
      <p:graphicFrame>
        <p:nvGraphicFramePr>
          <p:cNvPr id="4" name="Table 3"/>
          <p:cNvGraphicFramePr>
            <a:graphicFrameLocks noGrp="1"/>
          </p:cNvGraphicFramePr>
          <p:nvPr/>
        </p:nvGraphicFramePr>
        <p:xfrm>
          <a:off x="457200" y="1463040"/>
          <a:ext cx="8229600" cy="27432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57200">
                <a:tc>
                  <a:txBody>
                    <a:bodyPr/>
                    <a:lstStyle/>
                    <a:p>
                      <a:pPr algn="ctr">
                        <a:defRPr sz="1600" b="1">
                          <a:solidFill>
                            <a:srgbClr val="FFFFFF"/>
                          </a:solidFill>
                        </a:defRPr>
                      </a:pPr>
                      <a:r>
                        <a:t>Capability</a:t>
                      </a:r>
                    </a:p>
                  </a:txBody>
                  <a:tcPr>
                    <a:solidFill>
                      <a:srgbClr val="1A365D"/>
                    </a:solidFill>
                  </a:tcPr>
                </a:tc>
                <a:tc>
                  <a:txBody>
                    <a:bodyPr/>
                    <a:lstStyle/>
                    <a:p>
                      <a:pPr algn="ctr">
                        <a:defRPr sz="1600" b="1">
                          <a:solidFill>
                            <a:srgbClr val="FFFFFF"/>
                          </a:solidFill>
                        </a:defRPr>
                      </a:pPr>
                      <a:r>
                        <a:t>Traditional Consulting</a:t>
                      </a:r>
                    </a:p>
                  </a:txBody>
                  <a:tcPr>
                    <a:solidFill>
                      <a:srgbClr val="1A365D"/>
                    </a:solidFill>
                  </a:tcPr>
                </a:tc>
                <a:tc>
                  <a:txBody>
                    <a:bodyPr/>
                    <a:lstStyle/>
                    <a:p>
                      <a:pPr algn="ctr">
                        <a:defRPr sz="1600" b="1">
                          <a:solidFill>
                            <a:srgbClr val="FFFFFF"/>
                          </a:solidFill>
                        </a:defRPr>
                      </a:pPr>
                      <a:r>
                        <a:t>AI Tools (ChatGPT)</a:t>
                      </a:r>
                    </a:p>
                  </a:txBody>
                  <a:tcPr>
                    <a:solidFill>
                      <a:srgbClr val="1A365D"/>
                    </a:solidFill>
                  </a:tcPr>
                </a:tc>
                <a:tc>
                  <a:txBody>
                    <a:bodyPr/>
                    <a:lstStyle/>
                    <a:p>
                      <a:pPr algn="ctr">
                        <a:defRPr sz="1600" b="1">
                          <a:solidFill>
                            <a:srgbClr val="FFFFFF"/>
                          </a:solidFill>
                        </a:defRPr>
                      </a:pPr>
                      <a:r>
                        <a:t>Agent9 CaaS</a:t>
                      </a:r>
                    </a:p>
                  </a:txBody>
                  <a:tcPr>
                    <a:solidFill>
                      <a:srgbClr val="1A365D"/>
                    </a:solidFill>
                  </a:tcPr>
                </a:tc>
                <a:extLst>
                  <a:ext uri="{0D108BD9-81ED-4DB2-BD59-A6C34878D82A}">
                    <a16:rowId xmlns:a16="http://schemas.microsoft.com/office/drawing/2014/main" val="10000"/>
                  </a:ext>
                </a:extLst>
              </a:tr>
              <a:tr h="457200">
                <a:tc>
                  <a:txBody>
                    <a:bodyPr/>
                    <a:lstStyle/>
                    <a:p>
                      <a:pPr algn="ctr">
                        <a:defRPr sz="1400">
                          <a:solidFill>
                            <a:srgbClr val="424242"/>
                          </a:solidFill>
                        </a:defRPr>
                      </a:pPr>
                      <a:r>
                        <a:t>Expertise</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extLst>
                  <a:ext uri="{0D108BD9-81ED-4DB2-BD59-A6C34878D82A}">
                    <a16:rowId xmlns:a16="http://schemas.microsoft.com/office/drawing/2014/main" val="10001"/>
                  </a:ext>
                </a:extLst>
              </a:tr>
              <a:tr h="457200">
                <a:tc>
                  <a:txBody>
                    <a:bodyPr/>
                    <a:lstStyle/>
                    <a:p>
                      <a:pPr algn="ctr">
                        <a:defRPr sz="1400">
                          <a:solidFill>
                            <a:srgbClr val="424242"/>
                          </a:solidFill>
                        </a:defRPr>
                      </a:pPr>
                      <a:r>
                        <a:t>Trust</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extLst>
                  <a:ext uri="{0D108BD9-81ED-4DB2-BD59-A6C34878D82A}">
                    <a16:rowId xmlns:a16="http://schemas.microsoft.com/office/drawing/2014/main" val="10002"/>
                  </a:ext>
                </a:extLst>
              </a:tr>
              <a:tr h="457200">
                <a:tc>
                  <a:txBody>
                    <a:bodyPr/>
                    <a:lstStyle/>
                    <a:p>
                      <a:pPr algn="ctr">
                        <a:defRPr sz="1400">
                          <a:solidFill>
                            <a:srgbClr val="424242"/>
                          </a:solidFill>
                        </a:defRPr>
                      </a:pPr>
                      <a:r>
                        <a:t>Speed</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extLst>
                  <a:ext uri="{0D108BD9-81ED-4DB2-BD59-A6C34878D82A}">
                    <a16:rowId xmlns:a16="http://schemas.microsoft.com/office/drawing/2014/main" val="10003"/>
                  </a:ext>
                </a:extLst>
              </a:tr>
              <a:tr h="457200">
                <a:tc>
                  <a:txBody>
                    <a:bodyPr/>
                    <a:lstStyle/>
                    <a:p>
                      <a:pPr algn="ctr">
                        <a:defRPr sz="1400">
                          <a:solidFill>
                            <a:srgbClr val="424242"/>
                          </a:solidFill>
                        </a:defRPr>
                      </a:pPr>
                      <a:r>
                        <a:t>Cost</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extLst>
                  <a:ext uri="{0D108BD9-81ED-4DB2-BD59-A6C34878D82A}">
                    <a16:rowId xmlns:a16="http://schemas.microsoft.com/office/drawing/2014/main" val="10004"/>
                  </a:ext>
                </a:extLst>
              </a:tr>
              <a:tr h="457200">
                <a:tc>
                  <a:txBody>
                    <a:bodyPr/>
                    <a:lstStyle/>
                    <a:p>
                      <a:pPr algn="ctr">
                        <a:defRPr sz="1400">
                          <a:solidFill>
                            <a:srgbClr val="424242"/>
                          </a:solidFill>
                        </a:defRPr>
                      </a:pPr>
                      <a:r>
                        <a:t>Audit Trail</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Agent9: Agentic Consulting Marketplace</a:t>
            </a:r>
          </a:p>
        </p:txBody>
      </p:sp>
      <p:sp>
        <p:nvSpPr>
          <p:cNvPr id="4" name="TextBox 3"/>
          <p:cNvSpPr txBox="1"/>
          <p:nvPr/>
        </p:nvSpPr>
        <p:spPr>
          <a:xfrm>
            <a:off x="457200" y="1371600"/>
            <a:ext cx="8229600" cy="4572000"/>
          </a:xfrm>
          <a:prstGeom prst="rect">
            <a:avLst/>
          </a:prstGeom>
          <a:noFill/>
        </p:spPr>
        <p:txBody>
          <a:bodyPr wrap="square">
            <a:spAutoFit/>
          </a:bodyPr>
          <a:lstStyle/>
          <a:p>
            <a:pPr>
              <a:spcAft>
                <a:spcPts val="1200"/>
              </a:spcAft>
              <a:defRPr sz="2400">
                <a:solidFill>
                  <a:srgbClr val="424242"/>
                </a:solidFill>
              </a:defRPr>
            </a:pPr>
            <a:r>
              <a:t>Multiple branded AI agents debate your problem</a:t>
            </a:r>
          </a:p>
          <a:p>
            <a:pPr>
              <a:spcAft>
                <a:spcPts val="1200"/>
              </a:spcAft>
              <a:defRPr sz="2400">
                <a:solidFill>
                  <a:srgbClr val="424242"/>
                </a:solidFill>
              </a:defRPr>
            </a:pPr>
            <a:r>
              <a:t>   → McKinsey Agent + BCG Agent + AWS Agent + ...</a:t>
            </a:r>
          </a:p>
          <a:p>
            <a:pPr>
              <a:spcAft>
                <a:spcPts val="1200"/>
              </a:spcAft>
              <a:defRPr sz="2400">
                <a:solidFill>
                  <a:srgbClr val="424242"/>
                </a:solidFill>
              </a:defRPr>
            </a:pPr>
            <a:endParaRPr/>
          </a:p>
          <a:p>
            <a:pPr>
              <a:spcAft>
                <a:spcPts val="1200"/>
              </a:spcAft>
              <a:defRPr sz="2400">
                <a:solidFill>
                  <a:srgbClr val="424242"/>
                </a:solidFill>
              </a:defRPr>
            </a:pPr>
            <a:r>
              <a:t>Platform synthesizes best ideas into recommendation</a:t>
            </a:r>
          </a:p>
          <a:p>
            <a:pPr>
              <a:spcAft>
                <a:spcPts val="1200"/>
              </a:spcAft>
              <a:defRPr sz="2400">
                <a:solidFill>
                  <a:srgbClr val="424242"/>
                </a:solidFill>
              </a:defRPr>
            </a:pPr>
            <a:r>
              <a:t>   → Multi-agent debate surfaces optimal solutions</a:t>
            </a:r>
          </a:p>
          <a:p>
            <a:pPr>
              <a:spcAft>
                <a:spcPts val="1200"/>
              </a:spcAft>
              <a:defRPr sz="2400">
                <a:solidFill>
                  <a:srgbClr val="424242"/>
                </a:solidFill>
              </a:defRPr>
            </a:pPr>
            <a:endParaRPr/>
          </a:p>
          <a:p>
            <a:pPr>
              <a:spcAft>
                <a:spcPts val="1200"/>
              </a:spcAft>
              <a:defRPr sz="2400">
                <a:solidFill>
                  <a:srgbClr val="424242"/>
                </a:solidFill>
              </a:defRPr>
            </a:pPr>
            <a:r>
              <a:t>Complete audit trail for every decision</a:t>
            </a:r>
          </a:p>
          <a:p>
            <a:pPr>
              <a:spcAft>
                <a:spcPts val="1200"/>
              </a:spcAft>
              <a:defRPr sz="2400">
                <a:solidFill>
                  <a:srgbClr val="424242"/>
                </a:solidFill>
              </a:defRPr>
            </a:pPr>
            <a:r>
              <a:t>   → Full transcript, evidence citations, confidence scores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The Intelligence Pipeline: How Agent9 Thinks</a:t>
            </a:r>
          </a:p>
        </p:txBody>
      </p:sp>
      <p:sp>
        <p:nvSpPr>
          <p:cNvPr id="4" name="TextBox 3"/>
          <p:cNvSpPr txBox="1"/>
          <p:nvPr/>
        </p:nvSpPr>
        <p:spPr>
          <a:xfrm>
            <a:off x="457200" y="1371600"/>
            <a:ext cx="8229600" cy="4572000"/>
          </a:xfrm>
          <a:prstGeom prst="rect">
            <a:avLst/>
          </a:prstGeom>
          <a:noFill/>
        </p:spPr>
        <p:txBody>
          <a:bodyPr wrap="square">
            <a:spAutoFit/>
          </a:bodyPr>
          <a:lstStyle/>
          <a:p>
            <a:pPr>
              <a:spcAft>
                <a:spcPts val="1200"/>
              </a:spcAft>
              <a:defRPr sz="2400">
                <a:solidFill>
                  <a:srgbClr val="424242"/>
                </a:solidFill>
              </a:defRPr>
            </a:pPr>
            <a:r>
              <a:t>┌─────────────────────────────────────────────────────────────┐</a:t>
            </a:r>
          </a:p>
          <a:p>
            <a:pPr>
              <a:spcAft>
                <a:spcPts val="1200"/>
              </a:spcAft>
              <a:defRPr sz="2400">
                <a:solidFill>
                  <a:srgbClr val="424242"/>
                </a:solidFill>
              </a:defRPr>
            </a:pPr>
            <a:r>
              <a:t>│  1. SITUATION        2. DEEP            3. SOLUTION         │</a:t>
            </a:r>
          </a:p>
          <a:p>
            <a:pPr>
              <a:spcAft>
                <a:spcPts val="1200"/>
              </a:spcAft>
              <a:defRPr sz="2400">
                <a:solidFill>
                  <a:srgbClr val="424242"/>
                </a:solidFill>
              </a:defRPr>
            </a:pPr>
            <a:r>
              <a:t>│     AWARENESS   →      ANALYSIS    →      FINDING           │</a:t>
            </a:r>
          </a:p>
          <a:p>
            <a:pPr>
              <a:spcAft>
                <a:spcPts val="1200"/>
              </a:spcAft>
              <a:defRPr sz="2400">
                <a:solidFill>
                  <a:srgbClr val="424242"/>
                </a:solidFill>
              </a:defRPr>
            </a:pPr>
            <a:r>
              <a:t>│                                                             │</a:t>
            </a:r>
          </a:p>
          <a:p>
            <a:pPr>
              <a:spcAft>
                <a:spcPts val="1200"/>
              </a:spcAft>
              <a:defRPr sz="2400">
                <a:solidFill>
                  <a:srgbClr val="424242"/>
                </a:solidFill>
              </a:defRPr>
            </a:pPr>
            <a:r>
              <a:t>│  Continuous KPI      Root cause         Multi-agent         │</a:t>
            </a:r>
          </a:p>
          <a:p>
            <a:pPr>
              <a:spcAft>
                <a:spcPts val="1200"/>
              </a:spcAft>
              <a:defRPr sz="2400">
                <a:solidFill>
                  <a:srgbClr val="424242"/>
                </a:solidFill>
              </a:defRPr>
            </a:pPr>
            <a:r>
              <a:t>│  monitoring          investigation      debate              │</a:t>
            </a:r>
          </a:p>
          <a:p>
            <a:pPr>
              <a:spcAft>
                <a:spcPts val="1200"/>
              </a:spcAft>
              <a:defRPr sz="2400">
                <a:solidFill>
                  <a:srgbClr val="424242"/>
                </a:solidFill>
              </a:defRPr>
            </a:pPr>
            <a:r>
              <a:t>└─────────────────────────────────────────────────────────────┘</a:t>
            </a:r>
          </a:p>
          <a:p>
            <a:pPr>
              <a:spcAft>
                <a:spcPts val="1200"/>
              </a:spcAft>
              <a:defRPr sz="2400">
                <a:solidFill>
                  <a:srgbClr val="424242"/>
                </a:solidFill>
              </a:defRPr>
            </a:pPr>
            <a:endParaRPr/>
          </a:p>
          <a:p>
            <a:pPr>
              <a:spcAft>
                <a:spcPts val="1200"/>
              </a:spcAft>
              <a:defRPr sz="2400">
                <a:solidFill>
                  <a:srgbClr val="424242"/>
                </a:solidFill>
              </a:defRPr>
            </a:pPr>
            <a:r>
              <a:t>Unlike ChatGPT: Agent9 doesn't wait for questions.</a:t>
            </a:r>
          </a:p>
          <a:p>
            <a:pPr>
              <a:spcAft>
                <a:spcPts val="1200"/>
              </a:spcAft>
              <a:defRPr sz="2400">
                <a:solidFill>
                  <a:srgbClr val="424242"/>
                </a:solidFill>
              </a:defRPr>
            </a:pPr>
            <a:r>
              <a:t>It continuously monitors your business and surfaces issues</a:t>
            </a:r>
          </a:p>
          <a:p>
            <a:pPr>
              <a:spcAft>
                <a:spcPts val="1200"/>
              </a:spcAft>
              <a:defRPr sz="2400">
                <a:solidFill>
                  <a:srgbClr val="424242"/>
                </a:solidFill>
              </a:defRPr>
            </a:pPr>
            <a:r>
              <a:t>BEFORE you know to ask.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Stage 1: Automated Situation Awareness</a:t>
            </a:r>
          </a:p>
        </p:txBody>
      </p:sp>
      <p:sp>
        <p:nvSpPr>
          <p:cNvPr id="4" name="TextBox 3"/>
          <p:cNvSpPr txBox="1"/>
          <p:nvPr/>
        </p:nvSpPr>
        <p:spPr>
          <a:xfrm>
            <a:off x="457200" y="1371600"/>
            <a:ext cx="8229600" cy="4739759"/>
          </a:xfrm>
          <a:prstGeom prst="rect">
            <a:avLst/>
          </a:prstGeom>
          <a:noFill/>
        </p:spPr>
        <p:txBody>
          <a:bodyPr wrap="square">
            <a:spAutoFit/>
          </a:bodyPr>
          <a:lstStyle/>
          <a:p>
            <a:pPr>
              <a:spcAft>
                <a:spcPts val="1200"/>
              </a:spcAft>
              <a:defRPr sz="2400">
                <a:solidFill>
                  <a:srgbClr val="424242"/>
                </a:solidFill>
              </a:defRPr>
            </a:pPr>
            <a:r>
              <a:rPr sz="1600" dirty="0"/>
              <a:t>🔍  WHAT IT DOES</a:t>
            </a:r>
          </a:p>
          <a:p>
            <a:pPr>
              <a:spcAft>
                <a:spcPts val="1200"/>
              </a:spcAft>
              <a:defRPr sz="2400">
                <a:solidFill>
                  <a:srgbClr val="424242"/>
                </a:solidFill>
              </a:defRPr>
            </a:pPr>
            <a:r>
              <a:rPr sz="1600" dirty="0"/>
              <a:t>   • Continuously monitors 100s of KPIs across your data</a:t>
            </a:r>
          </a:p>
          <a:p>
            <a:pPr>
              <a:spcAft>
                <a:spcPts val="1200"/>
              </a:spcAft>
              <a:defRPr sz="2400">
                <a:solidFill>
                  <a:srgbClr val="424242"/>
                </a:solidFill>
              </a:defRPr>
            </a:pPr>
            <a:r>
              <a:rPr sz="1600" dirty="0"/>
              <a:t>   • Detects anomalies, trends, and threshold breaches</a:t>
            </a:r>
          </a:p>
          <a:p>
            <a:pPr>
              <a:spcAft>
                <a:spcPts val="1200"/>
              </a:spcAft>
              <a:defRPr sz="2400">
                <a:solidFill>
                  <a:srgbClr val="424242"/>
                </a:solidFill>
              </a:defRPr>
            </a:pPr>
            <a:r>
              <a:rPr sz="1600" dirty="0"/>
              <a:t>   • Prioritizes by business impact and principal context</a:t>
            </a:r>
          </a:p>
          <a:p>
            <a:pPr>
              <a:spcAft>
                <a:spcPts val="1200"/>
              </a:spcAft>
              <a:defRPr sz="2400">
                <a:solidFill>
                  <a:srgbClr val="424242"/>
                </a:solidFill>
              </a:defRPr>
            </a:pPr>
            <a:endParaRPr sz="1600" dirty="0"/>
          </a:p>
          <a:p>
            <a:pPr>
              <a:spcAft>
                <a:spcPts val="1200"/>
              </a:spcAft>
              <a:defRPr sz="2400">
                <a:solidFill>
                  <a:srgbClr val="424242"/>
                </a:solidFill>
              </a:defRPr>
            </a:pPr>
            <a:r>
              <a:rPr sz="1600" dirty="0"/>
              <a:t>⚡  WHY IT MATTERS</a:t>
            </a:r>
          </a:p>
          <a:p>
            <a:pPr>
              <a:spcAft>
                <a:spcPts val="1200"/>
              </a:spcAft>
              <a:defRPr sz="2400">
                <a:solidFill>
                  <a:srgbClr val="424242"/>
                </a:solidFill>
              </a:defRPr>
            </a:pPr>
            <a:r>
              <a:rPr sz="1600" dirty="0"/>
              <a:t>   • Problems surface in hours, not quarterly reviews</a:t>
            </a:r>
          </a:p>
          <a:p>
            <a:pPr>
              <a:spcAft>
                <a:spcPts val="1200"/>
              </a:spcAft>
              <a:defRPr sz="2400">
                <a:solidFill>
                  <a:srgbClr val="424242"/>
                </a:solidFill>
              </a:defRPr>
            </a:pPr>
            <a:r>
              <a:rPr sz="1600" dirty="0"/>
              <a:t>   • No analyst time spent on routine monitoring</a:t>
            </a:r>
          </a:p>
          <a:p>
            <a:pPr>
              <a:spcAft>
                <a:spcPts val="1200"/>
              </a:spcAft>
              <a:defRPr sz="2400">
                <a:solidFill>
                  <a:srgbClr val="424242"/>
                </a:solidFill>
              </a:defRPr>
            </a:pPr>
            <a:r>
              <a:rPr sz="1600" dirty="0"/>
              <a:t>   • Context-aware: knows what matters to each executive</a:t>
            </a:r>
          </a:p>
          <a:p>
            <a:pPr>
              <a:spcAft>
                <a:spcPts val="1200"/>
              </a:spcAft>
              <a:defRPr sz="2400">
                <a:solidFill>
                  <a:srgbClr val="424242"/>
                </a:solidFill>
              </a:defRPr>
            </a:pPr>
            <a:endParaRPr sz="1600" dirty="0"/>
          </a:p>
          <a:p>
            <a:pPr>
              <a:spcAft>
                <a:spcPts val="1200"/>
              </a:spcAft>
              <a:defRPr sz="2400">
                <a:solidFill>
                  <a:srgbClr val="424242"/>
                </a:solidFill>
              </a:defRPr>
            </a:pPr>
            <a:r>
              <a:rPr sz="1600" dirty="0"/>
              <a:t>📊  EXAMPLE</a:t>
            </a:r>
          </a:p>
          <a:p>
            <a:pPr>
              <a:spcAft>
                <a:spcPts val="1200"/>
              </a:spcAft>
              <a:defRPr sz="2400">
                <a:solidFill>
                  <a:srgbClr val="424242"/>
                </a:solidFill>
              </a:defRPr>
            </a:pPr>
            <a:r>
              <a:rPr sz="1600" dirty="0"/>
              <a:t>   "Revenue in APAC dropped 12% vs. forecast—flagged for CFO"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Stage 2: Automated Deep Analysis</a:t>
            </a:r>
          </a:p>
        </p:txBody>
      </p:sp>
      <p:sp>
        <p:nvSpPr>
          <p:cNvPr id="4" name="TextBox 3"/>
          <p:cNvSpPr txBox="1"/>
          <p:nvPr/>
        </p:nvSpPr>
        <p:spPr>
          <a:xfrm>
            <a:off x="457200" y="1371600"/>
            <a:ext cx="8229600" cy="5139869"/>
          </a:xfrm>
          <a:prstGeom prst="rect">
            <a:avLst/>
          </a:prstGeom>
          <a:noFill/>
        </p:spPr>
        <p:txBody>
          <a:bodyPr wrap="square">
            <a:spAutoFit/>
          </a:bodyPr>
          <a:lstStyle/>
          <a:p>
            <a:pPr>
              <a:spcAft>
                <a:spcPts val="1200"/>
              </a:spcAft>
              <a:defRPr sz="2400">
                <a:solidFill>
                  <a:srgbClr val="424242"/>
                </a:solidFill>
              </a:defRPr>
            </a:pPr>
            <a:r>
              <a:rPr sz="1600" dirty="0"/>
              <a:t>🔍  WHAT IT DOES</a:t>
            </a:r>
          </a:p>
          <a:p>
            <a:pPr>
              <a:spcAft>
                <a:spcPts val="1200"/>
              </a:spcAft>
              <a:defRPr sz="2400">
                <a:solidFill>
                  <a:srgbClr val="424242"/>
                </a:solidFill>
              </a:defRPr>
            </a:pPr>
            <a:r>
              <a:rPr sz="1600" dirty="0"/>
              <a:t>   • Investigates root causes of detected situations</a:t>
            </a:r>
          </a:p>
          <a:p>
            <a:pPr>
              <a:spcAft>
                <a:spcPts val="1200"/>
              </a:spcAft>
              <a:defRPr sz="2400">
                <a:solidFill>
                  <a:srgbClr val="424242"/>
                </a:solidFill>
              </a:defRPr>
            </a:pPr>
            <a:r>
              <a:rPr sz="1600" dirty="0"/>
              <a:t>   • Drills down across dimensions (region, product, channel)</a:t>
            </a:r>
          </a:p>
          <a:p>
            <a:pPr>
              <a:spcAft>
                <a:spcPts val="1200"/>
              </a:spcAft>
              <a:defRPr sz="2400">
                <a:solidFill>
                  <a:srgbClr val="424242"/>
                </a:solidFill>
              </a:defRPr>
            </a:pPr>
            <a:r>
              <a:rPr sz="1600" dirty="0"/>
              <a:t>   • Builds evidence-based problem framing</a:t>
            </a:r>
          </a:p>
          <a:p>
            <a:pPr>
              <a:spcAft>
                <a:spcPts val="1200"/>
              </a:spcAft>
              <a:defRPr sz="2400">
                <a:solidFill>
                  <a:srgbClr val="424242"/>
                </a:solidFill>
              </a:defRPr>
            </a:pPr>
            <a:endParaRPr sz="1600" dirty="0"/>
          </a:p>
          <a:p>
            <a:pPr>
              <a:spcAft>
                <a:spcPts val="1200"/>
              </a:spcAft>
              <a:defRPr sz="2400">
                <a:solidFill>
                  <a:srgbClr val="424242"/>
                </a:solidFill>
              </a:defRPr>
            </a:pPr>
            <a:r>
              <a:rPr sz="1600" dirty="0"/>
              <a:t>⚡  WHY IT MATTERS</a:t>
            </a:r>
          </a:p>
          <a:p>
            <a:pPr>
              <a:spcAft>
                <a:spcPts val="1200"/>
              </a:spcAft>
              <a:defRPr sz="2400">
                <a:solidFill>
                  <a:srgbClr val="424242"/>
                </a:solidFill>
              </a:defRPr>
            </a:pPr>
            <a:r>
              <a:rPr sz="1600" dirty="0"/>
              <a:t>   • Answers "why?" before you have to ask</a:t>
            </a:r>
          </a:p>
          <a:p>
            <a:pPr>
              <a:spcAft>
                <a:spcPts val="1200"/>
              </a:spcAft>
              <a:defRPr sz="2400">
                <a:solidFill>
                  <a:srgbClr val="424242"/>
                </a:solidFill>
              </a:defRPr>
            </a:pPr>
            <a:r>
              <a:rPr sz="1600" dirty="0"/>
              <a:t>   • Eliminates weeks of analyst investigation</a:t>
            </a:r>
          </a:p>
          <a:p>
            <a:pPr>
              <a:spcAft>
                <a:spcPts val="1200"/>
              </a:spcAft>
              <a:defRPr sz="2400">
                <a:solidFill>
                  <a:srgbClr val="424242"/>
                </a:solidFill>
              </a:defRPr>
            </a:pPr>
            <a:r>
              <a:rPr sz="1600" dirty="0"/>
              <a:t>   • Provides structured input for solution finding</a:t>
            </a:r>
          </a:p>
          <a:p>
            <a:pPr>
              <a:spcAft>
                <a:spcPts val="1200"/>
              </a:spcAft>
              <a:defRPr sz="2400">
                <a:solidFill>
                  <a:srgbClr val="424242"/>
                </a:solidFill>
              </a:defRPr>
            </a:pPr>
            <a:endParaRPr sz="1600" dirty="0"/>
          </a:p>
          <a:p>
            <a:pPr>
              <a:spcAft>
                <a:spcPts val="1200"/>
              </a:spcAft>
              <a:defRPr sz="2400">
                <a:solidFill>
                  <a:srgbClr val="424242"/>
                </a:solidFill>
              </a:defRPr>
            </a:pPr>
            <a:r>
              <a:rPr sz="1600" dirty="0"/>
              <a:t>📊  EXAMPLE</a:t>
            </a:r>
          </a:p>
          <a:p>
            <a:pPr>
              <a:spcAft>
                <a:spcPts val="1200"/>
              </a:spcAft>
              <a:defRPr sz="2400">
                <a:solidFill>
                  <a:srgbClr val="424242"/>
                </a:solidFill>
              </a:defRPr>
            </a:pPr>
            <a:r>
              <a:rPr sz="1600" dirty="0"/>
              <a:t>   "APAC revenue drop driven by 3 factors: currency (40%),</a:t>
            </a:r>
          </a:p>
          <a:p>
            <a:pPr>
              <a:spcAft>
                <a:spcPts val="1200"/>
              </a:spcAft>
              <a:defRPr sz="2400">
                <a:solidFill>
                  <a:srgbClr val="424242"/>
                </a:solidFill>
              </a:defRPr>
            </a:pPr>
            <a:r>
              <a:rPr sz="1600" dirty="0"/>
              <a:t>    delayed product launch (35%), competitor pricing (25%)"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Stage 3: Multi-Agent Solution Finding</a:t>
            </a:r>
          </a:p>
        </p:txBody>
      </p:sp>
      <p:sp>
        <p:nvSpPr>
          <p:cNvPr id="4" name="TextBox 3"/>
          <p:cNvSpPr txBox="1"/>
          <p:nvPr/>
        </p:nvSpPr>
        <p:spPr>
          <a:xfrm>
            <a:off x="457200" y="1371600"/>
            <a:ext cx="8229600" cy="5139869"/>
          </a:xfrm>
          <a:prstGeom prst="rect">
            <a:avLst/>
          </a:prstGeom>
          <a:noFill/>
        </p:spPr>
        <p:txBody>
          <a:bodyPr wrap="square">
            <a:spAutoFit/>
          </a:bodyPr>
          <a:lstStyle/>
          <a:p>
            <a:pPr>
              <a:spcAft>
                <a:spcPts val="1200"/>
              </a:spcAft>
              <a:defRPr sz="2400">
                <a:solidFill>
                  <a:srgbClr val="424242"/>
                </a:solidFill>
              </a:defRPr>
            </a:pPr>
            <a:r>
              <a:rPr sz="1600" dirty="0"/>
              <a:t>🔍  WHAT IT DOES</a:t>
            </a:r>
          </a:p>
          <a:p>
            <a:pPr>
              <a:spcAft>
                <a:spcPts val="1200"/>
              </a:spcAft>
              <a:defRPr sz="2400">
                <a:solidFill>
                  <a:srgbClr val="424242"/>
                </a:solidFill>
              </a:defRPr>
            </a:pPr>
            <a:r>
              <a:rPr sz="1600" dirty="0"/>
              <a:t>   • Multiple expert agents debate solution options</a:t>
            </a:r>
          </a:p>
          <a:p>
            <a:pPr>
              <a:spcAft>
                <a:spcPts val="1200"/>
              </a:spcAft>
              <a:defRPr sz="2400">
                <a:solidFill>
                  <a:srgbClr val="424242"/>
                </a:solidFill>
              </a:defRPr>
            </a:pPr>
            <a:r>
              <a:rPr sz="1600" dirty="0"/>
              <a:t>   • Each agent applies its methodology to the problem</a:t>
            </a:r>
          </a:p>
          <a:p>
            <a:pPr>
              <a:spcAft>
                <a:spcPts val="1200"/>
              </a:spcAft>
              <a:defRPr sz="2400">
                <a:solidFill>
                  <a:srgbClr val="424242"/>
                </a:solidFill>
              </a:defRPr>
            </a:pPr>
            <a:r>
              <a:rPr sz="1600" dirty="0"/>
              <a:t>   • Platform synthesizes consensus recommendation</a:t>
            </a:r>
          </a:p>
          <a:p>
            <a:pPr>
              <a:spcAft>
                <a:spcPts val="1200"/>
              </a:spcAft>
              <a:defRPr sz="2400">
                <a:solidFill>
                  <a:srgbClr val="424242"/>
                </a:solidFill>
              </a:defRPr>
            </a:pPr>
            <a:endParaRPr sz="1600" dirty="0"/>
          </a:p>
          <a:p>
            <a:pPr>
              <a:spcAft>
                <a:spcPts val="1200"/>
              </a:spcAft>
              <a:defRPr sz="2400">
                <a:solidFill>
                  <a:srgbClr val="424242"/>
                </a:solidFill>
              </a:defRPr>
            </a:pPr>
            <a:r>
              <a:rPr sz="1600" dirty="0"/>
              <a:t>⚡  WHY IT MATTERS</a:t>
            </a:r>
          </a:p>
          <a:p>
            <a:pPr>
              <a:spcAft>
                <a:spcPts val="1200"/>
              </a:spcAft>
              <a:defRPr sz="2400">
                <a:solidFill>
                  <a:srgbClr val="424242"/>
                </a:solidFill>
              </a:defRPr>
            </a:pPr>
            <a:r>
              <a:rPr sz="1600" dirty="0"/>
              <a:t>   • Multiple perspectives, not single-firm bias</a:t>
            </a:r>
          </a:p>
          <a:p>
            <a:pPr>
              <a:spcAft>
                <a:spcPts val="1200"/>
              </a:spcAft>
              <a:defRPr sz="2400">
                <a:solidFill>
                  <a:srgbClr val="424242"/>
                </a:solidFill>
              </a:defRPr>
            </a:pPr>
            <a:r>
              <a:rPr sz="1600" dirty="0"/>
              <a:t>   • Full debate transcript for audit/compliance</a:t>
            </a:r>
          </a:p>
          <a:p>
            <a:pPr>
              <a:spcAft>
                <a:spcPts val="1200"/>
              </a:spcAft>
              <a:defRPr sz="2400">
                <a:solidFill>
                  <a:srgbClr val="424242"/>
                </a:solidFill>
              </a:defRPr>
            </a:pPr>
            <a:r>
              <a:rPr sz="1600" dirty="0"/>
              <a:t>   • Human-in-the-loop approval before action</a:t>
            </a:r>
          </a:p>
          <a:p>
            <a:pPr>
              <a:spcAft>
                <a:spcPts val="1200"/>
              </a:spcAft>
              <a:defRPr sz="2400">
                <a:solidFill>
                  <a:srgbClr val="424242"/>
                </a:solidFill>
              </a:defRPr>
            </a:pPr>
            <a:endParaRPr sz="1600" dirty="0"/>
          </a:p>
          <a:p>
            <a:pPr>
              <a:spcAft>
                <a:spcPts val="1200"/>
              </a:spcAft>
              <a:defRPr sz="2400">
                <a:solidFill>
                  <a:srgbClr val="424242"/>
                </a:solidFill>
              </a:defRPr>
            </a:pPr>
            <a:r>
              <a:rPr sz="1600" dirty="0"/>
              <a:t>📊  EXAMPLE</a:t>
            </a:r>
          </a:p>
          <a:p>
            <a:pPr>
              <a:spcAft>
                <a:spcPts val="1200"/>
              </a:spcAft>
              <a:defRPr sz="2400">
                <a:solidFill>
                  <a:srgbClr val="424242"/>
                </a:solidFill>
              </a:defRPr>
            </a:pPr>
            <a:r>
              <a:rPr sz="1600" dirty="0"/>
              <a:t>   "McKinsey Agent recommends pricing response; BCG Agent</a:t>
            </a:r>
          </a:p>
          <a:p>
            <a:pPr>
              <a:spcAft>
                <a:spcPts val="1200"/>
              </a:spcAft>
              <a:defRPr sz="2400">
                <a:solidFill>
                  <a:srgbClr val="424242"/>
                </a:solidFill>
              </a:defRPr>
            </a:pPr>
            <a:r>
              <a:rPr sz="1600" dirty="0"/>
              <a:t>    suggests product acceleration; consensus: hybrid approach"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Why the Pipeline Matters</a:t>
            </a:r>
          </a:p>
        </p:txBody>
      </p:sp>
      <p:graphicFrame>
        <p:nvGraphicFramePr>
          <p:cNvPr id="4" name="Table 3"/>
          <p:cNvGraphicFramePr>
            <a:graphicFrameLocks noGrp="1"/>
          </p:cNvGraphicFramePr>
          <p:nvPr/>
        </p:nvGraphicFramePr>
        <p:xfrm>
          <a:off x="457200" y="1463040"/>
          <a:ext cx="8229600" cy="32004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57200">
                <a:tc>
                  <a:txBody>
                    <a:bodyPr/>
                    <a:lstStyle/>
                    <a:p>
                      <a:pPr algn="ctr">
                        <a:defRPr sz="1600" b="1">
                          <a:solidFill>
                            <a:srgbClr val="FFFFFF"/>
                          </a:solidFill>
                        </a:defRPr>
                      </a:pPr>
                      <a:r>
                        <a:t>Capability</a:t>
                      </a:r>
                    </a:p>
                  </a:txBody>
                  <a:tcPr>
                    <a:solidFill>
                      <a:srgbClr val="1A365D"/>
                    </a:solidFill>
                  </a:tcPr>
                </a:tc>
                <a:tc>
                  <a:txBody>
                    <a:bodyPr/>
                    <a:lstStyle/>
                    <a:p>
                      <a:pPr algn="ctr">
                        <a:defRPr sz="1600" b="1">
                          <a:solidFill>
                            <a:srgbClr val="FFFFFF"/>
                          </a:solidFill>
                        </a:defRPr>
                      </a:pPr>
                      <a:r>
                        <a:t>ChatGPT</a:t>
                      </a:r>
                    </a:p>
                  </a:txBody>
                  <a:tcPr>
                    <a:solidFill>
                      <a:srgbClr val="1A365D"/>
                    </a:solidFill>
                  </a:tcPr>
                </a:tc>
                <a:tc>
                  <a:txBody>
                    <a:bodyPr/>
                    <a:lstStyle/>
                    <a:p>
                      <a:pPr algn="ctr">
                        <a:defRPr sz="1600" b="1">
                          <a:solidFill>
                            <a:srgbClr val="FFFFFF"/>
                          </a:solidFill>
                        </a:defRPr>
                      </a:pPr>
                      <a:r>
                        <a:t>Traditional Consulting</a:t>
                      </a:r>
                    </a:p>
                  </a:txBody>
                  <a:tcPr>
                    <a:solidFill>
                      <a:srgbClr val="1A365D"/>
                    </a:solidFill>
                  </a:tcPr>
                </a:tc>
                <a:tc>
                  <a:txBody>
                    <a:bodyPr/>
                    <a:lstStyle/>
                    <a:p>
                      <a:pPr algn="ctr">
                        <a:defRPr sz="1600" b="1">
                          <a:solidFill>
                            <a:srgbClr val="FFFFFF"/>
                          </a:solidFill>
                        </a:defRPr>
                      </a:pPr>
                      <a:r>
                        <a:t>Agent9</a:t>
                      </a:r>
                    </a:p>
                  </a:txBody>
                  <a:tcPr>
                    <a:solidFill>
                      <a:srgbClr val="1A365D"/>
                    </a:solidFill>
                  </a:tcPr>
                </a:tc>
                <a:extLst>
                  <a:ext uri="{0D108BD9-81ED-4DB2-BD59-A6C34878D82A}">
                    <a16:rowId xmlns:a16="http://schemas.microsoft.com/office/drawing/2014/main" val="10000"/>
                  </a:ext>
                </a:extLst>
              </a:tr>
              <a:tr h="457200">
                <a:tc>
                  <a:txBody>
                    <a:bodyPr/>
                    <a:lstStyle/>
                    <a:p>
                      <a:pPr algn="ctr">
                        <a:defRPr sz="1400">
                          <a:solidFill>
                            <a:srgbClr val="424242"/>
                          </a:solidFill>
                        </a:defRPr>
                      </a:pPr>
                      <a:r>
                        <a:t>Proactive monitoring</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 Always-on</a:t>
                      </a:r>
                    </a:p>
                  </a:txBody>
                  <a:tcPr>
                    <a:solidFill>
                      <a:srgbClr val="F5F5F5"/>
                    </a:solidFill>
                  </a:tcPr>
                </a:tc>
                <a:extLst>
                  <a:ext uri="{0D108BD9-81ED-4DB2-BD59-A6C34878D82A}">
                    <a16:rowId xmlns:a16="http://schemas.microsoft.com/office/drawing/2014/main" val="10001"/>
                  </a:ext>
                </a:extLst>
              </a:tr>
              <a:tr h="457200">
                <a:tc>
                  <a:txBody>
                    <a:bodyPr/>
                    <a:lstStyle/>
                    <a:p>
                      <a:pPr algn="ctr">
                        <a:defRPr sz="1400">
                          <a:solidFill>
                            <a:srgbClr val="424242"/>
                          </a:solidFill>
                        </a:defRPr>
                      </a:pPr>
                      <a:r>
                        <a:t>Automatic root cause</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 Weeks</a:t>
                      </a:r>
                    </a:p>
                  </a:txBody>
                  <a:tcPr/>
                </a:tc>
                <a:tc>
                  <a:txBody>
                    <a:bodyPr/>
                    <a:lstStyle/>
                    <a:p>
                      <a:pPr algn="ctr">
                        <a:defRPr sz="1400">
                          <a:solidFill>
                            <a:srgbClr val="424242"/>
                          </a:solidFill>
                        </a:defRPr>
                      </a:pPr>
                      <a:r>
                        <a:t>✅ Hours</a:t>
                      </a:r>
                    </a:p>
                  </a:txBody>
                  <a:tcPr/>
                </a:tc>
                <a:extLst>
                  <a:ext uri="{0D108BD9-81ED-4DB2-BD59-A6C34878D82A}">
                    <a16:rowId xmlns:a16="http://schemas.microsoft.com/office/drawing/2014/main" val="10002"/>
                  </a:ext>
                </a:extLst>
              </a:tr>
              <a:tr h="457200">
                <a:tc>
                  <a:txBody>
                    <a:bodyPr/>
                    <a:lstStyle/>
                    <a:p>
                      <a:pPr algn="ctr">
                        <a:defRPr sz="1400">
                          <a:solidFill>
                            <a:srgbClr val="424242"/>
                          </a:solidFill>
                        </a:defRPr>
                      </a:pPr>
                      <a:r>
                        <a:t>Multi-perspective debate</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 Built-in</a:t>
                      </a:r>
                    </a:p>
                  </a:txBody>
                  <a:tcPr>
                    <a:solidFill>
                      <a:srgbClr val="F5F5F5"/>
                    </a:solidFill>
                  </a:tcPr>
                </a:tc>
                <a:extLst>
                  <a:ext uri="{0D108BD9-81ED-4DB2-BD59-A6C34878D82A}">
                    <a16:rowId xmlns:a16="http://schemas.microsoft.com/office/drawing/2014/main" val="10003"/>
                  </a:ext>
                </a:extLst>
              </a:tr>
              <a:tr h="457200">
                <a:tc>
                  <a:txBody>
                    <a:bodyPr/>
                    <a:lstStyle/>
                    <a:p>
                      <a:pPr algn="ctr">
                        <a:defRPr sz="1400">
                          <a:solidFill>
                            <a:srgbClr val="424242"/>
                          </a:solidFill>
                        </a:defRPr>
                      </a:pPr>
                      <a:r>
                        <a:t>Evidence-based framing</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 Automated</a:t>
                      </a:r>
                    </a:p>
                  </a:txBody>
                  <a:tcPr/>
                </a:tc>
                <a:extLst>
                  <a:ext uri="{0D108BD9-81ED-4DB2-BD59-A6C34878D82A}">
                    <a16:rowId xmlns:a16="http://schemas.microsoft.com/office/drawing/2014/main" val="10004"/>
                  </a:ext>
                </a:extLst>
              </a:tr>
              <a:tr h="457200">
                <a:tc>
                  <a:txBody>
                    <a:bodyPr/>
                    <a:lstStyle/>
                    <a:p>
                      <a:pPr algn="ctr">
                        <a:defRPr sz="1400">
                          <a:solidFill>
                            <a:srgbClr val="424242"/>
                          </a:solidFill>
                        </a:defRPr>
                      </a:pPr>
                      <a:r>
                        <a:t>Audit trail</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 Complete</a:t>
                      </a:r>
                    </a:p>
                  </a:txBody>
                  <a:tcPr>
                    <a:solidFill>
                      <a:srgbClr val="F5F5F5"/>
                    </a:solidFill>
                  </a:tcPr>
                </a:tc>
                <a:extLst>
                  <a:ext uri="{0D108BD9-81ED-4DB2-BD59-A6C34878D82A}">
                    <a16:rowId xmlns:a16="http://schemas.microsoft.com/office/drawing/2014/main" val="10005"/>
                  </a:ext>
                </a:extLst>
              </a:tr>
              <a:tr h="457200">
                <a:tc>
                  <a:txBody>
                    <a:bodyPr/>
                    <a:lstStyle/>
                    <a:p>
                      <a:pPr algn="ctr">
                        <a:defRPr sz="1400">
                          <a:solidFill>
                            <a:srgbClr val="424242"/>
                          </a:solidFill>
                        </a:defRPr>
                      </a:pPr>
                      <a:r>
                        <a:t>Human-in-the-loop</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 Configurable</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From Question to Decision in Hours, Not Months</a:t>
            </a:r>
          </a:p>
        </p:txBody>
      </p:sp>
      <p:graphicFrame>
        <p:nvGraphicFramePr>
          <p:cNvPr id="4" name="Table 3"/>
          <p:cNvGraphicFramePr>
            <a:graphicFrameLocks noGrp="1"/>
          </p:cNvGraphicFramePr>
          <p:nvPr/>
        </p:nvGraphicFramePr>
        <p:xfrm>
          <a:off x="457200" y="1463040"/>
          <a:ext cx="8229600" cy="36576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57200">
                <a:tc>
                  <a:txBody>
                    <a:bodyPr/>
                    <a:lstStyle/>
                    <a:p>
                      <a:pPr algn="ctr">
                        <a:defRPr sz="1600" b="1">
                          <a:solidFill>
                            <a:srgbClr val="FFFFFF"/>
                          </a:solidFill>
                        </a:defRPr>
                      </a:pPr>
                      <a:r>
                        <a:t>Step</a:t>
                      </a:r>
                    </a:p>
                  </a:txBody>
                  <a:tcPr>
                    <a:solidFill>
                      <a:srgbClr val="1A365D"/>
                    </a:solidFill>
                  </a:tcPr>
                </a:tc>
                <a:tc>
                  <a:txBody>
                    <a:bodyPr/>
                    <a:lstStyle/>
                    <a:p>
                      <a:pPr algn="ctr">
                        <a:defRPr sz="1600" b="1">
                          <a:solidFill>
                            <a:srgbClr val="FFFFFF"/>
                          </a:solidFill>
                        </a:defRPr>
                      </a:pPr>
                      <a:r>
                        <a:t>Traditional</a:t>
                      </a:r>
                    </a:p>
                  </a:txBody>
                  <a:tcPr>
                    <a:solidFill>
                      <a:srgbClr val="1A365D"/>
                    </a:solidFill>
                  </a:tcPr>
                </a:tc>
                <a:tc>
                  <a:txBody>
                    <a:bodyPr/>
                    <a:lstStyle/>
                    <a:p>
                      <a:pPr algn="ctr">
                        <a:defRPr sz="1600" b="1">
                          <a:solidFill>
                            <a:srgbClr val="FFFFFF"/>
                          </a:solidFill>
                        </a:defRPr>
                      </a:pPr>
                      <a:r>
                        <a:t>Agent9</a:t>
                      </a:r>
                    </a:p>
                  </a:txBody>
                  <a:tcPr>
                    <a:solidFill>
                      <a:srgbClr val="1A365D"/>
                    </a:solidFill>
                  </a:tcPr>
                </a:tc>
                <a:extLst>
                  <a:ext uri="{0D108BD9-81ED-4DB2-BD59-A6C34878D82A}">
                    <a16:rowId xmlns:a16="http://schemas.microsoft.com/office/drawing/2014/main" val="10000"/>
                  </a:ext>
                </a:extLst>
              </a:tr>
              <a:tr h="457200">
                <a:tc>
                  <a:txBody>
                    <a:bodyPr/>
                    <a:lstStyle/>
                    <a:p>
                      <a:pPr algn="ctr">
                        <a:defRPr sz="1400">
                          <a:solidFill>
                            <a:srgbClr val="424242"/>
                          </a:solidFill>
                        </a:defRPr>
                      </a:pPr>
                      <a:r>
                        <a:t>1. Frame Problem</a:t>
                      </a:r>
                    </a:p>
                  </a:txBody>
                  <a:tcPr>
                    <a:solidFill>
                      <a:srgbClr val="F5F5F5"/>
                    </a:solidFill>
                  </a:tcPr>
                </a:tc>
                <a:tc>
                  <a:txBody>
                    <a:bodyPr/>
                    <a:lstStyle/>
                    <a:p>
                      <a:pPr algn="ctr">
                        <a:defRPr sz="1400">
                          <a:solidFill>
                            <a:srgbClr val="424242"/>
                          </a:solidFill>
                        </a:defRPr>
                      </a:pPr>
                      <a:r>
                        <a:t>2-4 weeks</a:t>
                      </a:r>
                    </a:p>
                  </a:txBody>
                  <a:tcPr>
                    <a:solidFill>
                      <a:srgbClr val="F5F5F5"/>
                    </a:solidFill>
                  </a:tcPr>
                </a:tc>
                <a:tc>
                  <a:txBody>
                    <a:bodyPr/>
                    <a:lstStyle/>
                    <a:p>
                      <a:pPr algn="ctr">
                        <a:defRPr sz="1400">
                          <a:solidFill>
                            <a:srgbClr val="424242"/>
                          </a:solidFill>
                        </a:defRPr>
                      </a:pPr>
                      <a:r>
                        <a:t>Minutes</a:t>
                      </a:r>
                    </a:p>
                  </a:txBody>
                  <a:tcPr>
                    <a:solidFill>
                      <a:srgbClr val="F5F5F5"/>
                    </a:solidFill>
                  </a:tcPr>
                </a:tc>
                <a:extLst>
                  <a:ext uri="{0D108BD9-81ED-4DB2-BD59-A6C34878D82A}">
                    <a16:rowId xmlns:a16="http://schemas.microsoft.com/office/drawing/2014/main" val="10001"/>
                  </a:ext>
                </a:extLst>
              </a:tr>
              <a:tr h="457200">
                <a:tc>
                  <a:txBody>
                    <a:bodyPr/>
                    <a:lstStyle/>
                    <a:p>
                      <a:pPr algn="ctr">
                        <a:defRPr sz="1400">
                          <a:solidFill>
                            <a:srgbClr val="424242"/>
                          </a:solidFill>
                        </a:defRPr>
                      </a:pPr>
                      <a:r>
                        <a:t>2. Gather Data</a:t>
                      </a:r>
                    </a:p>
                  </a:txBody>
                  <a:tcPr/>
                </a:tc>
                <a:tc>
                  <a:txBody>
                    <a:bodyPr/>
                    <a:lstStyle/>
                    <a:p>
                      <a:pPr algn="ctr">
                        <a:defRPr sz="1400">
                          <a:solidFill>
                            <a:srgbClr val="424242"/>
                          </a:solidFill>
                        </a:defRPr>
                      </a:pPr>
                      <a:r>
                        <a:t>4-8 weeks</a:t>
                      </a:r>
                    </a:p>
                  </a:txBody>
                  <a:tcPr/>
                </a:tc>
                <a:tc>
                  <a:txBody>
                    <a:bodyPr/>
                    <a:lstStyle/>
                    <a:p>
                      <a:pPr algn="ctr">
                        <a:defRPr sz="1400">
                          <a:solidFill>
                            <a:srgbClr val="424242"/>
                          </a:solidFill>
                        </a:defRPr>
                      </a:pPr>
                      <a:r>
                        <a:t>Pre-connected</a:t>
                      </a:r>
                    </a:p>
                  </a:txBody>
                  <a:tcPr/>
                </a:tc>
                <a:extLst>
                  <a:ext uri="{0D108BD9-81ED-4DB2-BD59-A6C34878D82A}">
                    <a16:rowId xmlns:a16="http://schemas.microsoft.com/office/drawing/2014/main" val="10002"/>
                  </a:ext>
                </a:extLst>
              </a:tr>
              <a:tr h="457200">
                <a:tc>
                  <a:txBody>
                    <a:bodyPr/>
                    <a:lstStyle/>
                    <a:p>
                      <a:pPr algn="ctr">
                        <a:defRPr sz="1400">
                          <a:solidFill>
                            <a:srgbClr val="424242"/>
                          </a:solidFill>
                        </a:defRPr>
                      </a:pPr>
                      <a:r>
                        <a:t>3. Analyze</a:t>
                      </a:r>
                    </a:p>
                  </a:txBody>
                  <a:tcPr>
                    <a:solidFill>
                      <a:srgbClr val="F5F5F5"/>
                    </a:solidFill>
                  </a:tcPr>
                </a:tc>
                <a:tc>
                  <a:txBody>
                    <a:bodyPr/>
                    <a:lstStyle/>
                    <a:p>
                      <a:pPr algn="ctr">
                        <a:defRPr sz="1400">
                          <a:solidFill>
                            <a:srgbClr val="424242"/>
                          </a:solidFill>
                        </a:defRPr>
                      </a:pPr>
                      <a:r>
                        <a:t>4-8 weeks</a:t>
                      </a:r>
                    </a:p>
                  </a:txBody>
                  <a:tcPr>
                    <a:solidFill>
                      <a:srgbClr val="F5F5F5"/>
                    </a:solidFill>
                  </a:tcPr>
                </a:tc>
                <a:tc>
                  <a:txBody>
                    <a:bodyPr/>
                    <a:lstStyle/>
                    <a:p>
                      <a:pPr algn="ctr">
                        <a:defRPr sz="1400">
                          <a:solidFill>
                            <a:srgbClr val="424242"/>
                          </a:solidFill>
                        </a:defRPr>
                      </a:pPr>
                      <a:r>
                        <a:t>Hours</a:t>
                      </a:r>
                    </a:p>
                  </a:txBody>
                  <a:tcPr>
                    <a:solidFill>
                      <a:srgbClr val="F5F5F5"/>
                    </a:solidFill>
                  </a:tcPr>
                </a:tc>
                <a:extLst>
                  <a:ext uri="{0D108BD9-81ED-4DB2-BD59-A6C34878D82A}">
                    <a16:rowId xmlns:a16="http://schemas.microsoft.com/office/drawing/2014/main" val="10003"/>
                  </a:ext>
                </a:extLst>
              </a:tr>
              <a:tr h="457200">
                <a:tc>
                  <a:txBody>
                    <a:bodyPr/>
                    <a:lstStyle/>
                    <a:p>
                      <a:pPr algn="ctr">
                        <a:defRPr sz="1400">
                          <a:solidFill>
                            <a:srgbClr val="424242"/>
                          </a:solidFill>
                        </a:defRPr>
                      </a:pPr>
                      <a:r>
                        <a:t>4. Debate Options</a:t>
                      </a:r>
                    </a:p>
                  </a:txBody>
                  <a:tcPr/>
                </a:tc>
                <a:tc>
                  <a:txBody>
                    <a:bodyPr/>
                    <a:lstStyle/>
                    <a:p>
                      <a:pPr algn="ctr">
                        <a:defRPr sz="1400">
                          <a:solidFill>
                            <a:srgbClr val="424242"/>
                          </a:solidFill>
                        </a:defRPr>
                      </a:pPr>
                      <a:r>
                        <a:t>2-4 weeks</a:t>
                      </a:r>
                    </a:p>
                  </a:txBody>
                  <a:tcPr/>
                </a:tc>
                <a:tc>
                  <a:txBody>
                    <a:bodyPr/>
                    <a:lstStyle/>
                    <a:p>
                      <a:pPr algn="ctr">
                        <a:defRPr sz="1400">
                          <a:solidFill>
                            <a:srgbClr val="424242"/>
                          </a:solidFill>
                        </a:defRPr>
                      </a:pPr>
                      <a:r>
                        <a:t>Real-time</a:t>
                      </a:r>
                    </a:p>
                  </a:txBody>
                  <a:tcPr/>
                </a:tc>
                <a:extLst>
                  <a:ext uri="{0D108BD9-81ED-4DB2-BD59-A6C34878D82A}">
                    <a16:rowId xmlns:a16="http://schemas.microsoft.com/office/drawing/2014/main" val="10004"/>
                  </a:ext>
                </a:extLst>
              </a:tr>
              <a:tr h="457200">
                <a:tc>
                  <a:txBody>
                    <a:bodyPr/>
                    <a:lstStyle/>
                    <a:p>
                      <a:pPr algn="ctr">
                        <a:defRPr sz="1400">
                          <a:solidFill>
                            <a:srgbClr val="424242"/>
                          </a:solidFill>
                        </a:defRPr>
                      </a:pPr>
                      <a:r>
                        <a:t>5. Recommend</a:t>
                      </a:r>
                    </a:p>
                  </a:txBody>
                  <a:tcPr>
                    <a:solidFill>
                      <a:srgbClr val="F5F5F5"/>
                    </a:solidFill>
                  </a:tcPr>
                </a:tc>
                <a:tc>
                  <a:txBody>
                    <a:bodyPr/>
                    <a:lstStyle/>
                    <a:p>
                      <a:pPr algn="ctr">
                        <a:defRPr sz="1400">
                          <a:solidFill>
                            <a:srgbClr val="424242"/>
                          </a:solidFill>
                        </a:defRPr>
                      </a:pPr>
                      <a:r>
                        <a:t>2-4 weeks</a:t>
                      </a:r>
                    </a:p>
                  </a:txBody>
                  <a:tcPr>
                    <a:solidFill>
                      <a:srgbClr val="F5F5F5"/>
                    </a:solidFill>
                  </a:tcPr>
                </a:tc>
                <a:tc>
                  <a:txBody>
                    <a:bodyPr/>
                    <a:lstStyle/>
                    <a:p>
                      <a:pPr algn="ctr">
                        <a:defRPr sz="1400">
                          <a:solidFill>
                            <a:srgbClr val="424242"/>
                          </a:solidFill>
                        </a:defRPr>
                      </a:pPr>
                      <a:r>
                        <a:t>Instant</a:t>
                      </a:r>
                    </a:p>
                  </a:txBody>
                  <a:tcPr>
                    <a:solidFill>
                      <a:srgbClr val="F5F5F5"/>
                    </a:solidFill>
                  </a:tcPr>
                </a:tc>
                <a:extLst>
                  <a:ext uri="{0D108BD9-81ED-4DB2-BD59-A6C34878D82A}">
                    <a16:rowId xmlns:a16="http://schemas.microsoft.com/office/drawing/2014/main" val="10005"/>
                  </a:ext>
                </a:extLst>
              </a:tr>
              <a:tr h="457200">
                <a:tc>
                  <a:txBody>
                    <a:bodyPr/>
                    <a:lstStyle/>
                    <a:p>
                      <a:pPr algn="ctr">
                        <a:defRPr sz="1400">
                          <a:solidFill>
                            <a:srgbClr val="424242"/>
                          </a:solidFill>
                        </a:defRPr>
                      </a:pPr>
                      <a:r>
                        <a:t>6. Document</a:t>
                      </a:r>
                    </a:p>
                  </a:txBody>
                  <a:tcPr/>
                </a:tc>
                <a:tc>
                  <a:txBody>
                    <a:bodyPr/>
                    <a:lstStyle/>
                    <a:p>
                      <a:pPr algn="ctr">
                        <a:defRPr sz="1400">
                          <a:solidFill>
                            <a:srgbClr val="424242"/>
                          </a:solidFill>
                        </a:defRPr>
                      </a:pPr>
                      <a:r>
                        <a:t>1-2 weeks</a:t>
                      </a:r>
                    </a:p>
                  </a:txBody>
                  <a:tcPr/>
                </a:tc>
                <a:tc>
                  <a:txBody>
                    <a:bodyPr/>
                    <a:lstStyle/>
                    <a:p>
                      <a:pPr algn="ctr">
                        <a:defRPr sz="1400">
                          <a:solidFill>
                            <a:srgbClr val="424242"/>
                          </a:solidFill>
                        </a:defRPr>
                      </a:pPr>
                      <a:r>
                        <a:t>Automatic</a:t>
                      </a:r>
                    </a:p>
                  </a:txBody>
                  <a:tcPr/>
                </a:tc>
                <a:extLst>
                  <a:ext uri="{0D108BD9-81ED-4DB2-BD59-A6C34878D82A}">
                    <a16:rowId xmlns:a16="http://schemas.microsoft.com/office/drawing/2014/main" val="10006"/>
                  </a:ext>
                </a:extLst>
              </a:tr>
              <a:tr h="457200">
                <a:tc>
                  <a:txBody>
                    <a:bodyPr/>
                    <a:lstStyle/>
                    <a:p>
                      <a:pPr algn="ctr">
                        <a:defRPr sz="1400">
                          <a:solidFill>
                            <a:srgbClr val="424242"/>
                          </a:solidFill>
                        </a:defRPr>
                      </a:pPr>
                      <a:r>
                        <a:t>TOTAL</a:t>
                      </a:r>
                    </a:p>
                  </a:txBody>
                  <a:tcPr>
                    <a:solidFill>
                      <a:srgbClr val="F5F5F5"/>
                    </a:solidFill>
                  </a:tcPr>
                </a:tc>
                <a:tc>
                  <a:txBody>
                    <a:bodyPr/>
                    <a:lstStyle/>
                    <a:p>
                      <a:pPr algn="ctr">
                        <a:defRPr sz="1400">
                          <a:solidFill>
                            <a:srgbClr val="424242"/>
                          </a:solidFill>
                        </a:defRPr>
                      </a:pPr>
                      <a:r>
                        <a:t>12-24 weeks</a:t>
                      </a:r>
                    </a:p>
                  </a:txBody>
                  <a:tcPr>
                    <a:solidFill>
                      <a:srgbClr val="F5F5F5"/>
                    </a:solidFill>
                  </a:tcPr>
                </a:tc>
                <a:tc>
                  <a:txBody>
                    <a:bodyPr/>
                    <a:lstStyle/>
                    <a:p>
                      <a:pPr algn="ctr">
                        <a:defRPr sz="1400">
                          <a:solidFill>
                            <a:srgbClr val="424242"/>
                          </a:solidFill>
                        </a:defRPr>
                      </a:pPr>
                      <a:r>
                        <a:t>4-24 hours</a:t>
                      </a:r>
                    </a:p>
                  </a:txBody>
                  <a:tcPr>
                    <a:solidFill>
                      <a:srgbClr val="F5F5F5"/>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What We've Built</a:t>
            </a:r>
          </a:p>
        </p:txBody>
      </p:sp>
      <p:sp>
        <p:nvSpPr>
          <p:cNvPr id="4" name="TextBox 3"/>
          <p:cNvSpPr txBox="1"/>
          <p:nvPr/>
        </p:nvSpPr>
        <p:spPr>
          <a:xfrm>
            <a:off x="457200" y="1280160"/>
            <a:ext cx="3840480" cy="457200"/>
          </a:xfrm>
          <a:prstGeom prst="rect">
            <a:avLst/>
          </a:prstGeom>
          <a:noFill/>
        </p:spPr>
        <p:txBody>
          <a:bodyPr wrap="none">
            <a:spAutoFit/>
          </a:bodyPr>
          <a:lstStyle/>
          <a:p>
            <a:pPr>
              <a:defRPr sz="2200" b="1">
                <a:solidFill>
                  <a:srgbClr val="1A365D"/>
                </a:solidFill>
              </a:defRPr>
            </a:pPr>
            <a:r>
              <a:t>Core Platform ✅</a:t>
            </a:r>
          </a:p>
        </p:txBody>
      </p:sp>
      <p:sp>
        <p:nvSpPr>
          <p:cNvPr id="5" name="TextBox 4"/>
          <p:cNvSpPr txBox="1"/>
          <p:nvPr/>
        </p:nvSpPr>
        <p:spPr>
          <a:xfrm>
            <a:off x="457200" y="1737360"/>
            <a:ext cx="3840480" cy="4114800"/>
          </a:xfrm>
          <a:prstGeom prst="rect">
            <a:avLst/>
          </a:prstGeom>
          <a:noFill/>
        </p:spPr>
        <p:txBody>
          <a:bodyPr wrap="square">
            <a:spAutoFit/>
          </a:bodyPr>
          <a:lstStyle/>
          <a:p>
            <a:pPr>
              <a:spcAft>
                <a:spcPts val="800"/>
              </a:spcAft>
              <a:defRPr sz="2000">
                <a:solidFill>
                  <a:srgbClr val="424242"/>
                </a:solidFill>
              </a:defRPr>
            </a:pPr>
            <a:r>
              <a:t>• Multi-agent orchestration</a:t>
            </a:r>
          </a:p>
          <a:p>
            <a:pPr>
              <a:spcAft>
                <a:spcPts val="800"/>
              </a:spcAft>
              <a:defRPr sz="2000">
                <a:solidFill>
                  <a:srgbClr val="424242"/>
                </a:solidFill>
              </a:defRPr>
            </a:pPr>
            <a:r>
              <a:t>• Situation Awareness workflow</a:t>
            </a:r>
          </a:p>
          <a:p>
            <a:pPr>
              <a:spcAft>
                <a:spcPts val="800"/>
              </a:spcAft>
              <a:defRPr sz="2000">
                <a:solidFill>
                  <a:srgbClr val="424242"/>
                </a:solidFill>
              </a:defRPr>
            </a:pPr>
            <a:r>
              <a:t>• Deep Analysis workflow</a:t>
            </a:r>
          </a:p>
          <a:p>
            <a:pPr>
              <a:spcAft>
                <a:spcPts val="800"/>
              </a:spcAft>
              <a:defRPr sz="2000">
                <a:solidFill>
                  <a:srgbClr val="424242"/>
                </a:solidFill>
              </a:defRPr>
            </a:pPr>
            <a:r>
              <a:t>• Solution Finder with LLM debate</a:t>
            </a:r>
          </a:p>
          <a:p>
            <a:pPr>
              <a:spcAft>
                <a:spcPts val="800"/>
              </a:spcAft>
              <a:defRPr sz="2000">
                <a:solidFill>
                  <a:srgbClr val="424242"/>
                </a:solidFill>
              </a:defRPr>
            </a:pPr>
            <a:r>
              <a:t>• Full audit trail &amp; HITL</a:t>
            </a:r>
          </a:p>
          <a:p>
            <a:pPr>
              <a:spcAft>
                <a:spcPts val="800"/>
              </a:spcAft>
              <a:defRPr sz="2000">
                <a:solidFill>
                  <a:srgbClr val="424242"/>
                </a:solidFill>
              </a:defRPr>
            </a:pPr>
            <a:r>
              <a:t>• Data product onboarding</a:t>
            </a:r>
          </a:p>
        </p:txBody>
      </p:sp>
      <p:sp>
        <p:nvSpPr>
          <p:cNvPr id="6" name="TextBox 5"/>
          <p:cNvSpPr txBox="1"/>
          <p:nvPr/>
        </p:nvSpPr>
        <p:spPr>
          <a:xfrm>
            <a:off x="4846320" y="1280160"/>
            <a:ext cx="3840480" cy="457200"/>
          </a:xfrm>
          <a:prstGeom prst="rect">
            <a:avLst/>
          </a:prstGeom>
          <a:noFill/>
        </p:spPr>
        <p:txBody>
          <a:bodyPr wrap="none">
            <a:spAutoFit/>
          </a:bodyPr>
          <a:lstStyle/>
          <a:p>
            <a:pPr>
              <a:defRPr sz="2200" b="1">
                <a:solidFill>
                  <a:srgbClr val="1A365D"/>
                </a:solidFill>
              </a:defRPr>
            </a:pPr>
            <a:r>
              <a:t>Coming Soon 🔄</a:t>
            </a:r>
          </a:p>
        </p:txBody>
      </p:sp>
      <p:sp>
        <p:nvSpPr>
          <p:cNvPr id="7" name="TextBox 6"/>
          <p:cNvSpPr txBox="1"/>
          <p:nvPr/>
        </p:nvSpPr>
        <p:spPr>
          <a:xfrm>
            <a:off x="4846320" y="1737360"/>
            <a:ext cx="3840480" cy="4114800"/>
          </a:xfrm>
          <a:prstGeom prst="rect">
            <a:avLst/>
          </a:prstGeom>
          <a:noFill/>
        </p:spPr>
        <p:txBody>
          <a:bodyPr wrap="square">
            <a:spAutoFit/>
          </a:bodyPr>
          <a:lstStyle/>
          <a:p>
            <a:pPr>
              <a:spcAft>
                <a:spcPts val="800"/>
              </a:spcAft>
              <a:defRPr sz="2000">
                <a:solidFill>
                  <a:srgbClr val="424242"/>
                </a:solidFill>
              </a:defRPr>
            </a:pPr>
            <a:r>
              <a:t>• Branded Agent Marketplace</a:t>
            </a:r>
          </a:p>
          <a:p>
            <a:pPr>
              <a:spcAft>
                <a:spcPts val="800"/>
              </a:spcAft>
              <a:defRPr sz="2000">
                <a:solidFill>
                  <a:srgbClr val="424242"/>
                </a:solidFill>
              </a:defRPr>
            </a:pPr>
            <a:r>
              <a:t>• Decision Studio UI</a:t>
            </a:r>
          </a:p>
          <a:p>
            <a:pPr>
              <a:spcAft>
                <a:spcPts val="800"/>
              </a:spcAft>
              <a:defRPr sz="2000">
                <a:solidFill>
                  <a:srgbClr val="424242"/>
                </a:solidFill>
              </a:defRPr>
            </a:pPr>
            <a:r>
              <a:t>• RAG integration for partner IP</a:t>
            </a:r>
          </a:p>
          <a:p>
            <a:pPr>
              <a:spcAft>
                <a:spcPts val="800"/>
              </a:spcAft>
              <a:defRPr sz="2000">
                <a:solidFill>
                  <a:srgbClr val="424242"/>
                </a:solidFill>
              </a:defRPr>
            </a:pPr>
            <a:r>
              <a:t>• Additional data connectors</a:t>
            </a:r>
          </a:p>
          <a:p>
            <a:pPr>
              <a:spcAft>
                <a:spcPts val="800"/>
              </a:spcAft>
              <a:defRPr sz="2000">
                <a:solidFill>
                  <a:srgbClr val="424242"/>
                </a:solidFill>
              </a:defRPr>
            </a:pPr>
            <a:r>
              <a:t>• Partner self-service tools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Three-Sided Marketplace</a:t>
            </a:r>
          </a:p>
        </p:txBody>
      </p:sp>
      <p:sp>
        <p:nvSpPr>
          <p:cNvPr id="4" name="TextBox 3"/>
          <p:cNvSpPr txBox="1"/>
          <p:nvPr/>
        </p:nvSpPr>
        <p:spPr>
          <a:xfrm>
            <a:off x="457200" y="1371600"/>
            <a:ext cx="8229600" cy="4739759"/>
          </a:xfrm>
          <a:prstGeom prst="rect">
            <a:avLst/>
          </a:prstGeom>
          <a:noFill/>
        </p:spPr>
        <p:txBody>
          <a:bodyPr wrap="square">
            <a:spAutoFit/>
          </a:bodyPr>
          <a:lstStyle/>
          <a:p>
            <a:pPr>
              <a:spcAft>
                <a:spcPts val="1200"/>
              </a:spcAft>
              <a:defRPr sz="2400">
                <a:solidFill>
                  <a:srgbClr val="424242"/>
                </a:solidFill>
              </a:defRPr>
            </a:pPr>
            <a:r>
              <a:rPr sz="1600" dirty="0"/>
              <a:t>PARTNERS (Supply)                    CUSTOMERS (Demand)</a:t>
            </a:r>
          </a:p>
          <a:p>
            <a:pPr>
              <a:spcAft>
                <a:spcPts val="1200"/>
              </a:spcAft>
              <a:defRPr sz="2400">
                <a:solidFill>
                  <a:srgbClr val="424242"/>
                </a:solidFill>
              </a:defRPr>
            </a:pPr>
            <a:r>
              <a:rPr sz="1600" dirty="0"/>
              <a:t>• Consulting firms                      • Enterprises</a:t>
            </a:r>
          </a:p>
          <a:p>
            <a:pPr>
              <a:spcAft>
                <a:spcPts val="1200"/>
              </a:spcAft>
              <a:defRPr sz="2400">
                <a:solidFill>
                  <a:srgbClr val="424242"/>
                </a:solidFill>
              </a:defRPr>
            </a:pPr>
            <a:r>
              <a:rPr sz="1600" dirty="0"/>
              <a:t>• Tech vendors                           • PE portfolio companies</a:t>
            </a:r>
          </a:p>
          <a:p>
            <a:pPr>
              <a:spcAft>
                <a:spcPts val="1200"/>
              </a:spcAft>
              <a:defRPr sz="2400">
                <a:solidFill>
                  <a:srgbClr val="424242"/>
                </a:solidFill>
              </a:defRPr>
            </a:pPr>
            <a:r>
              <a:rPr sz="1600" dirty="0"/>
              <a:t>• Domain experts                        • Mid-market CFOs</a:t>
            </a:r>
          </a:p>
          <a:p>
            <a:pPr>
              <a:spcAft>
                <a:spcPts val="1200"/>
              </a:spcAft>
              <a:defRPr sz="2400">
                <a:solidFill>
                  <a:srgbClr val="424242"/>
                </a:solidFill>
              </a:defRPr>
            </a:pPr>
            <a:endParaRPr sz="1600" dirty="0"/>
          </a:p>
          <a:p>
            <a:pPr>
              <a:spcAft>
                <a:spcPts val="1200"/>
              </a:spcAft>
              <a:defRPr sz="2400">
                <a:solidFill>
                  <a:srgbClr val="424242"/>
                </a:solidFill>
              </a:defRPr>
            </a:pPr>
            <a:r>
              <a:rPr sz="1600" dirty="0"/>
              <a:t>                    ↘    AGENT9 PLATFORM    ↙</a:t>
            </a:r>
          </a:p>
          <a:p>
            <a:pPr>
              <a:spcAft>
                <a:spcPts val="1200"/>
              </a:spcAft>
              <a:defRPr sz="2400">
                <a:solidFill>
                  <a:srgbClr val="424242"/>
                </a:solidFill>
              </a:defRPr>
            </a:pPr>
            <a:endParaRPr sz="1600" dirty="0"/>
          </a:p>
          <a:p>
            <a:pPr>
              <a:spcAft>
                <a:spcPts val="1200"/>
              </a:spcAft>
              <a:defRPr sz="2400">
                <a:solidFill>
                  <a:srgbClr val="424242"/>
                </a:solidFill>
              </a:defRPr>
            </a:pPr>
            <a:r>
              <a:rPr sz="1600" dirty="0"/>
              <a:t>Revenue Streams:</a:t>
            </a:r>
          </a:p>
          <a:p>
            <a:pPr>
              <a:spcAft>
                <a:spcPts val="1200"/>
              </a:spcAft>
              <a:defRPr sz="2400">
                <a:solidFill>
                  <a:srgbClr val="424242"/>
                </a:solidFill>
              </a:defRPr>
            </a:pPr>
            <a:r>
              <a:rPr sz="1600" dirty="0"/>
              <a:t>• Platform subscriptions: $80K-$300K/year</a:t>
            </a:r>
          </a:p>
          <a:p>
            <a:pPr>
              <a:spcAft>
                <a:spcPts val="1200"/>
              </a:spcAft>
              <a:defRPr sz="2400">
                <a:solidFill>
                  <a:srgbClr val="424242"/>
                </a:solidFill>
              </a:defRPr>
            </a:pPr>
            <a:r>
              <a:rPr sz="1600" dirty="0"/>
              <a:t>• Per-debate fees: $100-$500 each</a:t>
            </a:r>
          </a:p>
          <a:p>
            <a:pPr>
              <a:spcAft>
                <a:spcPts val="1200"/>
              </a:spcAft>
              <a:defRPr sz="2400">
                <a:solidFill>
                  <a:srgbClr val="424242"/>
                </a:solidFill>
              </a:defRPr>
            </a:pPr>
            <a:r>
              <a:rPr sz="1600" dirty="0"/>
              <a:t>• Implementation: $50K-$150K</a:t>
            </a:r>
          </a:p>
          <a:p>
            <a:pPr>
              <a:spcAft>
                <a:spcPts val="1200"/>
              </a:spcAft>
              <a:defRPr sz="2400">
                <a:solidFill>
                  <a:srgbClr val="424242"/>
                </a:solidFill>
              </a:defRPr>
            </a:pPr>
            <a:r>
              <a:rPr sz="1600" dirty="0"/>
              <a:t>• Partner revenue share: 15-30%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Who We're Targeting</a:t>
            </a:r>
          </a:p>
        </p:txBody>
      </p:sp>
      <p:graphicFrame>
        <p:nvGraphicFramePr>
          <p:cNvPr id="4" name="Table 3"/>
          <p:cNvGraphicFramePr>
            <a:graphicFrameLocks noGrp="1"/>
          </p:cNvGraphicFramePr>
          <p:nvPr/>
        </p:nvGraphicFramePr>
        <p:xfrm>
          <a:off x="457200" y="1463040"/>
          <a:ext cx="8229600" cy="22860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57200">
                <a:tc>
                  <a:txBody>
                    <a:bodyPr/>
                    <a:lstStyle/>
                    <a:p>
                      <a:pPr algn="ctr">
                        <a:defRPr sz="1600" b="1">
                          <a:solidFill>
                            <a:srgbClr val="FFFFFF"/>
                          </a:solidFill>
                        </a:defRPr>
                      </a:pPr>
                      <a:r>
                        <a:t>Segment</a:t>
                      </a:r>
                    </a:p>
                  </a:txBody>
                  <a:tcPr>
                    <a:solidFill>
                      <a:srgbClr val="1A365D"/>
                    </a:solidFill>
                  </a:tcPr>
                </a:tc>
                <a:tc>
                  <a:txBody>
                    <a:bodyPr/>
                    <a:lstStyle/>
                    <a:p>
                      <a:pPr algn="ctr">
                        <a:defRPr sz="1600" b="1">
                          <a:solidFill>
                            <a:srgbClr val="FFFFFF"/>
                          </a:solidFill>
                        </a:defRPr>
                      </a:pPr>
                      <a:r>
                        <a:t>Market Size</a:t>
                      </a:r>
                    </a:p>
                  </a:txBody>
                  <a:tcPr>
                    <a:solidFill>
                      <a:srgbClr val="1A365D"/>
                    </a:solidFill>
                  </a:tcPr>
                </a:tc>
                <a:tc>
                  <a:txBody>
                    <a:bodyPr/>
                    <a:lstStyle/>
                    <a:p>
                      <a:pPr algn="ctr">
                        <a:defRPr sz="1600" b="1">
                          <a:solidFill>
                            <a:srgbClr val="FFFFFF"/>
                          </a:solidFill>
                        </a:defRPr>
                      </a:pPr>
                      <a:r>
                        <a:t>Avg. Deal</a:t>
                      </a:r>
                    </a:p>
                  </a:txBody>
                  <a:tcPr>
                    <a:solidFill>
                      <a:srgbClr val="1A365D"/>
                    </a:solidFill>
                  </a:tcPr>
                </a:tc>
                <a:tc>
                  <a:txBody>
                    <a:bodyPr/>
                    <a:lstStyle/>
                    <a:p>
                      <a:pPr algn="ctr">
                        <a:defRPr sz="1600" b="1">
                          <a:solidFill>
                            <a:srgbClr val="FFFFFF"/>
                          </a:solidFill>
                        </a:defRPr>
                      </a:pPr>
                      <a:r>
                        <a:t>Priority</a:t>
                      </a:r>
                    </a:p>
                  </a:txBody>
                  <a:tcPr>
                    <a:solidFill>
                      <a:srgbClr val="1A365D"/>
                    </a:solidFill>
                  </a:tcPr>
                </a:tc>
                <a:extLst>
                  <a:ext uri="{0D108BD9-81ED-4DB2-BD59-A6C34878D82A}">
                    <a16:rowId xmlns:a16="http://schemas.microsoft.com/office/drawing/2014/main" val="10000"/>
                  </a:ext>
                </a:extLst>
              </a:tr>
              <a:tr h="457200">
                <a:tc>
                  <a:txBody>
                    <a:bodyPr/>
                    <a:lstStyle/>
                    <a:p>
                      <a:pPr algn="ctr">
                        <a:defRPr sz="1400">
                          <a:solidFill>
                            <a:srgbClr val="424242"/>
                          </a:solidFill>
                        </a:defRPr>
                      </a:pPr>
                      <a:r>
                        <a:t>PE Portfolio Ops</a:t>
                      </a:r>
                    </a:p>
                  </a:txBody>
                  <a:tcPr>
                    <a:solidFill>
                      <a:srgbClr val="F5F5F5"/>
                    </a:solidFill>
                  </a:tcPr>
                </a:tc>
                <a:tc>
                  <a:txBody>
                    <a:bodyPr/>
                    <a:lstStyle/>
                    <a:p>
                      <a:pPr algn="ctr">
                        <a:defRPr sz="1400">
                          <a:solidFill>
                            <a:srgbClr val="424242"/>
                          </a:solidFill>
                        </a:defRPr>
                      </a:pPr>
                      <a:r>
                        <a:t>500 firms</a:t>
                      </a:r>
                    </a:p>
                  </a:txBody>
                  <a:tcPr>
                    <a:solidFill>
                      <a:srgbClr val="F5F5F5"/>
                    </a:solidFill>
                  </a:tcPr>
                </a:tc>
                <a:tc>
                  <a:txBody>
                    <a:bodyPr/>
                    <a:lstStyle/>
                    <a:p>
                      <a:pPr algn="ctr">
                        <a:defRPr sz="1400">
                          <a:solidFill>
                            <a:srgbClr val="424242"/>
                          </a:solidFill>
                        </a:defRPr>
                      </a:pPr>
                      <a:r>
                        <a:t>$200K+</a:t>
                      </a:r>
                    </a:p>
                  </a:txBody>
                  <a:tcPr>
                    <a:solidFill>
                      <a:srgbClr val="F5F5F5"/>
                    </a:solidFill>
                  </a:tcPr>
                </a:tc>
                <a:tc>
                  <a:txBody>
                    <a:bodyPr/>
                    <a:lstStyle/>
                    <a:p>
                      <a:pPr algn="ctr">
                        <a:defRPr sz="1400">
                          <a:solidFill>
                            <a:srgbClr val="424242"/>
                          </a:solidFill>
                        </a:defRPr>
                      </a:pPr>
                      <a:r>
                        <a:t>⭐⭐⭐</a:t>
                      </a:r>
                    </a:p>
                  </a:txBody>
                  <a:tcPr>
                    <a:solidFill>
                      <a:srgbClr val="F5F5F5"/>
                    </a:solidFill>
                  </a:tcPr>
                </a:tc>
                <a:extLst>
                  <a:ext uri="{0D108BD9-81ED-4DB2-BD59-A6C34878D82A}">
                    <a16:rowId xmlns:a16="http://schemas.microsoft.com/office/drawing/2014/main" val="10001"/>
                  </a:ext>
                </a:extLst>
              </a:tr>
              <a:tr h="457200">
                <a:tc>
                  <a:txBody>
                    <a:bodyPr/>
                    <a:lstStyle/>
                    <a:p>
                      <a:pPr algn="ctr">
                        <a:defRPr sz="1400">
                          <a:solidFill>
                            <a:srgbClr val="424242"/>
                          </a:solidFill>
                        </a:defRPr>
                      </a:pPr>
                      <a:r>
                        <a:t>Mid-Market CFOs</a:t>
                      </a:r>
                    </a:p>
                  </a:txBody>
                  <a:tcPr/>
                </a:tc>
                <a:tc>
                  <a:txBody>
                    <a:bodyPr/>
                    <a:lstStyle/>
                    <a:p>
                      <a:pPr algn="ctr">
                        <a:defRPr sz="1400">
                          <a:solidFill>
                            <a:srgbClr val="424242"/>
                          </a:solidFill>
                        </a:defRPr>
                      </a:pPr>
                      <a:r>
                        <a:t>10,000+</a:t>
                      </a:r>
                    </a:p>
                  </a:txBody>
                  <a:tcPr/>
                </a:tc>
                <a:tc>
                  <a:txBody>
                    <a:bodyPr/>
                    <a:lstStyle/>
                    <a:p>
                      <a:pPr algn="ctr">
                        <a:defRPr sz="1400">
                          <a:solidFill>
                            <a:srgbClr val="424242"/>
                          </a:solidFill>
                        </a:defRPr>
                      </a:pPr>
                      <a:r>
                        <a:t>$80K</a:t>
                      </a:r>
                    </a:p>
                  </a:txBody>
                  <a:tcPr/>
                </a:tc>
                <a:tc>
                  <a:txBody>
                    <a:bodyPr/>
                    <a:lstStyle/>
                    <a:p>
                      <a:pPr algn="ctr">
                        <a:defRPr sz="1400">
                          <a:solidFill>
                            <a:srgbClr val="424242"/>
                          </a:solidFill>
                        </a:defRPr>
                      </a:pPr>
                      <a:r>
                        <a:t>⭐⭐⭐</a:t>
                      </a:r>
                    </a:p>
                  </a:txBody>
                  <a:tcPr/>
                </a:tc>
                <a:extLst>
                  <a:ext uri="{0D108BD9-81ED-4DB2-BD59-A6C34878D82A}">
                    <a16:rowId xmlns:a16="http://schemas.microsoft.com/office/drawing/2014/main" val="10002"/>
                  </a:ext>
                </a:extLst>
              </a:tr>
              <a:tr h="457200">
                <a:tc>
                  <a:txBody>
                    <a:bodyPr/>
                    <a:lstStyle/>
                    <a:p>
                      <a:pPr algn="ctr">
                        <a:defRPr sz="1400">
                          <a:solidFill>
                            <a:srgbClr val="424242"/>
                          </a:solidFill>
                        </a:defRPr>
                      </a:pPr>
                      <a:r>
                        <a:t>Corp Strategy Teams</a:t>
                      </a:r>
                    </a:p>
                  </a:txBody>
                  <a:tcPr>
                    <a:solidFill>
                      <a:srgbClr val="F5F5F5"/>
                    </a:solidFill>
                  </a:tcPr>
                </a:tc>
                <a:tc>
                  <a:txBody>
                    <a:bodyPr/>
                    <a:lstStyle/>
                    <a:p>
                      <a:pPr algn="ctr">
                        <a:defRPr sz="1400">
                          <a:solidFill>
                            <a:srgbClr val="424242"/>
                          </a:solidFill>
                        </a:defRPr>
                      </a:pPr>
                      <a:r>
                        <a:t>500 F500</a:t>
                      </a:r>
                    </a:p>
                  </a:txBody>
                  <a:tcPr>
                    <a:solidFill>
                      <a:srgbClr val="F5F5F5"/>
                    </a:solidFill>
                  </a:tcPr>
                </a:tc>
                <a:tc>
                  <a:txBody>
                    <a:bodyPr/>
                    <a:lstStyle/>
                    <a:p>
                      <a:pPr algn="ctr">
                        <a:defRPr sz="1400">
                          <a:solidFill>
                            <a:srgbClr val="424242"/>
                          </a:solidFill>
                        </a:defRPr>
                      </a:pPr>
                      <a:r>
                        <a:t>$300K+</a:t>
                      </a:r>
                    </a:p>
                  </a:txBody>
                  <a:tcPr>
                    <a:solidFill>
                      <a:srgbClr val="F5F5F5"/>
                    </a:solidFill>
                  </a:tcPr>
                </a:tc>
                <a:tc>
                  <a:txBody>
                    <a:bodyPr/>
                    <a:lstStyle/>
                    <a:p>
                      <a:pPr algn="ctr">
                        <a:defRPr sz="1400">
                          <a:solidFill>
                            <a:srgbClr val="424242"/>
                          </a:solidFill>
                        </a:defRPr>
                      </a:pPr>
                      <a:r>
                        <a:t>⭐⭐</a:t>
                      </a:r>
                    </a:p>
                  </a:txBody>
                  <a:tcPr>
                    <a:solidFill>
                      <a:srgbClr val="F5F5F5"/>
                    </a:solidFill>
                  </a:tcPr>
                </a:tc>
                <a:extLst>
                  <a:ext uri="{0D108BD9-81ED-4DB2-BD59-A6C34878D82A}">
                    <a16:rowId xmlns:a16="http://schemas.microsoft.com/office/drawing/2014/main" val="10003"/>
                  </a:ext>
                </a:extLst>
              </a:tr>
              <a:tr h="457200">
                <a:tc>
                  <a:txBody>
                    <a:bodyPr/>
                    <a:lstStyle/>
                    <a:p>
                      <a:pPr algn="ctr">
                        <a:defRPr sz="1400">
                          <a:solidFill>
                            <a:srgbClr val="424242"/>
                          </a:solidFill>
                        </a:defRPr>
                      </a:pPr>
                      <a:r>
                        <a:t>Data Platform Customers</a:t>
                      </a:r>
                    </a:p>
                  </a:txBody>
                  <a:tcPr/>
                </a:tc>
                <a:tc>
                  <a:txBody>
                    <a:bodyPr/>
                    <a:lstStyle/>
                    <a:p>
                      <a:pPr algn="ctr">
                        <a:defRPr sz="1400">
                          <a:solidFill>
                            <a:srgbClr val="424242"/>
                          </a:solidFill>
                        </a:defRPr>
                      </a:pPr>
                      <a:r>
                        <a:t>5,000+</a:t>
                      </a:r>
                    </a:p>
                  </a:txBody>
                  <a:tcPr/>
                </a:tc>
                <a:tc>
                  <a:txBody>
                    <a:bodyPr/>
                    <a:lstStyle/>
                    <a:p>
                      <a:pPr algn="ctr">
                        <a:defRPr sz="1400">
                          <a:solidFill>
                            <a:srgbClr val="424242"/>
                          </a:solidFill>
                        </a:defRPr>
                      </a:pPr>
                      <a:r>
                        <a:t>$100K</a:t>
                      </a:r>
                    </a:p>
                  </a:txBody>
                  <a:tcPr/>
                </a:tc>
                <a:tc>
                  <a:txBody>
                    <a:bodyPr/>
                    <a:lstStyle/>
                    <a:p>
                      <a:pPr algn="ctr">
                        <a:defRPr sz="1400">
                          <a:solidFill>
                            <a:srgbClr val="424242"/>
                          </a:solidFill>
                        </a:defRPr>
                      </a:pPr>
                      <a:r>
                        <a:t>⭐⭐</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The Perfect Early Adopter</a:t>
            </a:r>
          </a:p>
        </p:txBody>
      </p:sp>
      <p:sp>
        <p:nvSpPr>
          <p:cNvPr id="4" name="TextBox 3"/>
          <p:cNvSpPr txBox="1"/>
          <p:nvPr/>
        </p:nvSpPr>
        <p:spPr>
          <a:xfrm>
            <a:off x="457200" y="1280160"/>
            <a:ext cx="3840480" cy="457200"/>
          </a:xfrm>
          <a:prstGeom prst="rect">
            <a:avLst/>
          </a:prstGeom>
          <a:noFill/>
        </p:spPr>
        <p:txBody>
          <a:bodyPr wrap="none">
            <a:spAutoFit/>
          </a:bodyPr>
          <a:lstStyle/>
          <a:p>
            <a:pPr>
              <a:defRPr sz="2200" b="1">
                <a:solidFill>
                  <a:srgbClr val="1A365D"/>
                </a:solidFill>
              </a:defRPr>
            </a:pPr>
            <a:r>
              <a:t>Must-Haves ✅</a:t>
            </a:r>
          </a:p>
        </p:txBody>
      </p:sp>
      <p:sp>
        <p:nvSpPr>
          <p:cNvPr id="5" name="TextBox 4"/>
          <p:cNvSpPr txBox="1"/>
          <p:nvPr/>
        </p:nvSpPr>
        <p:spPr>
          <a:xfrm>
            <a:off x="457200" y="1737360"/>
            <a:ext cx="3840480" cy="4114800"/>
          </a:xfrm>
          <a:prstGeom prst="rect">
            <a:avLst/>
          </a:prstGeom>
          <a:noFill/>
        </p:spPr>
        <p:txBody>
          <a:bodyPr wrap="square">
            <a:spAutoFit/>
          </a:bodyPr>
          <a:lstStyle/>
          <a:p>
            <a:pPr>
              <a:spcAft>
                <a:spcPts val="800"/>
              </a:spcAft>
              <a:defRPr sz="2000">
                <a:solidFill>
                  <a:srgbClr val="424242"/>
                </a:solidFill>
              </a:defRPr>
            </a:pPr>
            <a:r>
              <a:t>• Existing data infrastructure</a:t>
            </a:r>
          </a:p>
          <a:p>
            <a:pPr>
              <a:spcAft>
                <a:spcPts val="800"/>
              </a:spcAft>
              <a:defRPr sz="2000">
                <a:solidFill>
                  <a:srgbClr val="424242"/>
                </a:solidFill>
              </a:defRPr>
            </a:pPr>
            <a:r>
              <a:t>• Analytics team to validate</a:t>
            </a:r>
          </a:p>
          <a:p>
            <a:pPr>
              <a:spcAft>
                <a:spcPts val="800"/>
              </a:spcAft>
              <a:defRPr sz="2000">
                <a:solidFill>
                  <a:srgbClr val="424242"/>
                </a:solidFill>
              </a:defRPr>
            </a:pPr>
            <a:r>
              <a:t>• Executive sponsor with budget</a:t>
            </a:r>
          </a:p>
          <a:p>
            <a:pPr>
              <a:spcAft>
                <a:spcPts val="800"/>
              </a:spcAft>
              <a:defRPr sz="2000">
                <a:solidFill>
                  <a:srgbClr val="424242"/>
                </a:solidFill>
              </a:defRPr>
            </a:pPr>
            <a:r>
              <a:t>• $1M+ annual consulting spend</a:t>
            </a:r>
          </a:p>
        </p:txBody>
      </p:sp>
      <p:sp>
        <p:nvSpPr>
          <p:cNvPr id="6" name="TextBox 5"/>
          <p:cNvSpPr txBox="1"/>
          <p:nvPr/>
        </p:nvSpPr>
        <p:spPr>
          <a:xfrm>
            <a:off x="4846320" y="1280160"/>
            <a:ext cx="3840480" cy="457200"/>
          </a:xfrm>
          <a:prstGeom prst="rect">
            <a:avLst/>
          </a:prstGeom>
          <a:noFill/>
        </p:spPr>
        <p:txBody>
          <a:bodyPr wrap="none">
            <a:spAutoFit/>
          </a:bodyPr>
          <a:lstStyle/>
          <a:p>
            <a:pPr>
              <a:defRPr sz="2200" b="1">
                <a:solidFill>
                  <a:srgbClr val="1A365D"/>
                </a:solidFill>
              </a:defRPr>
            </a:pPr>
            <a:r>
              <a:t>Trigger Events 🎯</a:t>
            </a:r>
          </a:p>
        </p:txBody>
      </p:sp>
      <p:sp>
        <p:nvSpPr>
          <p:cNvPr id="7" name="TextBox 6"/>
          <p:cNvSpPr txBox="1"/>
          <p:nvPr/>
        </p:nvSpPr>
        <p:spPr>
          <a:xfrm>
            <a:off x="4846320" y="1737360"/>
            <a:ext cx="3840480" cy="4114800"/>
          </a:xfrm>
          <a:prstGeom prst="rect">
            <a:avLst/>
          </a:prstGeom>
          <a:noFill/>
        </p:spPr>
        <p:txBody>
          <a:bodyPr wrap="square">
            <a:spAutoFit/>
          </a:bodyPr>
          <a:lstStyle/>
          <a:p>
            <a:pPr>
              <a:spcAft>
                <a:spcPts val="800"/>
              </a:spcAft>
              <a:defRPr sz="2000">
                <a:solidFill>
                  <a:srgbClr val="424242"/>
                </a:solidFill>
              </a:defRPr>
            </a:pPr>
            <a:r>
              <a:t>• New CFO/CSO hire (first 90 days)</a:t>
            </a:r>
          </a:p>
          <a:p>
            <a:pPr>
              <a:spcAft>
                <a:spcPts val="800"/>
              </a:spcAft>
              <a:defRPr sz="2000">
                <a:solidFill>
                  <a:srgbClr val="424242"/>
                </a:solidFill>
              </a:defRPr>
            </a:pPr>
            <a:r>
              <a:t>• PE acquisition</a:t>
            </a:r>
          </a:p>
          <a:p>
            <a:pPr>
              <a:spcAft>
                <a:spcPts val="800"/>
              </a:spcAft>
              <a:defRPr sz="2000">
                <a:solidFill>
                  <a:srgbClr val="424242"/>
                </a:solidFill>
              </a:defRPr>
            </a:pPr>
            <a:r>
              <a:t>• Activist investor pressure</a:t>
            </a:r>
          </a:p>
          <a:p>
            <a:pPr>
              <a:spcAft>
                <a:spcPts val="800"/>
              </a:spcAft>
              <a:defRPr sz="2000">
                <a:solidFill>
                  <a:srgbClr val="424242"/>
                </a:solidFill>
              </a:defRPr>
            </a:pPr>
            <a:r>
              <a:t>• IPO preparation</a:t>
            </a:r>
          </a:p>
          <a:p>
            <a:pPr>
              <a:spcAft>
                <a:spcPts val="800"/>
              </a:spcAft>
              <a:defRPr sz="2000">
                <a:solidFill>
                  <a:srgbClr val="424242"/>
                </a:solidFill>
              </a:defRPr>
            </a:pPr>
            <a:r>
              <a:t>• Cost reduction initiative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Go-to-Market: Land, Expand, Partner</a:t>
            </a:r>
          </a:p>
        </p:txBody>
      </p:sp>
      <p:sp>
        <p:nvSpPr>
          <p:cNvPr id="4" name="TextBox 3"/>
          <p:cNvSpPr txBox="1"/>
          <p:nvPr/>
        </p:nvSpPr>
        <p:spPr>
          <a:xfrm>
            <a:off x="457200" y="1371600"/>
            <a:ext cx="8229600" cy="4339650"/>
          </a:xfrm>
          <a:prstGeom prst="rect">
            <a:avLst/>
          </a:prstGeom>
          <a:noFill/>
        </p:spPr>
        <p:txBody>
          <a:bodyPr wrap="square">
            <a:spAutoFit/>
          </a:bodyPr>
          <a:lstStyle/>
          <a:p>
            <a:pPr>
              <a:spcAft>
                <a:spcPts val="1200"/>
              </a:spcAft>
              <a:defRPr sz="2400">
                <a:solidFill>
                  <a:srgbClr val="424242"/>
                </a:solidFill>
              </a:defRPr>
            </a:pPr>
            <a:r>
              <a:rPr sz="1600" dirty="0"/>
              <a:t>PHASE 1: LAND (Q1-Q2 2025)</a:t>
            </a:r>
          </a:p>
          <a:p>
            <a:pPr>
              <a:spcAft>
                <a:spcPts val="1200"/>
              </a:spcAft>
              <a:defRPr sz="2400">
                <a:solidFill>
                  <a:srgbClr val="424242"/>
                </a:solidFill>
              </a:defRPr>
            </a:pPr>
            <a:r>
              <a:rPr sz="1600" dirty="0"/>
              <a:t>   • Direct sales to 10-20 early adopters</a:t>
            </a:r>
          </a:p>
          <a:p>
            <a:pPr>
              <a:spcAft>
                <a:spcPts val="1200"/>
              </a:spcAft>
              <a:defRPr sz="2400">
                <a:solidFill>
                  <a:srgbClr val="424242"/>
                </a:solidFill>
              </a:defRPr>
            </a:pPr>
            <a:r>
              <a:rPr sz="1600" dirty="0"/>
              <a:t>   • Goal: 5-10 customers, $500K ARR</a:t>
            </a:r>
          </a:p>
          <a:p>
            <a:pPr>
              <a:spcAft>
                <a:spcPts val="1200"/>
              </a:spcAft>
              <a:defRPr sz="2400">
                <a:solidFill>
                  <a:srgbClr val="424242"/>
                </a:solidFill>
              </a:defRPr>
            </a:pPr>
            <a:endParaRPr sz="1600" dirty="0"/>
          </a:p>
          <a:p>
            <a:pPr>
              <a:spcAft>
                <a:spcPts val="1200"/>
              </a:spcAft>
              <a:defRPr sz="2400">
                <a:solidFill>
                  <a:srgbClr val="424242"/>
                </a:solidFill>
              </a:defRPr>
            </a:pPr>
            <a:r>
              <a:rPr sz="1600" dirty="0"/>
              <a:t>PHASE 2: EXPAND (Q3-Q4 2025)</a:t>
            </a:r>
          </a:p>
          <a:p>
            <a:pPr>
              <a:spcAft>
                <a:spcPts val="1200"/>
              </a:spcAft>
              <a:defRPr sz="2400">
                <a:solidFill>
                  <a:srgbClr val="424242"/>
                </a:solidFill>
              </a:defRPr>
            </a:pPr>
            <a:r>
              <a:rPr sz="1600" dirty="0"/>
              <a:t>   • Grow within accounts, add use cases</a:t>
            </a:r>
          </a:p>
          <a:p>
            <a:pPr>
              <a:spcAft>
                <a:spcPts val="1200"/>
              </a:spcAft>
              <a:defRPr sz="2400">
                <a:solidFill>
                  <a:srgbClr val="424242"/>
                </a:solidFill>
              </a:defRPr>
            </a:pPr>
            <a:r>
              <a:rPr sz="1600" dirty="0"/>
              <a:t>   • Goal: $150K avg ACV, $2M ARR</a:t>
            </a:r>
          </a:p>
          <a:p>
            <a:pPr>
              <a:spcAft>
                <a:spcPts val="1200"/>
              </a:spcAft>
              <a:defRPr sz="2400">
                <a:solidFill>
                  <a:srgbClr val="424242"/>
                </a:solidFill>
              </a:defRPr>
            </a:pPr>
            <a:endParaRPr sz="1600" dirty="0"/>
          </a:p>
          <a:p>
            <a:pPr>
              <a:spcAft>
                <a:spcPts val="1200"/>
              </a:spcAft>
              <a:defRPr sz="2400">
                <a:solidFill>
                  <a:srgbClr val="424242"/>
                </a:solidFill>
              </a:defRPr>
            </a:pPr>
            <a:r>
              <a:rPr sz="1600" dirty="0"/>
              <a:t>PHASE 3: PARTNER (2026)</a:t>
            </a:r>
          </a:p>
          <a:p>
            <a:pPr>
              <a:spcAft>
                <a:spcPts val="1200"/>
              </a:spcAft>
              <a:defRPr sz="2400">
                <a:solidFill>
                  <a:srgbClr val="424242"/>
                </a:solidFill>
              </a:defRPr>
            </a:pPr>
            <a:r>
              <a:rPr sz="1600" dirty="0"/>
              <a:t>   • Launch branded agent marketplace</a:t>
            </a:r>
          </a:p>
          <a:p>
            <a:pPr>
              <a:spcAft>
                <a:spcPts val="1200"/>
              </a:spcAft>
              <a:defRPr sz="2400">
                <a:solidFill>
                  <a:srgbClr val="424242"/>
                </a:solidFill>
              </a:defRPr>
            </a:pPr>
            <a:r>
              <a:rPr sz="1600" dirty="0"/>
              <a:t>   • Goal: 50% revenue from partner channel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Why Partners Will Join</a:t>
            </a:r>
          </a:p>
        </p:txBody>
      </p:sp>
      <p:graphicFrame>
        <p:nvGraphicFramePr>
          <p:cNvPr id="4" name="Table 3"/>
          <p:cNvGraphicFramePr>
            <a:graphicFrameLocks noGrp="1"/>
          </p:cNvGraphicFramePr>
          <p:nvPr/>
        </p:nvGraphicFramePr>
        <p:xfrm>
          <a:off x="457200" y="1463040"/>
          <a:ext cx="8229600" cy="1828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57200">
                <a:tc>
                  <a:txBody>
                    <a:bodyPr/>
                    <a:lstStyle/>
                    <a:p>
                      <a:pPr algn="ctr">
                        <a:defRPr sz="1600" b="1">
                          <a:solidFill>
                            <a:srgbClr val="FFFFFF"/>
                          </a:solidFill>
                        </a:defRPr>
                      </a:pPr>
                      <a:r>
                        <a:t>Partner Fear</a:t>
                      </a:r>
                    </a:p>
                  </a:txBody>
                  <a:tcPr>
                    <a:solidFill>
                      <a:srgbClr val="1A365D"/>
                    </a:solidFill>
                  </a:tcPr>
                </a:tc>
                <a:tc>
                  <a:txBody>
                    <a:bodyPr/>
                    <a:lstStyle/>
                    <a:p>
                      <a:pPr algn="ctr">
                        <a:defRPr sz="1600" b="1">
                          <a:solidFill>
                            <a:srgbClr val="FFFFFF"/>
                          </a:solidFill>
                        </a:defRPr>
                      </a:pPr>
                      <a:r>
                        <a:t>Agent9 Reality</a:t>
                      </a:r>
                    </a:p>
                  </a:txBody>
                  <a:tcPr>
                    <a:solidFill>
                      <a:srgbClr val="1A365D"/>
                    </a:solidFill>
                  </a:tcPr>
                </a:tc>
                <a:extLst>
                  <a:ext uri="{0D108BD9-81ED-4DB2-BD59-A6C34878D82A}">
                    <a16:rowId xmlns:a16="http://schemas.microsoft.com/office/drawing/2014/main" val="10000"/>
                  </a:ext>
                </a:extLst>
              </a:tr>
              <a:tr h="457200">
                <a:tc>
                  <a:txBody>
                    <a:bodyPr/>
                    <a:lstStyle/>
                    <a:p>
                      <a:pPr algn="ctr">
                        <a:defRPr sz="1400">
                          <a:solidFill>
                            <a:srgbClr val="424242"/>
                          </a:solidFill>
                        </a:defRPr>
                      </a:pPr>
                      <a:r>
                        <a:t>"We'll cannibalize revenue"</a:t>
                      </a:r>
                    </a:p>
                  </a:txBody>
                  <a:tcPr>
                    <a:solidFill>
                      <a:srgbClr val="F5F5F5"/>
                    </a:solidFill>
                  </a:tcPr>
                </a:tc>
                <a:tc>
                  <a:txBody>
                    <a:bodyPr/>
                    <a:lstStyle/>
                    <a:p>
                      <a:pPr algn="ctr">
                        <a:defRPr sz="1400">
                          <a:solidFill>
                            <a:srgbClr val="424242"/>
                          </a:solidFill>
                        </a:defRPr>
                      </a:pPr>
                      <a:r>
                        <a:t>Access markets you can't serve today</a:t>
                      </a:r>
                    </a:p>
                  </a:txBody>
                  <a:tcPr>
                    <a:solidFill>
                      <a:srgbClr val="F5F5F5"/>
                    </a:solidFill>
                  </a:tcPr>
                </a:tc>
                <a:extLst>
                  <a:ext uri="{0D108BD9-81ED-4DB2-BD59-A6C34878D82A}">
                    <a16:rowId xmlns:a16="http://schemas.microsoft.com/office/drawing/2014/main" val="10001"/>
                  </a:ext>
                </a:extLst>
              </a:tr>
              <a:tr h="457200">
                <a:tc>
                  <a:txBody>
                    <a:bodyPr/>
                    <a:lstStyle/>
                    <a:p>
                      <a:pPr algn="ctr">
                        <a:defRPr sz="1400">
                          <a:solidFill>
                            <a:srgbClr val="424242"/>
                          </a:solidFill>
                        </a:defRPr>
                      </a:pPr>
                      <a:r>
                        <a:t>"Our IP will be commoditized"</a:t>
                      </a:r>
                    </a:p>
                  </a:txBody>
                  <a:tcPr/>
                </a:tc>
                <a:tc>
                  <a:txBody>
                    <a:bodyPr/>
                    <a:lstStyle/>
                    <a:p>
                      <a:pPr algn="ctr">
                        <a:defRPr sz="1400">
                          <a:solidFill>
                            <a:srgbClr val="424242"/>
                          </a:solidFill>
                        </a:defRPr>
                      </a:pPr>
                      <a:r>
                        <a:t>Monetize IP that's currently free</a:t>
                      </a:r>
                    </a:p>
                  </a:txBody>
                  <a:tcPr/>
                </a:tc>
                <a:extLst>
                  <a:ext uri="{0D108BD9-81ED-4DB2-BD59-A6C34878D82A}">
                    <a16:rowId xmlns:a16="http://schemas.microsoft.com/office/drawing/2014/main" val="10002"/>
                  </a:ext>
                </a:extLst>
              </a:tr>
              <a:tr h="457200">
                <a:tc>
                  <a:txBody>
                    <a:bodyPr/>
                    <a:lstStyle/>
                    <a:p>
                      <a:pPr algn="ctr">
                        <a:defRPr sz="1400">
                          <a:solidFill>
                            <a:srgbClr val="424242"/>
                          </a:solidFill>
                        </a:defRPr>
                      </a:pPr>
                      <a:r>
                        <a:t>"Clients won't need us"</a:t>
                      </a:r>
                    </a:p>
                  </a:txBody>
                  <a:tcPr>
                    <a:solidFill>
                      <a:srgbClr val="F5F5F5"/>
                    </a:solidFill>
                  </a:tcPr>
                </a:tc>
                <a:tc>
                  <a:txBody>
                    <a:bodyPr/>
                    <a:lstStyle/>
                    <a:p>
                      <a:pPr algn="ctr">
                        <a:defRPr sz="1400">
                          <a:solidFill>
                            <a:srgbClr val="424242"/>
                          </a:solidFill>
                        </a:defRPr>
                      </a:pPr>
                      <a:r>
                        <a:t>Agents generate leads for human work</a:t>
                      </a:r>
                    </a:p>
                  </a:txBody>
                  <a:tcPr>
                    <a:solidFill>
                      <a:srgbClr val="F5F5F5"/>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We're Creating a New Category</a:t>
            </a:r>
          </a:p>
        </p:txBody>
      </p:sp>
      <p:sp>
        <p:nvSpPr>
          <p:cNvPr id="4" name="TextBox 3"/>
          <p:cNvSpPr txBox="1"/>
          <p:nvPr/>
        </p:nvSpPr>
        <p:spPr>
          <a:xfrm>
            <a:off x="457200" y="1371600"/>
            <a:ext cx="8229600" cy="4739759"/>
          </a:xfrm>
          <a:prstGeom prst="rect">
            <a:avLst/>
          </a:prstGeom>
          <a:noFill/>
        </p:spPr>
        <p:txBody>
          <a:bodyPr wrap="square">
            <a:spAutoFit/>
          </a:bodyPr>
          <a:lstStyle/>
          <a:p>
            <a:pPr>
              <a:spcAft>
                <a:spcPts val="1200"/>
              </a:spcAft>
              <a:defRPr sz="2400">
                <a:solidFill>
                  <a:srgbClr val="424242"/>
                </a:solidFill>
              </a:defRPr>
            </a:pPr>
            <a:r>
              <a:rPr sz="1600" dirty="0"/>
              <a:t>                         HIGH EXPERTISE</a:t>
            </a:r>
          </a:p>
          <a:p>
            <a:pPr>
              <a:spcAft>
                <a:spcPts val="1200"/>
              </a:spcAft>
              <a:defRPr sz="2400">
                <a:solidFill>
                  <a:srgbClr val="424242"/>
                </a:solidFill>
              </a:defRPr>
            </a:pPr>
            <a:r>
              <a:rPr sz="1600" dirty="0"/>
              <a:t>                               │</a:t>
            </a:r>
          </a:p>
          <a:p>
            <a:pPr>
              <a:spcAft>
                <a:spcPts val="1200"/>
              </a:spcAft>
              <a:defRPr sz="2400">
                <a:solidFill>
                  <a:srgbClr val="424242"/>
                </a:solidFill>
              </a:defRPr>
            </a:pPr>
            <a:r>
              <a:rPr sz="1600" dirty="0"/>
              <a:t>        Traditional            │           Agent9</a:t>
            </a:r>
          </a:p>
          <a:p>
            <a:pPr>
              <a:spcAft>
                <a:spcPts val="1200"/>
              </a:spcAft>
              <a:defRPr sz="2400">
                <a:solidFill>
                  <a:srgbClr val="424242"/>
                </a:solidFill>
              </a:defRPr>
            </a:pPr>
            <a:r>
              <a:rPr sz="1600" dirty="0"/>
              <a:t>        Consulting             │           CaaS ★</a:t>
            </a:r>
          </a:p>
          <a:p>
            <a:pPr>
              <a:spcAft>
                <a:spcPts val="1200"/>
              </a:spcAft>
              <a:defRPr sz="2400">
                <a:solidFill>
                  <a:srgbClr val="424242"/>
                </a:solidFill>
              </a:defRPr>
            </a:pPr>
            <a:r>
              <a:rPr sz="1600" dirty="0"/>
              <a:t>        (McKinsey)             │</a:t>
            </a:r>
          </a:p>
          <a:p>
            <a:pPr>
              <a:spcAft>
                <a:spcPts val="1200"/>
              </a:spcAft>
              <a:defRPr sz="2400">
                <a:solidFill>
                  <a:srgbClr val="424242"/>
                </a:solidFill>
              </a:defRPr>
            </a:pPr>
            <a:r>
              <a:rPr sz="1600" dirty="0"/>
              <a:t>                               │</a:t>
            </a:r>
          </a:p>
          <a:p>
            <a:pPr>
              <a:spcAft>
                <a:spcPts val="1200"/>
              </a:spcAft>
              <a:defRPr sz="2400">
                <a:solidFill>
                  <a:srgbClr val="424242"/>
                </a:solidFill>
              </a:defRPr>
            </a:pPr>
            <a:r>
              <a:rPr sz="1600" dirty="0"/>
              <a:t>   LOW SCALE ──────────────────┼─────────────── HIGH SCALE</a:t>
            </a:r>
          </a:p>
          <a:p>
            <a:pPr>
              <a:spcAft>
                <a:spcPts val="1200"/>
              </a:spcAft>
              <a:defRPr sz="2400">
                <a:solidFill>
                  <a:srgbClr val="424242"/>
                </a:solidFill>
              </a:defRPr>
            </a:pPr>
            <a:r>
              <a:rPr sz="1600" dirty="0"/>
              <a:t>                               │</a:t>
            </a:r>
          </a:p>
          <a:p>
            <a:pPr>
              <a:spcAft>
                <a:spcPts val="1200"/>
              </a:spcAft>
              <a:defRPr sz="2400">
                <a:solidFill>
                  <a:srgbClr val="424242"/>
                </a:solidFill>
              </a:defRPr>
            </a:pPr>
            <a:r>
              <a:rPr sz="1600" dirty="0"/>
              <a:t>        Generic AI             │</a:t>
            </a:r>
          </a:p>
          <a:p>
            <a:pPr>
              <a:spcAft>
                <a:spcPts val="1200"/>
              </a:spcAft>
              <a:defRPr sz="2400">
                <a:solidFill>
                  <a:srgbClr val="424242"/>
                </a:solidFill>
              </a:defRPr>
            </a:pPr>
            <a:r>
              <a:rPr sz="1600" dirty="0"/>
              <a:t>        (ChatGPT)              │           (empty)</a:t>
            </a:r>
          </a:p>
          <a:p>
            <a:pPr>
              <a:spcAft>
                <a:spcPts val="1200"/>
              </a:spcAft>
              <a:defRPr sz="2400">
                <a:solidFill>
                  <a:srgbClr val="424242"/>
                </a:solidFill>
              </a:defRPr>
            </a:pPr>
            <a:r>
              <a:rPr sz="1600" dirty="0"/>
              <a:t>                               │</a:t>
            </a:r>
          </a:p>
          <a:p>
            <a:pPr>
              <a:spcAft>
                <a:spcPts val="1200"/>
              </a:spcAft>
              <a:defRPr sz="2400">
                <a:solidFill>
                  <a:srgbClr val="424242"/>
                </a:solidFill>
              </a:defRPr>
            </a:pPr>
            <a:r>
              <a:rPr sz="1600" dirty="0"/>
              <a:t>                         LOW EXPERTISE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Our Moat Deepens Over Time</a:t>
            </a:r>
          </a:p>
        </p:txBody>
      </p:sp>
      <p:sp>
        <p:nvSpPr>
          <p:cNvPr id="4" name="TextBox 3"/>
          <p:cNvSpPr txBox="1"/>
          <p:nvPr/>
        </p:nvSpPr>
        <p:spPr>
          <a:xfrm>
            <a:off x="457200" y="1463040"/>
            <a:ext cx="548640" cy="457200"/>
          </a:xfrm>
          <a:prstGeom prst="rect">
            <a:avLst/>
          </a:prstGeom>
          <a:noFill/>
        </p:spPr>
        <p:txBody>
          <a:bodyPr wrap="none">
            <a:spAutoFit/>
          </a:bodyPr>
          <a:lstStyle/>
          <a:p>
            <a:pPr>
              <a:defRPr sz="2800"/>
            </a:pPr>
            <a:r>
              <a:t>🤝</a:t>
            </a:r>
          </a:p>
        </p:txBody>
      </p:sp>
      <p:sp>
        <p:nvSpPr>
          <p:cNvPr id="5" name="TextBox 4"/>
          <p:cNvSpPr txBox="1"/>
          <p:nvPr/>
        </p:nvSpPr>
        <p:spPr>
          <a:xfrm>
            <a:off x="1005840" y="1463040"/>
            <a:ext cx="3200400" cy="365760"/>
          </a:xfrm>
          <a:prstGeom prst="rect">
            <a:avLst/>
          </a:prstGeom>
          <a:noFill/>
        </p:spPr>
        <p:txBody>
          <a:bodyPr wrap="none">
            <a:spAutoFit/>
          </a:bodyPr>
          <a:lstStyle/>
          <a:p>
            <a:pPr>
              <a:defRPr sz="2000" b="1">
                <a:solidFill>
                  <a:srgbClr val="1A365D"/>
                </a:solidFill>
              </a:defRPr>
            </a:pPr>
            <a:r>
              <a:t>Partner Network</a:t>
            </a:r>
          </a:p>
        </p:txBody>
      </p:sp>
      <p:sp>
        <p:nvSpPr>
          <p:cNvPr id="6" name="TextBox 5"/>
          <p:cNvSpPr txBox="1"/>
          <p:nvPr/>
        </p:nvSpPr>
        <p:spPr>
          <a:xfrm>
            <a:off x="1005840" y="1828800"/>
            <a:ext cx="3200400" cy="731520"/>
          </a:xfrm>
          <a:prstGeom prst="rect">
            <a:avLst/>
          </a:prstGeom>
          <a:noFill/>
        </p:spPr>
        <p:txBody>
          <a:bodyPr wrap="square">
            <a:spAutoFit/>
          </a:bodyPr>
          <a:lstStyle/>
          <a:p>
            <a:pPr>
              <a:defRPr sz="1600">
                <a:solidFill>
                  <a:srgbClr val="424242"/>
                </a:solidFill>
              </a:defRPr>
            </a:pPr>
            <a:r>
              <a:t>More partners → more expertise → more customers</a:t>
            </a:r>
          </a:p>
        </p:txBody>
      </p:sp>
      <p:sp>
        <p:nvSpPr>
          <p:cNvPr id="7" name="TextBox 6"/>
          <p:cNvSpPr txBox="1"/>
          <p:nvPr/>
        </p:nvSpPr>
        <p:spPr>
          <a:xfrm>
            <a:off x="457200" y="2743200"/>
            <a:ext cx="548640" cy="457200"/>
          </a:xfrm>
          <a:prstGeom prst="rect">
            <a:avLst/>
          </a:prstGeom>
          <a:noFill/>
        </p:spPr>
        <p:txBody>
          <a:bodyPr wrap="none">
            <a:spAutoFit/>
          </a:bodyPr>
          <a:lstStyle/>
          <a:p>
            <a:pPr>
              <a:defRPr sz="2800"/>
            </a:pPr>
            <a:r>
              <a:t>📊</a:t>
            </a:r>
          </a:p>
        </p:txBody>
      </p:sp>
      <p:sp>
        <p:nvSpPr>
          <p:cNvPr id="8" name="TextBox 7"/>
          <p:cNvSpPr txBox="1"/>
          <p:nvPr/>
        </p:nvSpPr>
        <p:spPr>
          <a:xfrm>
            <a:off x="1005840" y="2743200"/>
            <a:ext cx="3200400" cy="365760"/>
          </a:xfrm>
          <a:prstGeom prst="rect">
            <a:avLst/>
          </a:prstGeom>
          <a:noFill/>
        </p:spPr>
        <p:txBody>
          <a:bodyPr wrap="none">
            <a:spAutoFit/>
          </a:bodyPr>
          <a:lstStyle/>
          <a:p>
            <a:pPr>
              <a:defRPr sz="2000" b="1">
                <a:solidFill>
                  <a:srgbClr val="1A365D"/>
                </a:solidFill>
              </a:defRPr>
            </a:pPr>
            <a:r>
              <a:t>Data Network</a:t>
            </a:r>
          </a:p>
        </p:txBody>
      </p:sp>
      <p:sp>
        <p:nvSpPr>
          <p:cNvPr id="9" name="TextBox 8"/>
          <p:cNvSpPr txBox="1"/>
          <p:nvPr/>
        </p:nvSpPr>
        <p:spPr>
          <a:xfrm>
            <a:off x="1005840" y="3108960"/>
            <a:ext cx="3200400" cy="731520"/>
          </a:xfrm>
          <a:prstGeom prst="rect">
            <a:avLst/>
          </a:prstGeom>
          <a:noFill/>
        </p:spPr>
        <p:txBody>
          <a:bodyPr wrap="square">
            <a:spAutoFit/>
          </a:bodyPr>
          <a:lstStyle/>
          <a:p>
            <a:pPr>
              <a:defRPr sz="1600">
                <a:solidFill>
                  <a:srgbClr val="424242"/>
                </a:solidFill>
              </a:defRPr>
            </a:pPr>
            <a:r>
              <a:t>More customers → better pattern recognition</a:t>
            </a:r>
          </a:p>
        </p:txBody>
      </p:sp>
      <p:sp>
        <p:nvSpPr>
          <p:cNvPr id="10" name="TextBox 9"/>
          <p:cNvSpPr txBox="1"/>
          <p:nvPr/>
        </p:nvSpPr>
        <p:spPr>
          <a:xfrm>
            <a:off x="457200" y="4023360"/>
            <a:ext cx="548640" cy="457200"/>
          </a:xfrm>
          <a:prstGeom prst="rect">
            <a:avLst/>
          </a:prstGeom>
          <a:noFill/>
        </p:spPr>
        <p:txBody>
          <a:bodyPr wrap="none">
            <a:spAutoFit/>
          </a:bodyPr>
          <a:lstStyle/>
          <a:p>
            <a:pPr>
              <a:defRPr sz="2800"/>
            </a:pPr>
            <a:r>
              <a:t>🔒</a:t>
            </a:r>
          </a:p>
        </p:txBody>
      </p:sp>
      <p:sp>
        <p:nvSpPr>
          <p:cNvPr id="11" name="TextBox 10"/>
          <p:cNvSpPr txBox="1"/>
          <p:nvPr/>
        </p:nvSpPr>
        <p:spPr>
          <a:xfrm>
            <a:off x="1005840" y="4023360"/>
            <a:ext cx="3200400" cy="365760"/>
          </a:xfrm>
          <a:prstGeom prst="rect">
            <a:avLst/>
          </a:prstGeom>
          <a:noFill/>
        </p:spPr>
        <p:txBody>
          <a:bodyPr wrap="none">
            <a:spAutoFit/>
          </a:bodyPr>
          <a:lstStyle/>
          <a:p>
            <a:pPr>
              <a:defRPr sz="2000" b="1">
                <a:solidFill>
                  <a:srgbClr val="1A365D"/>
                </a:solidFill>
              </a:defRPr>
            </a:pPr>
            <a:r>
              <a:t>Methodology Lock-in</a:t>
            </a:r>
          </a:p>
        </p:txBody>
      </p:sp>
      <p:sp>
        <p:nvSpPr>
          <p:cNvPr id="12" name="TextBox 11"/>
          <p:cNvSpPr txBox="1"/>
          <p:nvPr/>
        </p:nvSpPr>
        <p:spPr>
          <a:xfrm>
            <a:off x="1005840" y="4389120"/>
            <a:ext cx="3200400" cy="731520"/>
          </a:xfrm>
          <a:prstGeom prst="rect">
            <a:avLst/>
          </a:prstGeom>
          <a:noFill/>
        </p:spPr>
        <p:txBody>
          <a:bodyPr wrap="square">
            <a:spAutoFit/>
          </a:bodyPr>
          <a:lstStyle/>
          <a:p>
            <a:pPr>
              <a:defRPr sz="1600">
                <a:solidFill>
                  <a:srgbClr val="424242"/>
                </a:solidFill>
              </a:defRPr>
            </a:pPr>
            <a:r>
              <a:t>Partner IP encoded, hard to replicate</a:t>
            </a:r>
          </a:p>
        </p:txBody>
      </p:sp>
      <p:sp>
        <p:nvSpPr>
          <p:cNvPr id="13" name="TextBox 12"/>
          <p:cNvSpPr txBox="1"/>
          <p:nvPr/>
        </p:nvSpPr>
        <p:spPr>
          <a:xfrm>
            <a:off x="4846320" y="1463040"/>
            <a:ext cx="548640" cy="457200"/>
          </a:xfrm>
          <a:prstGeom prst="rect">
            <a:avLst/>
          </a:prstGeom>
          <a:noFill/>
        </p:spPr>
        <p:txBody>
          <a:bodyPr wrap="none">
            <a:spAutoFit/>
          </a:bodyPr>
          <a:lstStyle/>
          <a:p>
            <a:pPr>
              <a:defRPr sz="2800"/>
            </a:pPr>
            <a:r>
              <a:t>📋</a:t>
            </a:r>
          </a:p>
        </p:txBody>
      </p:sp>
      <p:sp>
        <p:nvSpPr>
          <p:cNvPr id="14" name="TextBox 13"/>
          <p:cNvSpPr txBox="1"/>
          <p:nvPr/>
        </p:nvSpPr>
        <p:spPr>
          <a:xfrm>
            <a:off x="5394960" y="1463040"/>
            <a:ext cx="3200400" cy="365760"/>
          </a:xfrm>
          <a:prstGeom prst="rect">
            <a:avLst/>
          </a:prstGeom>
          <a:noFill/>
        </p:spPr>
        <p:txBody>
          <a:bodyPr wrap="none">
            <a:spAutoFit/>
          </a:bodyPr>
          <a:lstStyle/>
          <a:p>
            <a:pPr>
              <a:defRPr sz="2000" b="1">
                <a:solidFill>
                  <a:srgbClr val="1A365D"/>
                </a:solidFill>
              </a:defRPr>
            </a:pPr>
            <a:r>
              <a:t>Audit Standard</a:t>
            </a:r>
          </a:p>
        </p:txBody>
      </p:sp>
      <p:sp>
        <p:nvSpPr>
          <p:cNvPr id="15" name="TextBox 14"/>
          <p:cNvSpPr txBox="1"/>
          <p:nvPr/>
        </p:nvSpPr>
        <p:spPr>
          <a:xfrm>
            <a:off x="5394960" y="1828800"/>
            <a:ext cx="3200400" cy="731520"/>
          </a:xfrm>
          <a:prstGeom prst="rect">
            <a:avLst/>
          </a:prstGeom>
          <a:noFill/>
        </p:spPr>
        <p:txBody>
          <a:bodyPr wrap="square">
            <a:spAutoFit/>
          </a:bodyPr>
          <a:lstStyle/>
          <a:p>
            <a:pPr>
              <a:defRPr sz="1600">
                <a:solidFill>
                  <a:srgbClr val="424242"/>
                </a:solidFill>
              </a:defRPr>
            </a:pPr>
            <a:r>
              <a:t>First to define explainable AI consulting</a:t>
            </a:r>
          </a:p>
        </p:txBody>
      </p:sp>
      <p:sp>
        <p:nvSpPr>
          <p:cNvPr id="16" name="TextBox 15"/>
          <p:cNvSpPr txBox="1"/>
          <p:nvPr/>
        </p:nvSpPr>
        <p:spPr>
          <a:xfrm>
            <a:off x="4846320" y="2743200"/>
            <a:ext cx="548640" cy="457200"/>
          </a:xfrm>
          <a:prstGeom prst="rect">
            <a:avLst/>
          </a:prstGeom>
          <a:noFill/>
        </p:spPr>
        <p:txBody>
          <a:bodyPr wrap="none">
            <a:spAutoFit/>
          </a:bodyPr>
          <a:lstStyle/>
          <a:p>
            <a:pPr>
              <a:defRPr sz="2800"/>
            </a:pPr>
            <a:r>
              <a:t>🔄</a:t>
            </a:r>
          </a:p>
        </p:txBody>
      </p:sp>
      <p:sp>
        <p:nvSpPr>
          <p:cNvPr id="17" name="TextBox 16"/>
          <p:cNvSpPr txBox="1"/>
          <p:nvPr/>
        </p:nvSpPr>
        <p:spPr>
          <a:xfrm>
            <a:off x="5394960" y="2743200"/>
            <a:ext cx="3200400" cy="365760"/>
          </a:xfrm>
          <a:prstGeom prst="rect">
            <a:avLst/>
          </a:prstGeom>
          <a:noFill/>
        </p:spPr>
        <p:txBody>
          <a:bodyPr wrap="none">
            <a:spAutoFit/>
          </a:bodyPr>
          <a:lstStyle/>
          <a:p>
            <a:pPr>
              <a:defRPr sz="2000" b="1">
                <a:solidFill>
                  <a:srgbClr val="1A365D"/>
                </a:solidFill>
              </a:defRPr>
            </a:pPr>
            <a:r>
              <a:t>Switching Costs</a:t>
            </a:r>
          </a:p>
        </p:txBody>
      </p:sp>
      <p:sp>
        <p:nvSpPr>
          <p:cNvPr id="18" name="TextBox 17"/>
          <p:cNvSpPr txBox="1"/>
          <p:nvPr/>
        </p:nvSpPr>
        <p:spPr>
          <a:xfrm>
            <a:off x="5394960" y="3108960"/>
            <a:ext cx="3200400" cy="731520"/>
          </a:xfrm>
          <a:prstGeom prst="rect">
            <a:avLst/>
          </a:prstGeom>
          <a:noFill/>
        </p:spPr>
        <p:txBody>
          <a:bodyPr wrap="square">
            <a:spAutoFit/>
          </a:bodyPr>
          <a:lstStyle/>
          <a:p>
            <a:pPr>
              <a:defRPr sz="1600">
                <a:solidFill>
                  <a:srgbClr val="424242"/>
                </a:solidFill>
              </a:defRPr>
            </a:pPr>
            <a:r>
              <a:t>Data onboarding, workflow integration</a:t>
            </a:r>
          </a:p>
        </p:txBody>
      </p:sp>
      <p:sp>
        <p:nvSpPr>
          <p:cNvPr id="19" name="TextBox 18"/>
          <p:cNvSpPr txBox="1"/>
          <p:nvPr/>
        </p:nvSpPr>
        <p:spPr>
          <a:xfrm>
            <a:off x="4846320" y="4023360"/>
            <a:ext cx="548640" cy="457200"/>
          </a:xfrm>
          <a:prstGeom prst="rect">
            <a:avLst/>
          </a:prstGeom>
          <a:noFill/>
        </p:spPr>
        <p:txBody>
          <a:bodyPr wrap="none">
            <a:spAutoFit/>
          </a:bodyPr>
          <a:lstStyle/>
          <a:p>
            <a:pPr>
              <a:defRPr sz="2800"/>
            </a:pPr>
            <a:r>
              <a:t>📈</a:t>
            </a:r>
          </a:p>
        </p:txBody>
      </p:sp>
      <p:sp>
        <p:nvSpPr>
          <p:cNvPr id="20" name="TextBox 19"/>
          <p:cNvSpPr txBox="1"/>
          <p:nvPr/>
        </p:nvSpPr>
        <p:spPr>
          <a:xfrm>
            <a:off x="5394960" y="4023360"/>
            <a:ext cx="3200400" cy="365760"/>
          </a:xfrm>
          <a:prstGeom prst="rect">
            <a:avLst/>
          </a:prstGeom>
          <a:noFill/>
        </p:spPr>
        <p:txBody>
          <a:bodyPr wrap="none">
            <a:spAutoFit/>
          </a:bodyPr>
          <a:lstStyle/>
          <a:p>
            <a:pPr>
              <a:defRPr sz="2000" b="1">
                <a:solidFill>
                  <a:srgbClr val="1A365D"/>
                </a:solidFill>
              </a:defRPr>
            </a:pPr>
            <a:r>
              <a:t>Flywheel Effect</a:t>
            </a:r>
          </a:p>
        </p:txBody>
      </p:sp>
      <p:sp>
        <p:nvSpPr>
          <p:cNvPr id="21" name="TextBox 20"/>
          <p:cNvSpPr txBox="1"/>
          <p:nvPr/>
        </p:nvSpPr>
        <p:spPr>
          <a:xfrm>
            <a:off x="5394960" y="4389120"/>
            <a:ext cx="3200400" cy="731520"/>
          </a:xfrm>
          <a:prstGeom prst="rect">
            <a:avLst/>
          </a:prstGeom>
          <a:noFill/>
        </p:spPr>
        <p:txBody>
          <a:bodyPr wrap="square">
            <a:spAutoFit/>
          </a:bodyPr>
          <a:lstStyle/>
          <a:p>
            <a:pPr>
              <a:defRPr sz="1600">
                <a:solidFill>
                  <a:srgbClr val="424242"/>
                </a:solidFill>
              </a:defRPr>
            </a:pPr>
            <a:r>
              <a:t>Network effects compound over time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Path to $10M+ ARR</a:t>
            </a:r>
          </a:p>
        </p:txBody>
      </p:sp>
      <p:graphicFrame>
        <p:nvGraphicFramePr>
          <p:cNvPr id="4" name="Table 3"/>
          <p:cNvGraphicFramePr>
            <a:graphicFrameLocks noGrp="1"/>
          </p:cNvGraphicFramePr>
          <p:nvPr/>
        </p:nvGraphicFramePr>
        <p:xfrm>
          <a:off x="457200" y="1463040"/>
          <a:ext cx="8229600" cy="27432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57200">
                <a:tc>
                  <a:txBody>
                    <a:bodyPr/>
                    <a:lstStyle/>
                    <a:p>
                      <a:pPr algn="ctr">
                        <a:defRPr sz="1600" b="1">
                          <a:solidFill>
                            <a:srgbClr val="FFFFFF"/>
                          </a:solidFill>
                        </a:defRPr>
                      </a:pPr>
                      <a:r>
                        <a:t>Metric</a:t>
                      </a:r>
                    </a:p>
                  </a:txBody>
                  <a:tcPr>
                    <a:solidFill>
                      <a:srgbClr val="1A365D"/>
                    </a:solidFill>
                  </a:tcPr>
                </a:tc>
                <a:tc>
                  <a:txBody>
                    <a:bodyPr/>
                    <a:lstStyle/>
                    <a:p>
                      <a:pPr algn="ctr">
                        <a:defRPr sz="1600" b="1">
                          <a:solidFill>
                            <a:srgbClr val="FFFFFF"/>
                          </a:solidFill>
                        </a:defRPr>
                      </a:pPr>
                      <a:r>
                        <a:t>2025</a:t>
                      </a:r>
                    </a:p>
                  </a:txBody>
                  <a:tcPr>
                    <a:solidFill>
                      <a:srgbClr val="1A365D"/>
                    </a:solidFill>
                  </a:tcPr>
                </a:tc>
                <a:tc>
                  <a:txBody>
                    <a:bodyPr/>
                    <a:lstStyle/>
                    <a:p>
                      <a:pPr algn="ctr">
                        <a:defRPr sz="1600" b="1">
                          <a:solidFill>
                            <a:srgbClr val="FFFFFF"/>
                          </a:solidFill>
                        </a:defRPr>
                      </a:pPr>
                      <a:r>
                        <a:t>2026</a:t>
                      </a:r>
                    </a:p>
                  </a:txBody>
                  <a:tcPr>
                    <a:solidFill>
                      <a:srgbClr val="1A365D"/>
                    </a:solidFill>
                  </a:tcPr>
                </a:tc>
                <a:tc>
                  <a:txBody>
                    <a:bodyPr/>
                    <a:lstStyle/>
                    <a:p>
                      <a:pPr algn="ctr">
                        <a:defRPr sz="1600" b="1">
                          <a:solidFill>
                            <a:srgbClr val="FFFFFF"/>
                          </a:solidFill>
                        </a:defRPr>
                      </a:pPr>
                      <a:r>
                        <a:t>2027</a:t>
                      </a:r>
                    </a:p>
                  </a:txBody>
                  <a:tcPr>
                    <a:solidFill>
                      <a:srgbClr val="1A365D"/>
                    </a:solidFill>
                  </a:tcPr>
                </a:tc>
                <a:extLst>
                  <a:ext uri="{0D108BD9-81ED-4DB2-BD59-A6C34878D82A}">
                    <a16:rowId xmlns:a16="http://schemas.microsoft.com/office/drawing/2014/main" val="10000"/>
                  </a:ext>
                </a:extLst>
              </a:tr>
              <a:tr h="457200">
                <a:tc>
                  <a:txBody>
                    <a:bodyPr/>
                    <a:lstStyle/>
                    <a:p>
                      <a:pPr algn="ctr">
                        <a:defRPr sz="1400">
                          <a:solidFill>
                            <a:srgbClr val="424242"/>
                          </a:solidFill>
                        </a:defRPr>
                      </a:pPr>
                      <a:r>
                        <a:t>Customers</a:t>
                      </a:r>
                    </a:p>
                  </a:txBody>
                  <a:tcPr>
                    <a:solidFill>
                      <a:srgbClr val="F5F5F5"/>
                    </a:solidFill>
                  </a:tcPr>
                </a:tc>
                <a:tc>
                  <a:txBody>
                    <a:bodyPr/>
                    <a:lstStyle/>
                    <a:p>
                      <a:pPr algn="ctr">
                        <a:defRPr sz="1400">
                          <a:solidFill>
                            <a:srgbClr val="424242"/>
                          </a:solidFill>
                        </a:defRPr>
                      </a:pPr>
                      <a:r>
                        <a:t>15</a:t>
                      </a:r>
                    </a:p>
                  </a:txBody>
                  <a:tcPr>
                    <a:solidFill>
                      <a:srgbClr val="F5F5F5"/>
                    </a:solidFill>
                  </a:tcPr>
                </a:tc>
                <a:tc>
                  <a:txBody>
                    <a:bodyPr/>
                    <a:lstStyle/>
                    <a:p>
                      <a:pPr algn="ctr">
                        <a:defRPr sz="1400">
                          <a:solidFill>
                            <a:srgbClr val="424242"/>
                          </a:solidFill>
                        </a:defRPr>
                      </a:pPr>
                      <a:r>
                        <a:t>50</a:t>
                      </a:r>
                    </a:p>
                  </a:txBody>
                  <a:tcPr>
                    <a:solidFill>
                      <a:srgbClr val="F5F5F5"/>
                    </a:solidFill>
                  </a:tcPr>
                </a:tc>
                <a:tc>
                  <a:txBody>
                    <a:bodyPr/>
                    <a:lstStyle/>
                    <a:p>
                      <a:pPr algn="ctr">
                        <a:defRPr sz="1400">
                          <a:solidFill>
                            <a:srgbClr val="424242"/>
                          </a:solidFill>
                        </a:defRPr>
                      </a:pPr>
                      <a:r>
                        <a:t>150</a:t>
                      </a:r>
                    </a:p>
                  </a:txBody>
                  <a:tcPr>
                    <a:solidFill>
                      <a:srgbClr val="F5F5F5"/>
                    </a:solidFill>
                  </a:tcPr>
                </a:tc>
                <a:extLst>
                  <a:ext uri="{0D108BD9-81ED-4DB2-BD59-A6C34878D82A}">
                    <a16:rowId xmlns:a16="http://schemas.microsoft.com/office/drawing/2014/main" val="10001"/>
                  </a:ext>
                </a:extLst>
              </a:tr>
              <a:tr h="457200">
                <a:tc>
                  <a:txBody>
                    <a:bodyPr/>
                    <a:lstStyle/>
                    <a:p>
                      <a:pPr algn="ctr">
                        <a:defRPr sz="1400">
                          <a:solidFill>
                            <a:srgbClr val="424242"/>
                          </a:solidFill>
                        </a:defRPr>
                      </a:pPr>
                      <a:r>
                        <a:t>Avg. ACV</a:t>
                      </a:r>
                    </a:p>
                  </a:txBody>
                  <a:tcPr/>
                </a:tc>
                <a:tc>
                  <a:txBody>
                    <a:bodyPr/>
                    <a:lstStyle/>
                    <a:p>
                      <a:pPr algn="ctr">
                        <a:defRPr sz="1400">
                          <a:solidFill>
                            <a:srgbClr val="424242"/>
                          </a:solidFill>
                        </a:defRPr>
                      </a:pPr>
                      <a:r>
                        <a:t>$100K</a:t>
                      </a:r>
                    </a:p>
                  </a:txBody>
                  <a:tcPr/>
                </a:tc>
                <a:tc>
                  <a:txBody>
                    <a:bodyPr/>
                    <a:lstStyle/>
                    <a:p>
                      <a:pPr algn="ctr">
                        <a:defRPr sz="1400">
                          <a:solidFill>
                            <a:srgbClr val="424242"/>
                          </a:solidFill>
                        </a:defRPr>
                      </a:pPr>
                      <a:r>
                        <a:t>$120K</a:t>
                      </a:r>
                    </a:p>
                  </a:txBody>
                  <a:tcPr/>
                </a:tc>
                <a:tc>
                  <a:txBody>
                    <a:bodyPr/>
                    <a:lstStyle/>
                    <a:p>
                      <a:pPr algn="ctr">
                        <a:defRPr sz="1400">
                          <a:solidFill>
                            <a:srgbClr val="424242"/>
                          </a:solidFill>
                        </a:defRPr>
                      </a:pPr>
                      <a:r>
                        <a:t>$130K</a:t>
                      </a:r>
                    </a:p>
                  </a:txBody>
                  <a:tcPr/>
                </a:tc>
                <a:extLst>
                  <a:ext uri="{0D108BD9-81ED-4DB2-BD59-A6C34878D82A}">
                    <a16:rowId xmlns:a16="http://schemas.microsoft.com/office/drawing/2014/main" val="10002"/>
                  </a:ext>
                </a:extLst>
              </a:tr>
              <a:tr h="457200">
                <a:tc>
                  <a:txBody>
                    <a:bodyPr/>
                    <a:lstStyle/>
                    <a:p>
                      <a:pPr algn="ctr">
                        <a:defRPr sz="1400">
                          <a:solidFill>
                            <a:srgbClr val="424242"/>
                          </a:solidFill>
                        </a:defRPr>
                      </a:pPr>
                      <a:r>
                        <a:t>Platform ARR</a:t>
                      </a:r>
                    </a:p>
                  </a:txBody>
                  <a:tcPr>
                    <a:solidFill>
                      <a:srgbClr val="F5F5F5"/>
                    </a:solidFill>
                  </a:tcPr>
                </a:tc>
                <a:tc>
                  <a:txBody>
                    <a:bodyPr/>
                    <a:lstStyle/>
                    <a:p>
                      <a:pPr algn="ctr">
                        <a:defRPr sz="1400">
                          <a:solidFill>
                            <a:srgbClr val="424242"/>
                          </a:solidFill>
                        </a:defRPr>
                      </a:pPr>
                      <a:r>
                        <a:t>$1.5M</a:t>
                      </a:r>
                    </a:p>
                  </a:txBody>
                  <a:tcPr>
                    <a:solidFill>
                      <a:srgbClr val="F5F5F5"/>
                    </a:solidFill>
                  </a:tcPr>
                </a:tc>
                <a:tc>
                  <a:txBody>
                    <a:bodyPr/>
                    <a:lstStyle/>
                    <a:p>
                      <a:pPr algn="ctr">
                        <a:defRPr sz="1400">
                          <a:solidFill>
                            <a:srgbClr val="424242"/>
                          </a:solidFill>
                        </a:defRPr>
                      </a:pPr>
                      <a:r>
                        <a:t>$6M</a:t>
                      </a:r>
                    </a:p>
                  </a:txBody>
                  <a:tcPr>
                    <a:solidFill>
                      <a:srgbClr val="F5F5F5"/>
                    </a:solidFill>
                  </a:tcPr>
                </a:tc>
                <a:tc>
                  <a:txBody>
                    <a:bodyPr/>
                    <a:lstStyle/>
                    <a:p>
                      <a:pPr algn="ctr">
                        <a:defRPr sz="1400">
                          <a:solidFill>
                            <a:srgbClr val="424242"/>
                          </a:solidFill>
                        </a:defRPr>
                      </a:pPr>
                      <a:r>
                        <a:t>$19.5M</a:t>
                      </a:r>
                    </a:p>
                  </a:txBody>
                  <a:tcPr>
                    <a:solidFill>
                      <a:srgbClr val="F5F5F5"/>
                    </a:solidFill>
                  </a:tcPr>
                </a:tc>
                <a:extLst>
                  <a:ext uri="{0D108BD9-81ED-4DB2-BD59-A6C34878D82A}">
                    <a16:rowId xmlns:a16="http://schemas.microsoft.com/office/drawing/2014/main" val="10003"/>
                  </a:ext>
                </a:extLst>
              </a:tr>
              <a:tr h="457200">
                <a:tc>
                  <a:txBody>
                    <a:bodyPr/>
                    <a:lstStyle/>
                    <a:p>
                      <a:pPr algn="ctr">
                        <a:defRPr sz="1400">
                          <a:solidFill>
                            <a:srgbClr val="424242"/>
                          </a:solidFill>
                        </a:defRPr>
                      </a:pPr>
                      <a:r>
                        <a:t>Partner + Services</a:t>
                      </a:r>
                    </a:p>
                  </a:txBody>
                  <a:tcPr/>
                </a:tc>
                <a:tc>
                  <a:txBody>
                    <a:bodyPr/>
                    <a:lstStyle/>
                    <a:p>
                      <a:pPr algn="ctr">
                        <a:defRPr sz="1400">
                          <a:solidFill>
                            <a:srgbClr val="424242"/>
                          </a:solidFill>
                        </a:defRPr>
                      </a:pPr>
                      <a:r>
                        <a:t>$0.5M</a:t>
                      </a:r>
                    </a:p>
                  </a:txBody>
                  <a:tcPr/>
                </a:tc>
                <a:tc>
                  <a:txBody>
                    <a:bodyPr/>
                    <a:lstStyle/>
                    <a:p>
                      <a:pPr algn="ctr">
                        <a:defRPr sz="1400">
                          <a:solidFill>
                            <a:srgbClr val="424242"/>
                          </a:solidFill>
                        </a:defRPr>
                      </a:pPr>
                      <a:r>
                        <a:t>$1.5M</a:t>
                      </a:r>
                    </a:p>
                  </a:txBody>
                  <a:tcPr/>
                </a:tc>
                <a:tc>
                  <a:txBody>
                    <a:bodyPr/>
                    <a:lstStyle/>
                    <a:p>
                      <a:pPr algn="ctr">
                        <a:defRPr sz="1400">
                          <a:solidFill>
                            <a:srgbClr val="424242"/>
                          </a:solidFill>
                        </a:defRPr>
                      </a:pPr>
                      <a:r>
                        <a:t>$3.5M</a:t>
                      </a:r>
                    </a:p>
                  </a:txBody>
                  <a:tcPr/>
                </a:tc>
                <a:extLst>
                  <a:ext uri="{0D108BD9-81ED-4DB2-BD59-A6C34878D82A}">
                    <a16:rowId xmlns:a16="http://schemas.microsoft.com/office/drawing/2014/main" val="10004"/>
                  </a:ext>
                </a:extLst>
              </a:tr>
              <a:tr h="457200">
                <a:tc>
                  <a:txBody>
                    <a:bodyPr/>
                    <a:lstStyle/>
                    <a:p>
                      <a:pPr algn="ctr">
                        <a:defRPr sz="1400">
                          <a:solidFill>
                            <a:srgbClr val="424242"/>
                          </a:solidFill>
                        </a:defRPr>
                      </a:pPr>
                      <a:r>
                        <a:t>Total Revenue</a:t>
                      </a:r>
                    </a:p>
                  </a:txBody>
                  <a:tcPr>
                    <a:solidFill>
                      <a:srgbClr val="F5F5F5"/>
                    </a:solidFill>
                  </a:tcPr>
                </a:tc>
                <a:tc>
                  <a:txBody>
                    <a:bodyPr/>
                    <a:lstStyle/>
                    <a:p>
                      <a:pPr algn="ctr">
                        <a:defRPr sz="1400">
                          <a:solidFill>
                            <a:srgbClr val="424242"/>
                          </a:solidFill>
                        </a:defRPr>
                      </a:pPr>
                      <a:r>
                        <a:t>$2M</a:t>
                      </a:r>
                    </a:p>
                  </a:txBody>
                  <a:tcPr>
                    <a:solidFill>
                      <a:srgbClr val="F5F5F5"/>
                    </a:solidFill>
                  </a:tcPr>
                </a:tc>
                <a:tc>
                  <a:txBody>
                    <a:bodyPr/>
                    <a:lstStyle/>
                    <a:p>
                      <a:pPr algn="ctr">
                        <a:defRPr sz="1400">
                          <a:solidFill>
                            <a:srgbClr val="424242"/>
                          </a:solidFill>
                        </a:defRPr>
                      </a:pPr>
                      <a:r>
                        <a:t>$7.5M</a:t>
                      </a:r>
                    </a:p>
                  </a:txBody>
                  <a:tcPr>
                    <a:solidFill>
                      <a:srgbClr val="F5F5F5"/>
                    </a:solidFill>
                  </a:tcPr>
                </a:tc>
                <a:tc>
                  <a:txBody>
                    <a:bodyPr/>
                    <a:lstStyle/>
                    <a:p>
                      <a:pPr algn="ctr">
                        <a:defRPr sz="1400">
                          <a:solidFill>
                            <a:srgbClr val="424242"/>
                          </a:solidFill>
                        </a:defRPr>
                      </a:pPr>
                      <a:r>
                        <a:t>$23M</a:t>
                      </a:r>
                    </a:p>
                  </a:txBody>
                  <a:tcPr>
                    <a:solidFill>
                      <a:srgbClr val="F5F5F5"/>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Traction &amp; Milestones</a:t>
            </a:r>
          </a:p>
        </p:txBody>
      </p:sp>
      <p:sp>
        <p:nvSpPr>
          <p:cNvPr id="4" name="TextBox 3"/>
          <p:cNvSpPr txBox="1"/>
          <p:nvPr/>
        </p:nvSpPr>
        <p:spPr>
          <a:xfrm>
            <a:off x="457200" y="1280160"/>
            <a:ext cx="3840480" cy="457200"/>
          </a:xfrm>
          <a:prstGeom prst="rect">
            <a:avLst/>
          </a:prstGeom>
          <a:noFill/>
        </p:spPr>
        <p:txBody>
          <a:bodyPr wrap="none">
            <a:spAutoFit/>
          </a:bodyPr>
          <a:lstStyle/>
          <a:p>
            <a:pPr>
              <a:defRPr sz="2200" b="1">
                <a:solidFill>
                  <a:srgbClr val="1A365D"/>
                </a:solidFill>
              </a:defRPr>
            </a:pPr>
            <a:r>
              <a:t>Completed ✅</a:t>
            </a:r>
          </a:p>
        </p:txBody>
      </p:sp>
      <p:sp>
        <p:nvSpPr>
          <p:cNvPr id="5" name="TextBox 4"/>
          <p:cNvSpPr txBox="1"/>
          <p:nvPr/>
        </p:nvSpPr>
        <p:spPr>
          <a:xfrm>
            <a:off x="457200" y="1737360"/>
            <a:ext cx="3840480" cy="4114800"/>
          </a:xfrm>
          <a:prstGeom prst="rect">
            <a:avLst/>
          </a:prstGeom>
          <a:noFill/>
        </p:spPr>
        <p:txBody>
          <a:bodyPr wrap="square">
            <a:spAutoFit/>
          </a:bodyPr>
          <a:lstStyle/>
          <a:p>
            <a:pPr>
              <a:spcAft>
                <a:spcPts val="800"/>
              </a:spcAft>
              <a:defRPr sz="2000">
                <a:solidFill>
                  <a:srgbClr val="424242"/>
                </a:solidFill>
              </a:defRPr>
            </a:pPr>
            <a:r>
              <a:t>• Multi-agent orchestration</a:t>
            </a:r>
          </a:p>
          <a:p>
            <a:pPr>
              <a:spcAft>
                <a:spcPts val="800"/>
              </a:spcAft>
              <a:defRPr sz="2000">
                <a:solidFill>
                  <a:srgbClr val="424242"/>
                </a:solidFill>
              </a:defRPr>
            </a:pPr>
            <a:r>
              <a:t>• Situation Awareness workflow</a:t>
            </a:r>
          </a:p>
          <a:p>
            <a:pPr>
              <a:spcAft>
                <a:spcPts val="800"/>
              </a:spcAft>
              <a:defRPr sz="2000">
                <a:solidFill>
                  <a:srgbClr val="424242"/>
                </a:solidFill>
              </a:defRPr>
            </a:pPr>
            <a:r>
              <a:t>• Deep Analysis workflow</a:t>
            </a:r>
          </a:p>
          <a:p>
            <a:pPr>
              <a:spcAft>
                <a:spcPts val="800"/>
              </a:spcAft>
              <a:defRPr sz="2000">
                <a:solidFill>
                  <a:srgbClr val="424242"/>
                </a:solidFill>
              </a:defRPr>
            </a:pPr>
            <a:r>
              <a:t>• Solution Finder with LLM debate</a:t>
            </a:r>
          </a:p>
          <a:p>
            <a:pPr>
              <a:spcAft>
                <a:spcPts val="800"/>
              </a:spcAft>
              <a:defRPr sz="2000">
                <a:solidFill>
                  <a:srgbClr val="424242"/>
                </a:solidFill>
              </a:defRPr>
            </a:pPr>
            <a:r>
              <a:t>• Audit trail &amp; HITL checkpoints</a:t>
            </a:r>
          </a:p>
          <a:p>
            <a:pPr>
              <a:spcAft>
                <a:spcPts val="800"/>
              </a:spcAft>
              <a:defRPr sz="2000">
                <a:solidFill>
                  <a:srgbClr val="424242"/>
                </a:solidFill>
              </a:defRPr>
            </a:pPr>
            <a:r>
              <a:t>• Data product onboarding</a:t>
            </a:r>
          </a:p>
        </p:txBody>
      </p:sp>
      <p:sp>
        <p:nvSpPr>
          <p:cNvPr id="6" name="TextBox 5"/>
          <p:cNvSpPr txBox="1"/>
          <p:nvPr/>
        </p:nvSpPr>
        <p:spPr>
          <a:xfrm>
            <a:off x="4846320" y="1280160"/>
            <a:ext cx="3840480" cy="457200"/>
          </a:xfrm>
          <a:prstGeom prst="rect">
            <a:avLst/>
          </a:prstGeom>
          <a:noFill/>
        </p:spPr>
        <p:txBody>
          <a:bodyPr wrap="none">
            <a:spAutoFit/>
          </a:bodyPr>
          <a:lstStyle/>
          <a:p>
            <a:pPr>
              <a:defRPr sz="2200" b="1">
                <a:solidFill>
                  <a:srgbClr val="1A365D"/>
                </a:solidFill>
              </a:defRPr>
            </a:pPr>
            <a:r>
              <a:t>Upcoming Milestones</a:t>
            </a:r>
          </a:p>
        </p:txBody>
      </p:sp>
      <p:sp>
        <p:nvSpPr>
          <p:cNvPr id="7" name="TextBox 6"/>
          <p:cNvSpPr txBox="1"/>
          <p:nvPr/>
        </p:nvSpPr>
        <p:spPr>
          <a:xfrm>
            <a:off x="4846320" y="1737360"/>
            <a:ext cx="3840480" cy="4114800"/>
          </a:xfrm>
          <a:prstGeom prst="rect">
            <a:avLst/>
          </a:prstGeom>
          <a:noFill/>
        </p:spPr>
        <p:txBody>
          <a:bodyPr wrap="square">
            <a:spAutoFit/>
          </a:bodyPr>
          <a:lstStyle/>
          <a:p>
            <a:pPr>
              <a:spcAft>
                <a:spcPts val="800"/>
              </a:spcAft>
              <a:defRPr sz="2000">
                <a:solidFill>
                  <a:srgbClr val="424242"/>
                </a:solidFill>
              </a:defRPr>
            </a:pPr>
            <a:r>
              <a:t>• UI demo-ready: Q1 2025</a:t>
            </a:r>
          </a:p>
          <a:p>
            <a:pPr>
              <a:spcAft>
                <a:spcPts val="800"/>
              </a:spcAft>
              <a:defRPr sz="2000">
                <a:solidFill>
                  <a:srgbClr val="424242"/>
                </a:solidFill>
              </a:defRPr>
            </a:pPr>
            <a:r>
              <a:t>• First 3 paying customers: Q1 2025</a:t>
            </a:r>
          </a:p>
          <a:p>
            <a:pPr>
              <a:spcAft>
                <a:spcPts val="800"/>
              </a:spcAft>
              <a:defRPr sz="2000">
                <a:solidFill>
                  <a:srgbClr val="424242"/>
                </a:solidFill>
              </a:defRPr>
            </a:pPr>
            <a:r>
              <a:t>• First partner pilot: Q2 2025</a:t>
            </a:r>
          </a:p>
          <a:p>
            <a:pPr>
              <a:spcAft>
                <a:spcPts val="800"/>
              </a:spcAft>
              <a:defRPr sz="2000">
                <a:solidFill>
                  <a:srgbClr val="424242"/>
                </a:solidFill>
              </a:defRPr>
            </a:pPr>
            <a:r>
              <a:t>• $500K ARR: Q2 2025</a:t>
            </a:r>
          </a:p>
          <a:p>
            <a:pPr>
              <a:spcAft>
                <a:spcPts val="800"/>
              </a:spcAft>
              <a:defRPr sz="2000">
                <a:solidFill>
                  <a:srgbClr val="424242"/>
                </a:solidFill>
              </a:defRPr>
            </a:pPr>
            <a:r>
              <a:t>• Marketplace beta: Q3 2025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The Team</a:t>
            </a:r>
          </a:p>
        </p:txBody>
      </p:sp>
      <p:sp>
        <p:nvSpPr>
          <p:cNvPr id="4" name="TextBox 3"/>
          <p:cNvSpPr txBox="1"/>
          <p:nvPr/>
        </p:nvSpPr>
        <p:spPr>
          <a:xfrm>
            <a:off x="457200" y="1371600"/>
            <a:ext cx="8229600" cy="5139869"/>
          </a:xfrm>
          <a:prstGeom prst="rect">
            <a:avLst/>
          </a:prstGeom>
          <a:noFill/>
        </p:spPr>
        <p:txBody>
          <a:bodyPr wrap="square">
            <a:spAutoFit/>
          </a:bodyPr>
          <a:lstStyle/>
          <a:p>
            <a:pPr>
              <a:spcAft>
                <a:spcPts val="1200"/>
              </a:spcAft>
              <a:defRPr sz="2400">
                <a:solidFill>
                  <a:srgbClr val="424242"/>
                </a:solidFill>
              </a:defRPr>
            </a:pPr>
            <a:r>
              <a:rPr sz="1600"/>
              <a:t>[CEO NAME]</a:t>
            </a:r>
          </a:p>
          <a:p>
            <a:pPr>
              <a:spcAft>
                <a:spcPts val="1200"/>
              </a:spcAft>
              <a:defRPr sz="2400">
                <a:solidFill>
                  <a:srgbClr val="424242"/>
                </a:solidFill>
              </a:defRPr>
            </a:pPr>
            <a:r>
              <a:rPr sz="1600"/>
              <a:t>   • [Background in consulting/enterprise software]</a:t>
            </a:r>
          </a:p>
          <a:p>
            <a:pPr>
              <a:spcAft>
                <a:spcPts val="1200"/>
              </a:spcAft>
              <a:defRPr sz="2400">
                <a:solidFill>
                  <a:srgbClr val="424242"/>
                </a:solidFill>
              </a:defRPr>
            </a:pPr>
            <a:endParaRPr sz="1600"/>
          </a:p>
          <a:p>
            <a:pPr>
              <a:spcAft>
                <a:spcPts val="1200"/>
              </a:spcAft>
              <a:defRPr sz="2400">
                <a:solidFill>
                  <a:srgbClr val="424242"/>
                </a:solidFill>
              </a:defRPr>
            </a:pPr>
            <a:r>
              <a:rPr sz="1600"/>
              <a:t>[CTO NAME]</a:t>
            </a:r>
          </a:p>
          <a:p>
            <a:pPr>
              <a:spcAft>
                <a:spcPts val="1200"/>
              </a:spcAft>
              <a:defRPr sz="2400">
                <a:solidFill>
                  <a:srgbClr val="424242"/>
                </a:solidFill>
              </a:defRPr>
            </a:pPr>
            <a:r>
              <a:rPr sz="1600"/>
              <a:t>   • [Background in AI/ML, platform architecture]</a:t>
            </a:r>
          </a:p>
          <a:p>
            <a:pPr>
              <a:spcAft>
                <a:spcPts val="1200"/>
              </a:spcAft>
              <a:defRPr sz="2400">
                <a:solidFill>
                  <a:srgbClr val="424242"/>
                </a:solidFill>
              </a:defRPr>
            </a:pPr>
            <a:endParaRPr sz="1600"/>
          </a:p>
          <a:p>
            <a:pPr>
              <a:spcAft>
                <a:spcPts val="1200"/>
              </a:spcAft>
              <a:defRPr sz="2400">
                <a:solidFill>
                  <a:srgbClr val="424242"/>
                </a:solidFill>
              </a:defRPr>
            </a:pPr>
            <a:r>
              <a:rPr sz="1600"/>
              <a:t>[HEAD OF PARTNERSHIPS]</a:t>
            </a:r>
          </a:p>
          <a:p>
            <a:pPr>
              <a:spcAft>
                <a:spcPts val="1200"/>
              </a:spcAft>
              <a:defRPr sz="2400">
                <a:solidFill>
                  <a:srgbClr val="424242"/>
                </a:solidFill>
              </a:defRPr>
            </a:pPr>
            <a:r>
              <a:rPr sz="1600"/>
              <a:t>   • [Background in consulting, alliances]</a:t>
            </a:r>
          </a:p>
          <a:p>
            <a:pPr>
              <a:spcAft>
                <a:spcPts val="1200"/>
              </a:spcAft>
              <a:defRPr sz="2400">
                <a:solidFill>
                  <a:srgbClr val="424242"/>
                </a:solidFill>
              </a:defRPr>
            </a:pPr>
            <a:endParaRPr sz="1600"/>
          </a:p>
          <a:p>
            <a:pPr>
              <a:spcAft>
                <a:spcPts val="1200"/>
              </a:spcAft>
              <a:defRPr sz="2400">
                <a:solidFill>
                  <a:srgbClr val="424242"/>
                </a:solidFill>
              </a:defRPr>
            </a:pPr>
            <a:r>
              <a:rPr sz="1600"/>
              <a:t>Advisors:</a:t>
            </a:r>
          </a:p>
          <a:p>
            <a:pPr>
              <a:spcAft>
                <a:spcPts val="1200"/>
              </a:spcAft>
              <a:defRPr sz="2400">
                <a:solidFill>
                  <a:srgbClr val="424242"/>
                </a:solidFill>
              </a:defRPr>
            </a:pPr>
            <a:r>
              <a:rPr sz="1600"/>
              <a:t>   • [Former McKinsey Partner]</a:t>
            </a:r>
          </a:p>
          <a:p>
            <a:pPr>
              <a:spcAft>
                <a:spcPts val="1200"/>
              </a:spcAft>
              <a:defRPr sz="2400">
                <a:solidFill>
                  <a:srgbClr val="424242"/>
                </a:solidFill>
              </a:defRPr>
            </a:pPr>
            <a:r>
              <a:rPr sz="1600"/>
              <a:t>   • [Former CDO, Fortune 500]</a:t>
            </a:r>
          </a:p>
          <a:p>
            <a:pPr>
              <a:spcAft>
                <a:spcPts val="1200"/>
              </a:spcAft>
              <a:defRPr sz="2400">
                <a:solidFill>
                  <a:srgbClr val="424242"/>
                </a:solidFill>
              </a:defRPr>
            </a:pPr>
            <a:r>
              <a:rPr sz="1600"/>
              <a:t>   • [Enterprise SaaS founder]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What We Need to Execute</a:t>
            </a:r>
          </a:p>
        </p:txBody>
      </p:sp>
      <p:sp>
        <p:nvSpPr>
          <p:cNvPr id="4" name="TextBox 3"/>
          <p:cNvSpPr txBox="1"/>
          <p:nvPr/>
        </p:nvSpPr>
        <p:spPr>
          <a:xfrm>
            <a:off x="457200" y="1371600"/>
            <a:ext cx="8229600" cy="5139869"/>
          </a:xfrm>
          <a:prstGeom prst="rect">
            <a:avLst/>
          </a:prstGeom>
          <a:noFill/>
        </p:spPr>
        <p:txBody>
          <a:bodyPr wrap="square">
            <a:spAutoFit/>
          </a:bodyPr>
          <a:lstStyle/>
          <a:p>
            <a:pPr>
              <a:spcAft>
                <a:spcPts val="1200"/>
              </a:spcAft>
              <a:defRPr sz="2400">
                <a:solidFill>
                  <a:srgbClr val="424242"/>
                </a:solidFill>
              </a:defRPr>
            </a:pPr>
            <a:r>
              <a:rPr sz="1600" dirty="0"/>
              <a:t>FOR INVESTORS 💰</a:t>
            </a:r>
          </a:p>
          <a:p>
            <a:pPr>
              <a:spcAft>
                <a:spcPts val="1200"/>
              </a:spcAft>
              <a:defRPr sz="2400">
                <a:solidFill>
                  <a:srgbClr val="424242"/>
                </a:solidFill>
              </a:defRPr>
            </a:pPr>
            <a:r>
              <a:rPr sz="1600" dirty="0"/>
              <a:t>   • Raising: $[X]M Seed/Series A</a:t>
            </a:r>
          </a:p>
          <a:p>
            <a:pPr>
              <a:spcAft>
                <a:spcPts val="1200"/>
              </a:spcAft>
              <a:defRPr sz="2400">
                <a:solidFill>
                  <a:srgbClr val="424242"/>
                </a:solidFill>
              </a:defRPr>
            </a:pPr>
            <a:r>
              <a:rPr sz="1600" dirty="0"/>
              <a:t>   • Use: 50% Engineering, 30% GTM, 20% Ops</a:t>
            </a:r>
          </a:p>
          <a:p>
            <a:pPr>
              <a:spcAft>
                <a:spcPts val="1200"/>
              </a:spcAft>
              <a:defRPr sz="2400">
                <a:solidFill>
                  <a:srgbClr val="424242"/>
                </a:solidFill>
              </a:defRPr>
            </a:pPr>
            <a:endParaRPr sz="1600" dirty="0"/>
          </a:p>
          <a:p>
            <a:pPr>
              <a:spcAft>
                <a:spcPts val="1200"/>
              </a:spcAft>
              <a:defRPr sz="2400">
                <a:solidFill>
                  <a:srgbClr val="424242"/>
                </a:solidFill>
              </a:defRPr>
            </a:pPr>
            <a:r>
              <a:rPr sz="1600" dirty="0"/>
              <a:t>FOR PARTNERS 🤝</a:t>
            </a:r>
          </a:p>
          <a:p>
            <a:pPr>
              <a:spcAft>
                <a:spcPts val="1200"/>
              </a:spcAft>
              <a:defRPr sz="2400">
                <a:solidFill>
                  <a:srgbClr val="424242"/>
                </a:solidFill>
              </a:defRPr>
            </a:pPr>
            <a:r>
              <a:rPr sz="1600" dirty="0"/>
              <a:t>   • Seeking: 2-3 strategic partners</a:t>
            </a:r>
          </a:p>
          <a:p>
            <a:pPr>
              <a:spcAft>
                <a:spcPts val="1200"/>
              </a:spcAft>
              <a:defRPr sz="2400">
                <a:solidFill>
                  <a:srgbClr val="424242"/>
                </a:solidFill>
              </a:defRPr>
            </a:pPr>
            <a:r>
              <a:rPr sz="1600" dirty="0"/>
              <a:t>   • Investment: $37.5K + methodology</a:t>
            </a:r>
          </a:p>
          <a:p>
            <a:pPr>
              <a:spcAft>
                <a:spcPts val="1200"/>
              </a:spcAft>
              <a:defRPr sz="2400">
                <a:solidFill>
                  <a:srgbClr val="424242"/>
                </a:solidFill>
              </a:defRPr>
            </a:pPr>
            <a:r>
              <a:rPr sz="1600" dirty="0"/>
              <a:t>   • Outcome: Branded agent, revenue share</a:t>
            </a:r>
          </a:p>
          <a:p>
            <a:pPr>
              <a:spcAft>
                <a:spcPts val="1200"/>
              </a:spcAft>
              <a:defRPr sz="2400">
                <a:solidFill>
                  <a:srgbClr val="424242"/>
                </a:solidFill>
              </a:defRPr>
            </a:pPr>
            <a:endParaRPr sz="1600" dirty="0"/>
          </a:p>
          <a:p>
            <a:pPr>
              <a:spcAft>
                <a:spcPts val="1200"/>
              </a:spcAft>
              <a:defRPr sz="2400">
                <a:solidFill>
                  <a:srgbClr val="424242"/>
                </a:solidFill>
              </a:defRPr>
            </a:pPr>
            <a:r>
              <a:rPr sz="1600" dirty="0"/>
              <a:t>FOR CUSTOMERS 🏢</a:t>
            </a:r>
          </a:p>
          <a:p>
            <a:pPr>
              <a:spcAft>
                <a:spcPts val="1200"/>
              </a:spcAft>
              <a:defRPr sz="2400">
                <a:solidFill>
                  <a:srgbClr val="424242"/>
                </a:solidFill>
              </a:defRPr>
            </a:pPr>
            <a:r>
              <a:rPr sz="1600" dirty="0"/>
              <a:t>   • Seeking: 5-10 early adopters</a:t>
            </a:r>
          </a:p>
          <a:p>
            <a:pPr>
              <a:spcAft>
                <a:spcPts val="1200"/>
              </a:spcAft>
              <a:defRPr sz="2400">
                <a:solidFill>
                  <a:srgbClr val="424242"/>
                </a:solidFill>
              </a:defRPr>
            </a:pPr>
            <a:r>
              <a:rPr sz="1600" dirty="0"/>
              <a:t>   • Investment: $50K-$100K pilot</a:t>
            </a:r>
          </a:p>
          <a:p>
            <a:pPr>
              <a:spcAft>
                <a:spcPts val="1200"/>
              </a:spcAft>
              <a:defRPr sz="2400">
                <a:solidFill>
                  <a:srgbClr val="424242"/>
                </a:solidFill>
              </a:defRPr>
            </a:pPr>
            <a:r>
              <a:rPr sz="1600" dirty="0"/>
              <a:t>   • Outcome: On-demand strategic analysis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The Window is Open</a:t>
            </a:r>
          </a:p>
        </p:txBody>
      </p:sp>
      <p:sp>
        <p:nvSpPr>
          <p:cNvPr id="4" name="TextBox 3"/>
          <p:cNvSpPr txBox="1"/>
          <p:nvPr/>
        </p:nvSpPr>
        <p:spPr>
          <a:xfrm>
            <a:off x="457200" y="1463040"/>
            <a:ext cx="548640" cy="457200"/>
          </a:xfrm>
          <a:prstGeom prst="rect">
            <a:avLst/>
          </a:prstGeom>
          <a:noFill/>
        </p:spPr>
        <p:txBody>
          <a:bodyPr wrap="none">
            <a:spAutoFit/>
          </a:bodyPr>
          <a:lstStyle/>
          <a:p>
            <a:pPr>
              <a:defRPr sz="2800"/>
            </a:pPr>
            <a:r>
              <a:t>🚀</a:t>
            </a:r>
          </a:p>
        </p:txBody>
      </p:sp>
      <p:sp>
        <p:nvSpPr>
          <p:cNvPr id="5" name="TextBox 4"/>
          <p:cNvSpPr txBox="1"/>
          <p:nvPr/>
        </p:nvSpPr>
        <p:spPr>
          <a:xfrm>
            <a:off x="1005840" y="1463040"/>
            <a:ext cx="3200400" cy="365760"/>
          </a:xfrm>
          <a:prstGeom prst="rect">
            <a:avLst/>
          </a:prstGeom>
          <a:noFill/>
        </p:spPr>
        <p:txBody>
          <a:bodyPr wrap="none">
            <a:spAutoFit/>
          </a:bodyPr>
          <a:lstStyle/>
          <a:p>
            <a:pPr>
              <a:defRPr sz="2000" b="1">
                <a:solidFill>
                  <a:srgbClr val="1A365D"/>
                </a:solidFill>
              </a:defRPr>
            </a:pPr>
            <a:r>
              <a:t>Technology Inflection</a:t>
            </a:r>
          </a:p>
        </p:txBody>
      </p:sp>
      <p:sp>
        <p:nvSpPr>
          <p:cNvPr id="6" name="TextBox 5"/>
          <p:cNvSpPr txBox="1"/>
          <p:nvPr/>
        </p:nvSpPr>
        <p:spPr>
          <a:xfrm>
            <a:off x="1005840" y="1828800"/>
            <a:ext cx="3200400" cy="731520"/>
          </a:xfrm>
          <a:prstGeom prst="rect">
            <a:avLst/>
          </a:prstGeom>
          <a:noFill/>
        </p:spPr>
        <p:txBody>
          <a:bodyPr wrap="square">
            <a:spAutoFit/>
          </a:bodyPr>
          <a:lstStyle/>
          <a:p>
            <a:pPr>
              <a:defRPr sz="1600">
                <a:solidFill>
                  <a:srgbClr val="424242"/>
                </a:solidFill>
              </a:defRPr>
            </a:pPr>
            <a:r>
              <a:t>LLMs now capable of nuanced reasoning; multi-agent systems production-ready</a:t>
            </a:r>
          </a:p>
        </p:txBody>
      </p:sp>
      <p:sp>
        <p:nvSpPr>
          <p:cNvPr id="7" name="TextBox 6"/>
          <p:cNvSpPr txBox="1"/>
          <p:nvPr/>
        </p:nvSpPr>
        <p:spPr>
          <a:xfrm>
            <a:off x="457200" y="2743200"/>
            <a:ext cx="548640" cy="457200"/>
          </a:xfrm>
          <a:prstGeom prst="rect">
            <a:avLst/>
          </a:prstGeom>
          <a:noFill/>
        </p:spPr>
        <p:txBody>
          <a:bodyPr wrap="none">
            <a:spAutoFit/>
          </a:bodyPr>
          <a:lstStyle/>
          <a:p>
            <a:pPr>
              <a:defRPr sz="2800"/>
            </a:pPr>
            <a:r>
              <a:t>📈</a:t>
            </a:r>
          </a:p>
        </p:txBody>
      </p:sp>
      <p:sp>
        <p:nvSpPr>
          <p:cNvPr id="8" name="TextBox 7"/>
          <p:cNvSpPr txBox="1"/>
          <p:nvPr/>
        </p:nvSpPr>
        <p:spPr>
          <a:xfrm>
            <a:off x="1005840" y="2743200"/>
            <a:ext cx="3200400" cy="365760"/>
          </a:xfrm>
          <a:prstGeom prst="rect">
            <a:avLst/>
          </a:prstGeom>
          <a:noFill/>
        </p:spPr>
        <p:txBody>
          <a:bodyPr wrap="none">
            <a:spAutoFit/>
          </a:bodyPr>
          <a:lstStyle/>
          <a:p>
            <a:pPr>
              <a:defRPr sz="2000" b="1">
                <a:solidFill>
                  <a:srgbClr val="1A365D"/>
                </a:solidFill>
              </a:defRPr>
            </a:pPr>
            <a:r>
              <a:t>Market Timing</a:t>
            </a:r>
          </a:p>
        </p:txBody>
      </p:sp>
      <p:sp>
        <p:nvSpPr>
          <p:cNvPr id="9" name="TextBox 8"/>
          <p:cNvSpPr txBox="1"/>
          <p:nvPr/>
        </p:nvSpPr>
        <p:spPr>
          <a:xfrm>
            <a:off x="1005840" y="3108960"/>
            <a:ext cx="3200400" cy="731520"/>
          </a:xfrm>
          <a:prstGeom prst="rect">
            <a:avLst/>
          </a:prstGeom>
          <a:noFill/>
        </p:spPr>
        <p:txBody>
          <a:bodyPr wrap="square">
            <a:spAutoFit/>
          </a:bodyPr>
          <a:lstStyle/>
          <a:p>
            <a:pPr>
              <a:defRPr sz="1600">
                <a:solidFill>
                  <a:srgbClr val="424242"/>
                </a:solidFill>
              </a:defRPr>
            </a:pPr>
            <a:r>
              <a:t>Consulting firms under margin pressure; enterprises demand speed</a:t>
            </a:r>
          </a:p>
        </p:txBody>
      </p:sp>
      <p:sp>
        <p:nvSpPr>
          <p:cNvPr id="10" name="TextBox 9"/>
          <p:cNvSpPr txBox="1"/>
          <p:nvPr/>
        </p:nvSpPr>
        <p:spPr>
          <a:xfrm>
            <a:off x="457200" y="4023360"/>
            <a:ext cx="548640" cy="457200"/>
          </a:xfrm>
          <a:prstGeom prst="rect">
            <a:avLst/>
          </a:prstGeom>
          <a:noFill/>
        </p:spPr>
        <p:txBody>
          <a:bodyPr wrap="none">
            <a:spAutoFit/>
          </a:bodyPr>
          <a:lstStyle/>
          <a:p>
            <a:pPr>
              <a:defRPr sz="2800"/>
            </a:pPr>
            <a:r>
              <a:t>🏁</a:t>
            </a:r>
          </a:p>
        </p:txBody>
      </p:sp>
      <p:sp>
        <p:nvSpPr>
          <p:cNvPr id="11" name="TextBox 10"/>
          <p:cNvSpPr txBox="1"/>
          <p:nvPr/>
        </p:nvSpPr>
        <p:spPr>
          <a:xfrm>
            <a:off x="1005840" y="4023360"/>
            <a:ext cx="3200400" cy="365760"/>
          </a:xfrm>
          <a:prstGeom prst="rect">
            <a:avLst/>
          </a:prstGeom>
          <a:noFill/>
        </p:spPr>
        <p:txBody>
          <a:bodyPr wrap="none">
            <a:spAutoFit/>
          </a:bodyPr>
          <a:lstStyle/>
          <a:p>
            <a:pPr>
              <a:defRPr sz="2000" b="1">
                <a:solidFill>
                  <a:srgbClr val="1A365D"/>
                </a:solidFill>
              </a:defRPr>
            </a:pPr>
            <a:r>
              <a:t>Competitive Window</a:t>
            </a:r>
          </a:p>
        </p:txBody>
      </p:sp>
      <p:sp>
        <p:nvSpPr>
          <p:cNvPr id="12" name="TextBox 11"/>
          <p:cNvSpPr txBox="1"/>
          <p:nvPr/>
        </p:nvSpPr>
        <p:spPr>
          <a:xfrm>
            <a:off x="1005840" y="4389120"/>
            <a:ext cx="3200400" cy="731520"/>
          </a:xfrm>
          <a:prstGeom prst="rect">
            <a:avLst/>
          </a:prstGeom>
          <a:noFill/>
        </p:spPr>
        <p:txBody>
          <a:bodyPr wrap="square">
            <a:spAutoFit/>
          </a:bodyPr>
          <a:lstStyle/>
          <a:p>
            <a:pPr>
              <a:defRPr sz="1600">
                <a:solidFill>
                  <a:srgbClr val="424242"/>
                </a:solidFill>
              </a:defRPr>
            </a:pPr>
            <a:r>
              <a:t>No agentic consulting marketplace exists; first-mover defines category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Agent9: The Agentic Consulting Marketplace</a:t>
            </a:r>
          </a:p>
        </p:txBody>
      </p:sp>
      <p:sp>
        <p:nvSpPr>
          <p:cNvPr id="4" name="TextBox 3"/>
          <p:cNvSpPr txBox="1"/>
          <p:nvPr/>
        </p:nvSpPr>
        <p:spPr>
          <a:xfrm>
            <a:off x="457200" y="1463040"/>
            <a:ext cx="548640" cy="457200"/>
          </a:xfrm>
          <a:prstGeom prst="rect">
            <a:avLst/>
          </a:prstGeom>
          <a:noFill/>
        </p:spPr>
        <p:txBody>
          <a:bodyPr wrap="none">
            <a:spAutoFit/>
          </a:bodyPr>
          <a:lstStyle/>
          <a:p>
            <a:pPr>
              <a:defRPr sz="2800"/>
            </a:pPr>
            <a:r>
              <a:t>💰</a:t>
            </a:r>
          </a:p>
        </p:txBody>
      </p:sp>
      <p:sp>
        <p:nvSpPr>
          <p:cNvPr id="5" name="TextBox 4"/>
          <p:cNvSpPr txBox="1"/>
          <p:nvPr/>
        </p:nvSpPr>
        <p:spPr>
          <a:xfrm>
            <a:off x="1005840" y="1463040"/>
            <a:ext cx="3200400" cy="365760"/>
          </a:xfrm>
          <a:prstGeom prst="rect">
            <a:avLst/>
          </a:prstGeom>
          <a:noFill/>
        </p:spPr>
        <p:txBody>
          <a:bodyPr wrap="none">
            <a:spAutoFit/>
          </a:bodyPr>
          <a:lstStyle/>
          <a:p>
            <a:pPr>
              <a:defRPr sz="2000" b="1">
                <a:solidFill>
                  <a:srgbClr val="1A365D"/>
                </a:solidFill>
              </a:defRPr>
            </a:pPr>
            <a:r>
              <a:t>$800B market</a:t>
            </a:r>
          </a:p>
        </p:txBody>
      </p:sp>
      <p:sp>
        <p:nvSpPr>
          <p:cNvPr id="6" name="TextBox 5"/>
          <p:cNvSpPr txBox="1"/>
          <p:nvPr/>
        </p:nvSpPr>
        <p:spPr>
          <a:xfrm>
            <a:off x="1005840" y="1828800"/>
            <a:ext cx="3200400" cy="731520"/>
          </a:xfrm>
          <a:prstGeom prst="rect">
            <a:avLst/>
          </a:prstGeom>
          <a:noFill/>
        </p:spPr>
        <p:txBody>
          <a:bodyPr wrap="square">
            <a:spAutoFit/>
          </a:bodyPr>
          <a:lstStyle/>
          <a:p>
            <a:pPr>
              <a:defRPr sz="1600">
                <a:solidFill>
                  <a:srgbClr val="424242"/>
                </a:solidFill>
              </a:defRPr>
            </a:pPr>
            <a:r>
              <a:t>Massive, underserved by technology</a:t>
            </a:r>
          </a:p>
        </p:txBody>
      </p:sp>
      <p:sp>
        <p:nvSpPr>
          <p:cNvPr id="7" name="TextBox 6"/>
          <p:cNvSpPr txBox="1"/>
          <p:nvPr/>
        </p:nvSpPr>
        <p:spPr>
          <a:xfrm>
            <a:off x="457200" y="2743200"/>
            <a:ext cx="548640" cy="457200"/>
          </a:xfrm>
          <a:prstGeom prst="rect">
            <a:avLst/>
          </a:prstGeom>
          <a:noFill/>
        </p:spPr>
        <p:txBody>
          <a:bodyPr wrap="none">
            <a:spAutoFit/>
          </a:bodyPr>
          <a:lstStyle/>
          <a:p>
            <a:pPr>
              <a:defRPr sz="2800"/>
            </a:pPr>
            <a:r>
              <a:t>⚡</a:t>
            </a:r>
          </a:p>
        </p:txBody>
      </p:sp>
      <p:sp>
        <p:nvSpPr>
          <p:cNvPr id="8" name="TextBox 7"/>
          <p:cNvSpPr txBox="1"/>
          <p:nvPr/>
        </p:nvSpPr>
        <p:spPr>
          <a:xfrm>
            <a:off x="1005840" y="2743200"/>
            <a:ext cx="3200400" cy="365760"/>
          </a:xfrm>
          <a:prstGeom prst="rect">
            <a:avLst/>
          </a:prstGeom>
          <a:noFill/>
        </p:spPr>
        <p:txBody>
          <a:bodyPr wrap="none">
            <a:spAutoFit/>
          </a:bodyPr>
          <a:lstStyle/>
          <a:p>
            <a:pPr>
              <a:defRPr sz="2000" b="1">
                <a:solidFill>
                  <a:srgbClr val="1A365D"/>
                </a:solidFill>
              </a:defRPr>
            </a:pPr>
            <a:r>
              <a:t>10-50x faster</a:t>
            </a:r>
          </a:p>
        </p:txBody>
      </p:sp>
      <p:sp>
        <p:nvSpPr>
          <p:cNvPr id="9" name="TextBox 8"/>
          <p:cNvSpPr txBox="1"/>
          <p:nvPr/>
        </p:nvSpPr>
        <p:spPr>
          <a:xfrm>
            <a:off x="1005840" y="3108960"/>
            <a:ext cx="3200400" cy="731520"/>
          </a:xfrm>
          <a:prstGeom prst="rect">
            <a:avLst/>
          </a:prstGeom>
          <a:noFill/>
        </p:spPr>
        <p:txBody>
          <a:bodyPr wrap="square">
            <a:spAutoFit/>
          </a:bodyPr>
          <a:lstStyle/>
          <a:p>
            <a:pPr>
              <a:defRPr sz="1600">
                <a:solidFill>
                  <a:srgbClr val="424242"/>
                </a:solidFill>
              </a:defRPr>
            </a:pPr>
            <a:r>
              <a:t>Hours, not months</a:t>
            </a:r>
          </a:p>
        </p:txBody>
      </p:sp>
      <p:sp>
        <p:nvSpPr>
          <p:cNvPr id="10" name="TextBox 9"/>
          <p:cNvSpPr txBox="1"/>
          <p:nvPr/>
        </p:nvSpPr>
        <p:spPr>
          <a:xfrm>
            <a:off x="457200" y="4023360"/>
            <a:ext cx="548640" cy="457200"/>
          </a:xfrm>
          <a:prstGeom prst="rect">
            <a:avLst/>
          </a:prstGeom>
          <a:noFill/>
        </p:spPr>
        <p:txBody>
          <a:bodyPr wrap="none">
            <a:spAutoFit/>
          </a:bodyPr>
          <a:lstStyle/>
          <a:p>
            <a:pPr>
              <a:defRPr sz="2800"/>
            </a:pPr>
            <a:r>
              <a:t>📉</a:t>
            </a:r>
          </a:p>
        </p:txBody>
      </p:sp>
      <p:sp>
        <p:nvSpPr>
          <p:cNvPr id="11" name="TextBox 10"/>
          <p:cNvSpPr txBox="1"/>
          <p:nvPr/>
        </p:nvSpPr>
        <p:spPr>
          <a:xfrm>
            <a:off x="1005840" y="4023360"/>
            <a:ext cx="3200400" cy="365760"/>
          </a:xfrm>
          <a:prstGeom prst="rect">
            <a:avLst/>
          </a:prstGeom>
          <a:noFill/>
        </p:spPr>
        <p:txBody>
          <a:bodyPr wrap="none">
            <a:spAutoFit/>
          </a:bodyPr>
          <a:lstStyle/>
          <a:p>
            <a:pPr>
              <a:defRPr sz="2000" b="1">
                <a:solidFill>
                  <a:srgbClr val="1A365D"/>
                </a:solidFill>
              </a:defRPr>
            </a:pPr>
            <a:r>
              <a:t>70-90% cheaper</a:t>
            </a:r>
          </a:p>
        </p:txBody>
      </p:sp>
      <p:sp>
        <p:nvSpPr>
          <p:cNvPr id="12" name="TextBox 11"/>
          <p:cNvSpPr txBox="1"/>
          <p:nvPr/>
        </p:nvSpPr>
        <p:spPr>
          <a:xfrm>
            <a:off x="1005840" y="4389120"/>
            <a:ext cx="3200400" cy="731520"/>
          </a:xfrm>
          <a:prstGeom prst="rect">
            <a:avLst/>
          </a:prstGeom>
          <a:noFill/>
        </p:spPr>
        <p:txBody>
          <a:bodyPr wrap="square">
            <a:spAutoFit/>
          </a:bodyPr>
          <a:lstStyle/>
          <a:p>
            <a:pPr>
              <a:defRPr sz="1600">
                <a:solidFill>
                  <a:srgbClr val="424242"/>
                </a:solidFill>
              </a:defRPr>
            </a:pPr>
            <a:r>
              <a:t>Accessible to mid-market</a:t>
            </a:r>
          </a:p>
        </p:txBody>
      </p:sp>
      <p:sp>
        <p:nvSpPr>
          <p:cNvPr id="13" name="TextBox 12"/>
          <p:cNvSpPr txBox="1"/>
          <p:nvPr/>
        </p:nvSpPr>
        <p:spPr>
          <a:xfrm>
            <a:off x="4846320" y="1463040"/>
            <a:ext cx="548640" cy="457200"/>
          </a:xfrm>
          <a:prstGeom prst="rect">
            <a:avLst/>
          </a:prstGeom>
          <a:noFill/>
        </p:spPr>
        <p:txBody>
          <a:bodyPr wrap="none">
            <a:spAutoFit/>
          </a:bodyPr>
          <a:lstStyle/>
          <a:p>
            <a:pPr>
              <a:defRPr sz="2800"/>
            </a:pPr>
            <a:r>
              <a:t>🗣️</a:t>
            </a:r>
          </a:p>
        </p:txBody>
      </p:sp>
      <p:sp>
        <p:nvSpPr>
          <p:cNvPr id="14" name="TextBox 13"/>
          <p:cNvSpPr txBox="1"/>
          <p:nvPr/>
        </p:nvSpPr>
        <p:spPr>
          <a:xfrm>
            <a:off x="5394960" y="1463040"/>
            <a:ext cx="3200400" cy="365760"/>
          </a:xfrm>
          <a:prstGeom prst="rect">
            <a:avLst/>
          </a:prstGeom>
          <a:noFill/>
        </p:spPr>
        <p:txBody>
          <a:bodyPr wrap="none">
            <a:spAutoFit/>
          </a:bodyPr>
          <a:lstStyle/>
          <a:p>
            <a:pPr>
              <a:defRPr sz="2000" b="1">
                <a:solidFill>
                  <a:srgbClr val="1A365D"/>
                </a:solidFill>
              </a:defRPr>
            </a:pPr>
            <a:r>
              <a:t>Multi-perspective</a:t>
            </a:r>
          </a:p>
        </p:txBody>
      </p:sp>
      <p:sp>
        <p:nvSpPr>
          <p:cNvPr id="15" name="TextBox 14"/>
          <p:cNvSpPr txBox="1"/>
          <p:nvPr/>
        </p:nvSpPr>
        <p:spPr>
          <a:xfrm>
            <a:off x="5394960" y="1828800"/>
            <a:ext cx="3200400" cy="731520"/>
          </a:xfrm>
          <a:prstGeom prst="rect">
            <a:avLst/>
          </a:prstGeom>
          <a:noFill/>
        </p:spPr>
        <p:txBody>
          <a:bodyPr wrap="square">
            <a:spAutoFit/>
          </a:bodyPr>
          <a:lstStyle/>
          <a:p>
            <a:pPr>
              <a:defRPr sz="1600">
                <a:solidFill>
                  <a:srgbClr val="424242"/>
                </a:solidFill>
              </a:defRPr>
            </a:pPr>
            <a:r>
              <a:t>Best ideas surface through debate</a:t>
            </a:r>
          </a:p>
        </p:txBody>
      </p:sp>
      <p:sp>
        <p:nvSpPr>
          <p:cNvPr id="16" name="TextBox 15"/>
          <p:cNvSpPr txBox="1"/>
          <p:nvPr/>
        </p:nvSpPr>
        <p:spPr>
          <a:xfrm>
            <a:off x="4846320" y="2743200"/>
            <a:ext cx="548640" cy="457200"/>
          </a:xfrm>
          <a:prstGeom prst="rect">
            <a:avLst/>
          </a:prstGeom>
          <a:noFill/>
        </p:spPr>
        <p:txBody>
          <a:bodyPr wrap="none">
            <a:spAutoFit/>
          </a:bodyPr>
          <a:lstStyle/>
          <a:p>
            <a:pPr>
              <a:defRPr sz="2800"/>
            </a:pPr>
            <a:r>
              <a:t>✅</a:t>
            </a:r>
          </a:p>
        </p:txBody>
      </p:sp>
      <p:sp>
        <p:nvSpPr>
          <p:cNvPr id="17" name="TextBox 16"/>
          <p:cNvSpPr txBox="1"/>
          <p:nvPr/>
        </p:nvSpPr>
        <p:spPr>
          <a:xfrm>
            <a:off x="5394960" y="2743200"/>
            <a:ext cx="3200400" cy="365760"/>
          </a:xfrm>
          <a:prstGeom prst="rect">
            <a:avLst/>
          </a:prstGeom>
          <a:noFill/>
        </p:spPr>
        <p:txBody>
          <a:bodyPr wrap="none">
            <a:spAutoFit/>
          </a:bodyPr>
          <a:lstStyle/>
          <a:p>
            <a:pPr>
              <a:defRPr sz="2000" b="1">
                <a:solidFill>
                  <a:srgbClr val="1A365D"/>
                </a:solidFill>
              </a:defRPr>
            </a:pPr>
            <a:r>
              <a:t>Audit trail</a:t>
            </a:r>
          </a:p>
        </p:txBody>
      </p:sp>
      <p:sp>
        <p:nvSpPr>
          <p:cNvPr id="18" name="TextBox 17"/>
          <p:cNvSpPr txBox="1"/>
          <p:nvPr/>
        </p:nvSpPr>
        <p:spPr>
          <a:xfrm>
            <a:off x="5394960" y="3108960"/>
            <a:ext cx="3200400" cy="731520"/>
          </a:xfrm>
          <a:prstGeom prst="rect">
            <a:avLst/>
          </a:prstGeom>
          <a:noFill/>
        </p:spPr>
        <p:txBody>
          <a:bodyPr wrap="square">
            <a:spAutoFit/>
          </a:bodyPr>
          <a:lstStyle/>
          <a:p>
            <a:pPr>
              <a:defRPr sz="1600">
                <a:solidFill>
                  <a:srgbClr val="424242"/>
                </a:solidFill>
              </a:defRPr>
            </a:pPr>
            <a:r>
              <a:t>Compliance-ready, explainable</a:t>
            </a:r>
          </a:p>
        </p:txBody>
      </p:sp>
      <p:sp>
        <p:nvSpPr>
          <p:cNvPr id="19" name="TextBox 18"/>
          <p:cNvSpPr txBox="1"/>
          <p:nvPr/>
        </p:nvSpPr>
        <p:spPr>
          <a:xfrm>
            <a:off x="4846320" y="4023360"/>
            <a:ext cx="548640" cy="457200"/>
          </a:xfrm>
          <a:prstGeom prst="rect">
            <a:avLst/>
          </a:prstGeom>
          <a:noFill/>
        </p:spPr>
        <p:txBody>
          <a:bodyPr wrap="none">
            <a:spAutoFit/>
          </a:bodyPr>
          <a:lstStyle/>
          <a:p>
            <a:pPr>
              <a:defRPr sz="2800"/>
            </a:pPr>
            <a:r>
              <a:t>📈</a:t>
            </a:r>
          </a:p>
        </p:txBody>
      </p:sp>
      <p:sp>
        <p:nvSpPr>
          <p:cNvPr id="20" name="TextBox 19"/>
          <p:cNvSpPr txBox="1"/>
          <p:nvPr/>
        </p:nvSpPr>
        <p:spPr>
          <a:xfrm>
            <a:off x="5394960" y="4023360"/>
            <a:ext cx="3200400" cy="365760"/>
          </a:xfrm>
          <a:prstGeom prst="rect">
            <a:avLst/>
          </a:prstGeom>
          <a:noFill/>
        </p:spPr>
        <p:txBody>
          <a:bodyPr wrap="none">
            <a:spAutoFit/>
          </a:bodyPr>
          <a:lstStyle/>
          <a:p>
            <a:pPr>
              <a:defRPr sz="2000" b="1">
                <a:solidFill>
                  <a:srgbClr val="1A365D"/>
                </a:solidFill>
              </a:defRPr>
            </a:pPr>
            <a:r>
              <a:t>Platform economics</a:t>
            </a:r>
          </a:p>
        </p:txBody>
      </p:sp>
      <p:sp>
        <p:nvSpPr>
          <p:cNvPr id="21" name="TextBox 20"/>
          <p:cNvSpPr txBox="1"/>
          <p:nvPr/>
        </p:nvSpPr>
        <p:spPr>
          <a:xfrm>
            <a:off x="5394960" y="4389120"/>
            <a:ext cx="3200400" cy="731520"/>
          </a:xfrm>
          <a:prstGeom prst="rect">
            <a:avLst/>
          </a:prstGeom>
          <a:noFill/>
        </p:spPr>
        <p:txBody>
          <a:bodyPr wrap="square">
            <a:spAutoFit/>
          </a:bodyPr>
          <a:lstStyle/>
          <a:p>
            <a:pPr>
              <a:defRPr sz="1600">
                <a:solidFill>
                  <a:srgbClr val="424242"/>
                </a:solidFill>
              </a:defRPr>
            </a:pPr>
            <a:r>
              <a:t>Network effects, recurring revenue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A365D"/>
        </a:solidFill>
        <a:effectLst/>
      </p:bgPr>
    </p:bg>
    <p:spTree>
      <p:nvGrpSpPr>
        <p:cNvPr id="1" name=""/>
        <p:cNvGrpSpPr/>
        <p:nvPr/>
      </p:nvGrpSpPr>
      <p:grpSpPr>
        <a:xfrm>
          <a:off x="0" y="0"/>
          <a:ext cx="0" cy="0"/>
          <a:chOff x="0" y="0"/>
          <a:chExt cx="0" cy="0"/>
        </a:xfrm>
      </p:grpSpPr>
      <p:sp>
        <p:nvSpPr>
          <p:cNvPr id="2" name="TextBox 1"/>
          <p:cNvSpPr txBox="1"/>
          <p:nvPr/>
        </p:nvSpPr>
        <p:spPr>
          <a:xfrm>
            <a:off x="457200" y="2286000"/>
            <a:ext cx="8229600" cy="914400"/>
          </a:xfrm>
          <a:prstGeom prst="rect">
            <a:avLst/>
          </a:prstGeom>
          <a:noFill/>
        </p:spPr>
        <p:txBody>
          <a:bodyPr wrap="none">
            <a:spAutoFit/>
          </a:bodyPr>
          <a:lstStyle/>
          <a:p>
            <a:pPr algn="ctr">
              <a:defRPr sz="5400" b="1">
                <a:solidFill>
                  <a:srgbClr val="FFFFFF"/>
                </a:solidFill>
              </a:defRPr>
            </a:pPr>
            <a:r>
              <a:t>Thank You</a:t>
            </a:r>
          </a:p>
        </p:txBody>
      </p:sp>
      <p:sp>
        <p:nvSpPr>
          <p:cNvPr id="3" name="TextBox 2"/>
          <p:cNvSpPr txBox="1"/>
          <p:nvPr/>
        </p:nvSpPr>
        <p:spPr>
          <a:xfrm>
            <a:off x="457200" y="3291840"/>
            <a:ext cx="8229600" cy="731520"/>
          </a:xfrm>
          <a:prstGeom prst="rect">
            <a:avLst/>
          </a:prstGeom>
          <a:noFill/>
        </p:spPr>
        <p:txBody>
          <a:bodyPr wrap="none">
            <a:spAutoFit/>
          </a:bodyPr>
          <a:lstStyle/>
          <a:p>
            <a:pPr algn="ctr">
              <a:defRPr sz="2800">
                <a:solidFill>
                  <a:srgbClr val="FFFFFF"/>
                </a:solidFill>
              </a:defRPr>
            </a:pPr>
            <a:r>
              <a:t>[Your Name] | [email@agent9.ai]</a:t>
            </a:r>
          </a:p>
        </p:txBody>
      </p:sp>
      <p:sp>
        <p:nvSpPr>
          <p:cNvPr id="4" name="TextBox 3"/>
          <p:cNvSpPr txBox="1"/>
          <p:nvPr/>
        </p:nvSpPr>
        <p:spPr>
          <a:xfrm>
            <a:off x="473763" y="4206240"/>
            <a:ext cx="8196475" cy="276999"/>
          </a:xfrm>
          <a:prstGeom prst="rect">
            <a:avLst/>
          </a:prstGeom>
          <a:noFill/>
        </p:spPr>
        <p:txBody>
          <a:bodyPr wrap="none">
            <a:spAutoFit/>
          </a:bodyPr>
          <a:lstStyle/>
          <a:p>
            <a:pPr algn="ctr">
              <a:defRPr sz="1800" i="1">
                <a:solidFill>
                  <a:srgbClr val="FFFFFF"/>
                </a:solidFill>
              </a:defRPr>
            </a:pPr>
            <a:r>
              <a:rPr sz="1200"/>
              <a:t>The future of consulting is not human OR AI—it's the best human expertise, encoded and debated by AI, with humans in the loop.</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A365D"/>
        </a:solidFill>
        <a:effectLst/>
      </p:bgPr>
    </p:bg>
    <p:spTree>
      <p:nvGrpSpPr>
        <p:cNvPr id="1" name=""/>
        <p:cNvGrpSpPr/>
        <p:nvPr/>
      </p:nvGrpSpPr>
      <p:grpSpPr>
        <a:xfrm>
          <a:off x="0" y="0"/>
          <a:ext cx="0" cy="0"/>
          <a:chOff x="0" y="0"/>
          <a:chExt cx="0" cy="0"/>
        </a:xfrm>
      </p:grpSpPr>
      <p:sp>
        <p:nvSpPr>
          <p:cNvPr id="2" name="TextBox 1"/>
          <p:cNvSpPr txBox="1"/>
          <p:nvPr/>
        </p:nvSpPr>
        <p:spPr>
          <a:xfrm>
            <a:off x="457200" y="2743200"/>
            <a:ext cx="8229600" cy="914400"/>
          </a:xfrm>
          <a:prstGeom prst="rect">
            <a:avLst/>
          </a:prstGeom>
          <a:noFill/>
        </p:spPr>
        <p:txBody>
          <a:bodyPr wrap="none">
            <a:spAutoFit/>
          </a:bodyPr>
          <a:lstStyle/>
          <a:p>
            <a:pPr algn="ctr">
              <a:defRPr sz="4400" b="1">
                <a:solidFill>
                  <a:srgbClr val="FFFFFF"/>
                </a:solidFill>
              </a:defRPr>
            </a:pPr>
            <a:r>
              <a:t>APPENDIX</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Appendix A: Customer ROI Detail</a:t>
            </a:r>
          </a:p>
        </p:txBody>
      </p:sp>
      <p:graphicFrame>
        <p:nvGraphicFramePr>
          <p:cNvPr id="4" name="Table 3"/>
          <p:cNvGraphicFramePr>
            <a:graphicFrameLocks noGrp="1"/>
          </p:cNvGraphicFramePr>
          <p:nvPr/>
        </p:nvGraphicFramePr>
        <p:xfrm>
          <a:off x="457200" y="1463040"/>
          <a:ext cx="8229600" cy="36576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57200">
                <a:tc>
                  <a:txBody>
                    <a:bodyPr/>
                    <a:lstStyle/>
                    <a:p>
                      <a:pPr algn="ctr">
                        <a:defRPr sz="1600" b="1">
                          <a:solidFill>
                            <a:srgbClr val="FFFFFF"/>
                          </a:solidFill>
                        </a:defRPr>
                      </a:pPr>
                      <a:r>
                        <a:t>Category</a:t>
                      </a:r>
                    </a:p>
                  </a:txBody>
                  <a:tcPr>
                    <a:solidFill>
                      <a:srgbClr val="1A365D"/>
                    </a:solidFill>
                  </a:tcPr>
                </a:tc>
                <a:tc>
                  <a:txBody>
                    <a:bodyPr/>
                    <a:lstStyle/>
                    <a:p>
                      <a:pPr algn="ctr">
                        <a:defRPr sz="1600" b="1">
                          <a:solidFill>
                            <a:srgbClr val="FFFFFF"/>
                          </a:solidFill>
                        </a:defRPr>
                      </a:pPr>
                      <a:r>
                        <a:t>Before</a:t>
                      </a:r>
                    </a:p>
                  </a:txBody>
                  <a:tcPr>
                    <a:solidFill>
                      <a:srgbClr val="1A365D"/>
                    </a:solidFill>
                  </a:tcPr>
                </a:tc>
                <a:tc>
                  <a:txBody>
                    <a:bodyPr/>
                    <a:lstStyle/>
                    <a:p>
                      <a:pPr algn="ctr">
                        <a:defRPr sz="1600" b="1">
                          <a:solidFill>
                            <a:srgbClr val="FFFFFF"/>
                          </a:solidFill>
                        </a:defRPr>
                      </a:pPr>
                      <a:r>
                        <a:t>After</a:t>
                      </a:r>
                    </a:p>
                  </a:txBody>
                  <a:tcPr>
                    <a:solidFill>
                      <a:srgbClr val="1A365D"/>
                    </a:solidFill>
                  </a:tcPr>
                </a:tc>
                <a:tc>
                  <a:txBody>
                    <a:bodyPr/>
                    <a:lstStyle/>
                    <a:p>
                      <a:pPr algn="ctr">
                        <a:defRPr sz="1600" b="1">
                          <a:solidFill>
                            <a:srgbClr val="FFFFFF"/>
                          </a:solidFill>
                        </a:defRPr>
                      </a:pPr>
                      <a:r>
                        <a:t>Savings</a:t>
                      </a:r>
                    </a:p>
                  </a:txBody>
                  <a:tcPr>
                    <a:solidFill>
                      <a:srgbClr val="1A365D"/>
                    </a:solidFill>
                  </a:tcPr>
                </a:tc>
                <a:extLst>
                  <a:ext uri="{0D108BD9-81ED-4DB2-BD59-A6C34878D82A}">
                    <a16:rowId xmlns:a16="http://schemas.microsoft.com/office/drawing/2014/main" val="10000"/>
                  </a:ext>
                </a:extLst>
              </a:tr>
              <a:tr h="457200">
                <a:tc>
                  <a:txBody>
                    <a:bodyPr/>
                    <a:lstStyle/>
                    <a:p>
                      <a:pPr algn="ctr">
                        <a:defRPr sz="1400">
                          <a:solidFill>
                            <a:srgbClr val="424242"/>
                          </a:solidFill>
                        </a:defRPr>
                      </a:pPr>
                      <a:r>
                        <a:t>Strategy consulting</a:t>
                      </a:r>
                    </a:p>
                  </a:txBody>
                  <a:tcPr>
                    <a:solidFill>
                      <a:srgbClr val="F5F5F5"/>
                    </a:solidFill>
                  </a:tcPr>
                </a:tc>
                <a:tc>
                  <a:txBody>
                    <a:bodyPr/>
                    <a:lstStyle/>
                    <a:p>
                      <a:pPr algn="ctr">
                        <a:defRPr sz="1400">
                          <a:solidFill>
                            <a:srgbClr val="424242"/>
                          </a:solidFill>
                        </a:defRPr>
                      </a:pPr>
                      <a:r>
                        <a:t>$1,000,000</a:t>
                      </a:r>
                    </a:p>
                  </a:txBody>
                  <a:tcPr>
                    <a:solidFill>
                      <a:srgbClr val="F5F5F5"/>
                    </a:solidFill>
                  </a:tcPr>
                </a:tc>
                <a:tc>
                  <a:txBody>
                    <a:bodyPr/>
                    <a:lstStyle/>
                    <a:p>
                      <a:pPr algn="ctr">
                        <a:defRPr sz="1400">
                          <a:solidFill>
                            <a:srgbClr val="424242"/>
                          </a:solidFill>
                        </a:defRPr>
                      </a:pPr>
                      <a:r>
                        <a:t>$200,000</a:t>
                      </a:r>
                    </a:p>
                  </a:txBody>
                  <a:tcPr>
                    <a:solidFill>
                      <a:srgbClr val="F5F5F5"/>
                    </a:solidFill>
                  </a:tcPr>
                </a:tc>
                <a:tc>
                  <a:txBody>
                    <a:bodyPr/>
                    <a:lstStyle/>
                    <a:p>
                      <a:pPr algn="ctr">
                        <a:defRPr sz="1400">
                          <a:solidFill>
                            <a:srgbClr val="424242"/>
                          </a:solidFill>
                        </a:defRPr>
                      </a:pPr>
                      <a:r>
                        <a:t>$800,000</a:t>
                      </a:r>
                    </a:p>
                  </a:txBody>
                  <a:tcPr>
                    <a:solidFill>
                      <a:srgbClr val="F5F5F5"/>
                    </a:solidFill>
                  </a:tcPr>
                </a:tc>
                <a:extLst>
                  <a:ext uri="{0D108BD9-81ED-4DB2-BD59-A6C34878D82A}">
                    <a16:rowId xmlns:a16="http://schemas.microsoft.com/office/drawing/2014/main" val="10001"/>
                  </a:ext>
                </a:extLst>
              </a:tr>
              <a:tr h="457200">
                <a:tc>
                  <a:txBody>
                    <a:bodyPr/>
                    <a:lstStyle/>
                    <a:p>
                      <a:pPr algn="ctr">
                        <a:defRPr sz="1400">
                          <a:solidFill>
                            <a:srgbClr val="424242"/>
                          </a:solidFill>
                        </a:defRPr>
                      </a:pPr>
                      <a:r>
                        <a:t>Operations consulting</a:t>
                      </a:r>
                    </a:p>
                  </a:txBody>
                  <a:tcPr/>
                </a:tc>
                <a:tc>
                  <a:txBody>
                    <a:bodyPr/>
                    <a:lstStyle/>
                    <a:p>
                      <a:pPr algn="ctr">
                        <a:defRPr sz="1400">
                          <a:solidFill>
                            <a:srgbClr val="424242"/>
                          </a:solidFill>
                        </a:defRPr>
                      </a:pPr>
                      <a:r>
                        <a:t>$900,000</a:t>
                      </a:r>
                    </a:p>
                  </a:txBody>
                  <a:tcPr/>
                </a:tc>
                <a:tc>
                  <a:txBody>
                    <a:bodyPr/>
                    <a:lstStyle/>
                    <a:p>
                      <a:pPr algn="ctr">
                        <a:defRPr sz="1400">
                          <a:solidFill>
                            <a:srgbClr val="424242"/>
                          </a:solidFill>
                        </a:defRPr>
                      </a:pPr>
                      <a:r>
                        <a:t>$150,000</a:t>
                      </a:r>
                    </a:p>
                  </a:txBody>
                  <a:tcPr/>
                </a:tc>
                <a:tc>
                  <a:txBody>
                    <a:bodyPr/>
                    <a:lstStyle/>
                    <a:p>
                      <a:pPr algn="ctr">
                        <a:defRPr sz="1400">
                          <a:solidFill>
                            <a:srgbClr val="424242"/>
                          </a:solidFill>
                        </a:defRPr>
                      </a:pPr>
                      <a:r>
                        <a:t>$750,000</a:t>
                      </a:r>
                    </a:p>
                  </a:txBody>
                  <a:tcPr/>
                </a:tc>
                <a:extLst>
                  <a:ext uri="{0D108BD9-81ED-4DB2-BD59-A6C34878D82A}">
                    <a16:rowId xmlns:a16="http://schemas.microsoft.com/office/drawing/2014/main" val="10002"/>
                  </a:ext>
                </a:extLst>
              </a:tr>
              <a:tr h="457200">
                <a:tc>
                  <a:txBody>
                    <a:bodyPr/>
                    <a:lstStyle/>
                    <a:p>
                      <a:pPr algn="ctr">
                        <a:defRPr sz="1400">
                          <a:solidFill>
                            <a:srgbClr val="424242"/>
                          </a:solidFill>
                        </a:defRPr>
                      </a:pPr>
                      <a:r>
                        <a:t>Technology advisory</a:t>
                      </a:r>
                    </a:p>
                  </a:txBody>
                  <a:tcPr>
                    <a:solidFill>
                      <a:srgbClr val="F5F5F5"/>
                    </a:solidFill>
                  </a:tcPr>
                </a:tc>
                <a:tc>
                  <a:txBody>
                    <a:bodyPr/>
                    <a:lstStyle/>
                    <a:p>
                      <a:pPr algn="ctr">
                        <a:defRPr sz="1400">
                          <a:solidFill>
                            <a:srgbClr val="424242"/>
                          </a:solidFill>
                        </a:defRPr>
                      </a:pPr>
                      <a:r>
                        <a:t>$800,000</a:t>
                      </a:r>
                    </a:p>
                  </a:txBody>
                  <a:tcPr>
                    <a:solidFill>
                      <a:srgbClr val="F5F5F5"/>
                    </a:solidFill>
                  </a:tcPr>
                </a:tc>
                <a:tc>
                  <a:txBody>
                    <a:bodyPr/>
                    <a:lstStyle/>
                    <a:p>
                      <a:pPr algn="ctr">
                        <a:defRPr sz="1400">
                          <a:solidFill>
                            <a:srgbClr val="424242"/>
                          </a:solidFill>
                        </a:defRPr>
                      </a:pPr>
                      <a:r>
                        <a:t>$100,000</a:t>
                      </a:r>
                    </a:p>
                  </a:txBody>
                  <a:tcPr>
                    <a:solidFill>
                      <a:srgbClr val="F5F5F5"/>
                    </a:solidFill>
                  </a:tcPr>
                </a:tc>
                <a:tc>
                  <a:txBody>
                    <a:bodyPr/>
                    <a:lstStyle/>
                    <a:p>
                      <a:pPr algn="ctr">
                        <a:defRPr sz="1400">
                          <a:solidFill>
                            <a:srgbClr val="424242"/>
                          </a:solidFill>
                        </a:defRPr>
                      </a:pPr>
                      <a:r>
                        <a:t>$700,000</a:t>
                      </a:r>
                    </a:p>
                  </a:txBody>
                  <a:tcPr>
                    <a:solidFill>
                      <a:srgbClr val="F5F5F5"/>
                    </a:solidFill>
                  </a:tcPr>
                </a:tc>
                <a:extLst>
                  <a:ext uri="{0D108BD9-81ED-4DB2-BD59-A6C34878D82A}">
                    <a16:rowId xmlns:a16="http://schemas.microsoft.com/office/drawing/2014/main" val="10003"/>
                  </a:ext>
                </a:extLst>
              </a:tr>
              <a:tr h="457200">
                <a:tc>
                  <a:txBody>
                    <a:bodyPr/>
                    <a:lstStyle/>
                    <a:p>
                      <a:pPr algn="ctr">
                        <a:defRPr sz="1400">
                          <a:solidFill>
                            <a:srgbClr val="424242"/>
                          </a:solidFill>
                        </a:defRPr>
                      </a:pPr>
                      <a:r>
                        <a:t>Internal analyst support</a:t>
                      </a:r>
                    </a:p>
                  </a:txBody>
                  <a:tcPr/>
                </a:tc>
                <a:tc>
                  <a:txBody>
                    <a:bodyPr/>
                    <a:lstStyle/>
                    <a:p>
                      <a:pPr algn="ctr">
                        <a:defRPr sz="1400">
                          <a:solidFill>
                            <a:srgbClr val="424242"/>
                          </a:solidFill>
                        </a:defRPr>
                      </a:pPr>
                      <a:r>
                        <a:t>$450,000</a:t>
                      </a:r>
                    </a:p>
                  </a:txBody>
                  <a:tcPr/>
                </a:tc>
                <a:tc>
                  <a:txBody>
                    <a:bodyPr/>
                    <a:lstStyle/>
                    <a:p>
                      <a:pPr algn="ctr">
                        <a:defRPr sz="1400">
                          <a:solidFill>
                            <a:srgbClr val="424242"/>
                          </a:solidFill>
                        </a:defRPr>
                      </a:pPr>
                      <a:r>
                        <a:t>$225,000</a:t>
                      </a:r>
                    </a:p>
                  </a:txBody>
                  <a:tcPr/>
                </a:tc>
                <a:tc>
                  <a:txBody>
                    <a:bodyPr/>
                    <a:lstStyle/>
                    <a:p>
                      <a:pPr algn="ctr">
                        <a:defRPr sz="1400">
                          <a:solidFill>
                            <a:srgbClr val="424242"/>
                          </a:solidFill>
                        </a:defRPr>
                      </a:pPr>
                      <a:r>
                        <a:t>$225,000</a:t>
                      </a:r>
                    </a:p>
                  </a:txBody>
                  <a:tcPr/>
                </a:tc>
                <a:extLst>
                  <a:ext uri="{0D108BD9-81ED-4DB2-BD59-A6C34878D82A}">
                    <a16:rowId xmlns:a16="http://schemas.microsoft.com/office/drawing/2014/main" val="10004"/>
                  </a:ext>
                </a:extLst>
              </a:tr>
              <a:tr h="457200">
                <a:tc>
                  <a:txBody>
                    <a:bodyPr/>
                    <a:lstStyle/>
                    <a:p>
                      <a:pPr algn="ctr">
                        <a:defRPr sz="1400">
                          <a:solidFill>
                            <a:srgbClr val="424242"/>
                          </a:solidFill>
                        </a:defRPr>
                      </a:pPr>
                      <a:r>
                        <a:t>Agent9 platform</a:t>
                      </a:r>
                    </a:p>
                  </a:txBody>
                  <a:tcPr>
                    <a:solidFill>
                      <a:srgbClr val="F5F5F5"/>
                    </a:solidFill>
                  </a:tcPr>
                </a:tc>
                <a:tc>
                  <a:txBody>
                    <a:bodyPr/>
                    <a:lstStyle/>
                    <a:p>
                      <a:pPr algn="ctr">
                        <a:defRPr sz="1400">
                          <a:solidFill>
                            <a:srgbClr val="424242"/>
                          </a:solidFill>
                        </a:defRPr>
                      </a:pPr>
                      <a:r>
                        <a:t>$0</a:t>
                      </a:r>
                    </a:p>
                  </a:txBody>
                  <a:tcPr>
                    <a:solidFill>
                      <a:srgbClr val="F5F5F5"/>
                    </a:solidFill>
                  </a:tcPr>
                </a:tc>
                <a:tc>
                  <a:txBody>
                    <a:bodyPr/>
                    <a:lstStyle/>
                    <a:p>
                      <a:pPr algn="ctr">
                        <a:defRPr sz="1400">
                          <a:solidFill>
                            <a:srgbClr val="424242"/>
                          </a:solidFill>
                        </a:defRPr>
                      </a:pPr>
                      <a:r>
                        <a:t>$180,000</a:t>
                      </a:r>
                    </a:p>
                  </a:txBody>
                  <a:tcPr>
                    <a:solidFill>
                      <a:srgbClr val="F5F5F5"/>
                    </a:solidFill>
                  </a:tcPr>
                </a:tc>
                <a:tc>
                  <a:txBody>
                    <a:bodyPr/>
                    <a:lstStyle/>
                    <a:p>
                      <a:pPr algn="ctr">
                        <a:defRPr sz="1400">
                          <a:solidFill>
                            <a:srgbClr val="424242"/>
                          </a:solidFill>
                        </a:defRPr>
                      </a:pPr>
                      <a:r>
                        <a:t>($180,000)</a:t>
                      </a:r>
                    </a:p>
                  </a:txBody>
                  <a:tcPr>
                    <a:solidFill>
                      <a:srgbClr val="F5F5F5"/>
                    </a:solidFill>
                  </a:tcPr>
                </a:tc>
                <a:extLst>
                  <a:ext uri="{0D108BD9-81ED-4DB2-BD59-A6C34878D82A}">
                    <a16:rowId xmlns:a16="http://schemas.microsoft.com/office/drawing/2014/main" val="10005"/>
                  </a:ext>
                </a:extLst>
              </a:tr>
              <a:tr h="457200">
                <a:tc>
                  <a:txBody>
                    <a:bodyPr/>
                    <a:lstStyle/>
                    <a:p>
                      <a:pPr algn="ctr">
                        <a:defRPr sz="1400">
                          <a:solidFill>
                            <a:srgbClr val="424242"/>
                          </a:solidFill>
                        </a:defRPr>
                      </a:pPr>
                      <a:r>
                        <a:t>Agent9 usage</a:t>
                      </a:r>
                    </a:p>
                  </a:txBody>
                  <a:tcPr/>
                </a:tc>
                <a:tc>
                  <a:txBody>
                    <a:bodyPr/>
                    <a:lstStyle/>
                    <a:p>
                      <a:pPr algn="ctr">
                        <a:defRPr sz="1400">
                          <a:solidFill>
                            <a:srgbClr val="424242"/>
                          </a:solidFill>
                        </a:defRPr>
                      </a:pPr>
                      <a:r>
                        <a:t>$0</a:t>
                      </a:r>
                    </a:p>
                  </a:txBody>
                  <a:tcPr/>
                </a:tc>
                <a:tc>
                  <a:txBody>
                    <a:bodyPr/>
                    <a:lstStyle/>
                    <a:p>
                      <a:pPr algn="ctr">
                        <a:defRPr sz="1400">
                          <a:solidFill>
                            <a:srgbClr val="424242"/>
                          </a:solidFill>
                        </a:defRPr>
                      </a:pPr>
                      <a:r>
                        <a:t>$120,000</a:t>
                      </a:r>
                    </a:p>
                  </a:txBody>
                  <a:tcPr/>
                </a:tc>
                <a:tc>
                  <a:txBody>
                    <a:bodyPr/>
                    <a:lstStyle/>
                    <a:p>
                      <a:pPr algn="ctr">
                        <a:defRPr sz="1400">
                          <a:solidFill>
                            <a:srgbClr val="424242"/>
                          </a:solidFill>
                        </a:defRPr>
                      </a:pPr>
                      <a:r>
                        <a:t>($120,000)</a:t>
                      </a:r>
                    </a:p>
                  </a:txBody>
                  <a:tcPr/>
                </a:tc>
                <a:extLst>
                  <a:ext uri="{0D108BD9-81ED-4DB2-BD59-A6C34878D82A}">
                    <a16:rowId xmlns:a16="http://schemas.microsoft.com/office/drawing/2014/main" val="10006"/>
                  </a:ext>
                </a:extLst>
              </a:tr>
              <a:tr h="457200">
                <a:tc>
                  <a:txBody>
                    <a:bodyPr/>
                    <a:lstStyle/>
                    <a:p>
                      <a:pPr algn="ctr">
                        <a:defRPr sz="1400">
                          <a:solidFill>
                            <a:srgbClr val="424242"/>
                          </a:solidFill>
                        </a:defRPr>
                      </a:pPr>
                      <a:r>
                        <a:t>TOTAL</a:t>
                      </a:r>
                    </a:p>
                  </a:txBody>
                  <a:tcPr>
                    <a:solidFill>
                      <a:srgbClr val="F5F5F5"/>
                    </a:solidFill>
                  </a:tcPr>
                </a:tc>
                <a:tc>
                  <a:txBody>
                    <a:bodyPr/>
                    <a:lstStyle/>
                    <a:p>
                      <a:pPr algn="ctr">
                        <a:defRPr sz="1400">
                          <a:solidFill>
                            <a:srgbClr val="424242"/>
                          </a:solidFill>
                        </a:defRPr>
                      </a:pPr>
                      <a:r>
                        <a:t>$3,150,000</a:t>
                      </a:r>
                    </a:p>
                  </a:txBody>
                  <a:tcPr>
                    <a:solidFill>
                      <a:srgbClr val="F5F5F5"/>
                    </a:solidFill>
                  </a:tcPr>
                </a:tc>
                <a:tc>
                  <a:txBody>
                    <a:bodyPr/>
                    <a:lstStyle/>
                    <a:p>
                      <a:pPr algn="ctr">
                        <a:defRPr sz="1400">
                          <a:solidFill>
                            <a:srgbClr val="424242"/>
                          </a:solidFill>
                        </a:defRPr>
                      </a:pPr>
                      <a:r>
                        <a:t>$975,000</a:t>
                      </a:r>
                    </a:p>
                  </a:txBody>
                  <a:tcPr>
                    <a:solidFill>
                      <a:srgbClr val="F5F5F5"/>
                    </a:solidFill>
                  </a:tcPr>
                </a:tc>
                <a:tc>
                  <a:txBody>
                    <a:bodyPr/>
                    <a:lstStyle/>
                    <a:p>
                      <a:pPr algn="ctr">
                        <a:defRPr sz="1400">
                          <a:solidFill>
                            <a:srgbClr val="424242"/>
                          </a:solidFill>
                        </a:defRPr>
                      </a:pPr>
                      <a:r>
                        <a:t>$2,175,000</a:t>
                      </a:r>
                    </a:p>
                  </a:txBody>
                  <a:tcPr>
                    <a:solidFill>
                      <a:srgbClr val="F5F5F5"/>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Appendix B: Partner Revenue Model</a:t>
            </a:r>
          </a:p>
        </p:txBody>
      </p:sp>
      <p:graphicFrame>
        <p:nvGraphicFramePr>
          <p:cNvPr id="4" name="Table 3"/>
          <p:cNvGraphicFramePr>
            <a:graphicFrameLocks noGrp="1"/>
          </p:cNvGraphicFramePr>
          <p:nvPr/>
        </p:nvGraphicFramePr>
        <p:xfrm>
          <a:off x="457200" y="1463040"/>
          <a:ext cx="8229600" cy="27432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57200">
                <a:tc>
                  <a:txBody>
                    <a:bodyPr/>
                    <a:lstStyle/>
                    <a:p>
                      <a:pPr algn="ctr">
                        <a:defRPr sz="1600" b="1">
                          <a:solidFill>
                            <a:srgbClr val="FFFFFF"/>
                          </a:solidFill>
                        </a:defRPr>
                      </a:pPr>
                      <a:r>
                        <a:t>Revenue Source</a:t>
                      </a:r>
                    </a:p>
                  </a:txBody>
                  <a:tcPr>
                    <a:solidFill>
                      <a:srgbClr val="1A365D"/>
                    </a:solidFill>
                  </a:tcPr>
                </a:tc>
                <a:tc>
                  <a:txBody>
                    <a:bodyPr/>
                    <a:lstStyle/>
                    <a:p>
                      <a:pPr algn="ctr">
                        <a:defRPr sz="1600" b="1">
                          <a:solidFill>
                            <a:srgbClr val="FFFFFF"/>
                          </a:solidFill>
                        </a:defRPr>
                      </a:pPr>
                      <a:r>
                        <a:t>Partner Share</a:t>
                      </a:r>
                    </a:p>
                  </a:txBody>
                  <a:tcPr>
                    <a:solidFill>
                      <a:srgbClr val="1A365D"/>
                    </a:solidFill>
                  </a:tcPr>
                </a:tc>
                <a:tc>
                  <a:txBody>
                    <a:bodyPr/>
                    <a:lstStyle/>
                    <a:p>
                      <a:pPr algn="ctr">
                        <a:defRPr sz="1600" b="1">
                          <a:solidFill>
                            <a:srgbClr val="FFFFFF"/>
                          </a:solidFill>
                        </a:defRPr>
                      </a:pPr>
                      <a:r>
                        <a:t>Year 1 Example</a:t>
                      </a:r>
                    </a:p>
                  </a:txBody>
                  <a:tcPr>
                    <a:solidFill>
                      <a:srgbClr val="1A365D"/>
                    </a:solidFill>
                  </a:tcPr>
                </a:tc>
                <a:extLst>
                  <a:ext uri="{0D108BD9-81ED-4DB2-BD59-A6C34878D82A}">
                    <a16:rowId xmlns:a16="http://schemas.microsoft.com/office/drawing/2014/main" val="10000"/>
                  </a:ext>
                </a:extLst>
              </a:tr>
              <a:tr h="457200">
                <a:tc>
                  <a:txBody>
                    <a:bodyPr/>
                    <a:lstStyle/>
                    <a:p>
                      <a:pPr algn="ctr">
                        <a:defRPr sz="1400">
                          <a:solidFill>
                            <a:srgbClr val="424242"/>
                          </a:solidFill>
                        </a:defRPr>
                      </a:pPr>
                      <a:r>
                        <a:t>Agent subscription fees</a:t>
                      </a:r>
                    </a:p>
                  </a:txBody>
                  <a:tcPr>
                    <a:solidFill>
                      <a:srgbClr val="F5F5F5"/>
                    </a:solidFill>
                  </a:tcPr>
                </a:tc>
                <a:tc>
                  <a:txBody>
                    <a:bodyPr/>
                    <a:lstStyle/>
                    <a:p>
                      <a:pPr algn="ctr">
                        <a:defRPr sz="1400">
                          <a:solidFill>
                            <a:srgbClr val="424242"/>
                          </a:solidFill>
                        </a:defRPr>
                      </a:pPr>
                      <a:r>
                        <a:t>70-85%</a:t>
                      </a:r>
                    </a:p>
                  </a:txBody>
                  <a:tcPr>
                    <a:solidFill>
                      <a:srgbClr val="F5F5F5"/>
                    </a:solidFill>
                  </a:tcPr>
                </a:tc>
                <a:tc>
                  <a:txBody>
                    <a:bodyPr/>
                    <a:lstStyle/>
                    <a:p>
                      <a:pPr algn="ctr">
                        <a:defRPr sz="1400">
                          <a:solidFill>
                            <a:srgbClr val="424242"/>
                          </a:solidFill>
                        </a:defRPr>
                      </a:pPr>
                      <a:r>
                        <a:t>$350,000</a:t>
                      </a:r>
                    </a:p>
                  </a:txBody>
                  <a:tcPr>
                    <a:solidFill>
                      <a:srgbClr val="F5F5F5"/>
                    </a:solidFill>
                  </a:tcPr>
                </a:tc>
                <a:extLst>
                  <a:ext uri="{0D108BD9-81ED-4DB2-BD59-A6C34878D82A}">
                    <a16:rowId xmlns:a16="http://schemas.microsoft.com/office/drawing/2014/main" val="10001"/>
                  </a:ext>
                </a:extLst>
              </a:tr>
              <a:tr h="457200">
                <a:tc>
                  <a:txBody>
                    <a:bodyPr/>
                    <a:lstStyle/>
                    <a:p>
                      <a:pPr algn="ctr">
                        <a:defRPr sz="1400">
                          <a:solidFill>
                            <a:srgbClr val="424242"/>
                          </a:solidFill>
                        </a:defRPr>
                      </a:pPr>
                      <a:r>
                        <a:t>Per-debate transaction fees</a:t>
                      </a:r>
                    </a:p>
                  </a:txBody>
                  <a:tcPr/>
                </a:tc>
                <a:tc>
                  <a:txBody>
                    <a:bodyPr/>
                    <a:lstStyle/>
                    <a:p>
                      <a:pPr algn="ctr">
                        <a:defRPr sz="1400">
                          <a:solidFill>
                            <a:srgbClr val="424242"/>
                          </a:solidFill>
                        </a:defRPr>
                      </a:pPr>
                      <a:r>
                        <a:t>60-75%</a:t>
                      </a:r>
                    </a:p>
                  </a:txBody>
                  <a:tcPr/>
                </a:tc>
                <a:tc>
                  <a:txBody>
                    <a:bodyPr/>
                    <a:lstStyle/>
                    <a:p>
                      <a:pPr algn="ctr">
                        <a:defRPr sz="1400">
                          <a:solidFill>
                            <a:srgbClr val="424242"/>
                          </a:solidFill>
                        </a:defRPr>
                      </a:pPr>
                      <a:r>
                        <a:t>$150,000</a:t>
                      </a:r>
                    </a:p>
                  </a:txBody>
                  <a:tcPr/>
                </a:tc>
                <a:extLst>
                  <a:ext uri="{0D108BD9-81ED-4DB2-BD59-A6C34878D82A}">
                    <a16:rowId xmlns:a16="http://schemas.microsoft.com/office/drawing/2014/main" val="10002"/>
                  </a:ext>
                </a:extLst>
              </a:tr>
              <a:tr h="457200">
                <a:tc>
                  <a:txBody>
                    <a:bodyPr/>
                    <a:lstStyle/>
                    <a:p>
                      <a:pPr algn="ctr">
                        <a:defRPr sz="1400">
                          <a:solidFill>
                            <a:srgbClr val="424242"/>
                          </a:solidFill>
                        </a:defRPr>
                      </a:pPr>
                      <a:r>
                        <a:t>Data onboarding (passive)</a:t>
                      </a:r>
                    </a:p>
                  </a:txBody>
                  <a:tcPr>
                    <a:solidFill>
                      <a:srgbClr val="F5F5F5"/>
                    </a:solidFill>
                  </a:tcPr>
                </a:tc>
                <a:tc>
                  <a:txBody>
                    <a:bodyPr/>
                    <a:lstStyle/>
                    <a:p>
                      <a:pPr algn="ctr">
                        <a:defRPr sz="1400">
                          <a:solidFill>
                            <a:srgbClr val="424242"/>
                          </a:solidFill>
                        </a:defRPr>
                      </a:pPr>
                      <a:r>
                        <a:t>10-15%</a:t>
                      </a:r>
                    </a:p>
                  </a:txBody>
                  <a:tcPr>
                    <a:solidFill>
                      <a:srgbClr val="F5F5F5"/>
                    </a:solidFill>
                  </a:tcPr>
                </a:tc>
                <a:tc>
                  <a:txBody>
                    <a:bodyPr/>
                    <a:lstStyle/>
                    <a:p>
                      <a:pPr algn="ctr">
                        <a:defRPr sz="1400">
                          <a:solidFill>
                            <a:srgbClr val="424242"/>
                          </a:solidFill>
                        </a:defRPr>
                      </a:pPr>
                      <a:r>
                        <a:t>$50,000</a:t>
                      </a:r>
                    </a:p>
                  </a:txBody>
                  <a:tcPr>
                    <a:solidFill>
                      <a:srgbClr val="F5F5F5"/>
                    </a:solidFill>
                  </a:tcPr>
                </a:tc>
                <a:extLst>
                  <a:ext uri="{0D108BD9-81ED-4DB2-BD59-A6C34878D82A}">
                    <a16:rowId xmlns:a16="http://schemas.microsoft.com/office/drawing/2014/main" val="10003"/>
                  </a:ext>
                </a:extLst>
              </a:tr>
              <a:tr h="457200">
                <a:tc>
                  <a:txBody>
                    <a:bodyPr/>
                    <a:lstStyle/>
                    <a:p>
                      <a:pPr algn="ctr">
                        <a:defRPr sz="1400">
                          <a:solidFill>
                            <a:srgbClr val="424242"/>
                          </a:solidFill>
                        </a:defRPr>
                      </a:pPr>
                      <a:r>
                        <a:t>Human engagement upsells</a:t>
                      </a:r>
                    </a:p>
                  </a:txBody>
                  <a:tcPr/>
                </a:tc>
                <a:tc>
                  <a:txBody>
                    <a:bodyPr/>
                    <a:lstStyle/>
                    <a:p>
                      <a:pPr algn="ctr">
                        <a:defRPr sz="1400">
                          <a:solidFill>
                            <a:srgbClr val="424242"/>
                          </a:solidFill>
                        </a:defRPr>
                      </a:pPr>
                      <a:r>
                        <a:t>100%</a:t>
                      </a:r>
                    </a:p>
                  </a:txBody>
                  <a:tcPr/>
                </a:tc>
                <a:tc>
                  <a:txBody>
                    <a:bodyPr/>
                    <a:lstStyle/>
                    <a:p>
                      <a:pPr algn="ctr">
                        <a:defRPr sz="1400">
                          <a:solidFill>
                            <a:srgbClr val="424242"/>
                          </a:solidFill>
                        </a:defRPr>
                      </a:pPr>
                      <a:r>
                        <a:t>$500,000</a:t>
                      </a:r>
                    </a:p>
                  </a:txBody>
                  <a:tcPr/>
                </a:tc>
                <a:extLst>
                  <a:ext uri="{0D108BD9-81ED-4DB2-BD59-A6C34878D82A}">
                    <a16:rowId xmlns:a16="http://schemas.microsoft.com/office/drawing/2014/main" val="10004"/>
                  </a:ext>
                </a:extLst>
              </a:tr>
              <a:tr h="457200">
                <a:tc>
                  <a:txBody>
                    <a:bodyPr/>
                    <a:lstStyle/>
                    <a:p>
                      <a:pPr algn="ctr">
                        <a:defRPr sz="1400">
                          <a:solidFill>
                            <a:srgbClr val="424242"/>
                          </a:solidFill>
                        </a:defRPr>
                      </a:pPr>
                      <a:r>
                        <a:t>TOTAL</a:t>
                      </a:r>
                    </a:p>
                  </a:txBody>
                  <a:tcPr>
                    <a:solidFill>
                      <a:srgbClr val="F5F5F5"/>
                    </a:solidFill>
                  </a:tcPr>
                </a:tc>
                <a:tc>
                  <a:txBody>
                    <a:bodyPr/>
                    <a:lstStyle/>
                    <a:p>
                      <a:pPr algn="ctr">
                        <a:defRPr sz="1400">
                          <a:solidFill>
                            <a:srgbClr val="424242"/>
                          </a:solidFill>
                        </a:defRPr>
                      </a:pPr>
                      <a:endParaRPr/>
                    </a:p>
                  </a:txBody>
                  <a:tcPr>
                    <a:solidFill>
                      <a:srgbClr val="F5F5F5"/>
                    </a:solidFill>
                  </a:tcPr>
                </a:tc>
                <a:tc>
                  <a:txBody>
                    <a:bodyPr/>
                    <a:lstStyle/>
                    <a:p>
                      <a:pPr algn="ctr">
                        <a:defRPr sz="1400">
                          <a:solidFill>
                            <a:srgbClr val="424242"/>
                          </a:solidFill>
                        </a:defRPr>
                      </a:pPr>
                      <a:r>
                        <a:t>$1,050,000</a:t>
                      </a:r>
                    </a:p>
                  </a:txBody>
                  <a:tcPr>
                    <a:solidFill>
                      <a:srgbClr val="F5F5F5"/>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48640"/>
          </a:xfrm>
          <a:prstGeom prst="rect">
            <a:avLst/>
          </a:prstGeom>
          <a:noFill/>
        </p:spPr>
        <p:txBody>
          <a:bodyPr wrap="none">
            <a:spAutoFit/>
          </a:bodyPr>
          <a:lstStyle/>
          <a:p>
            <a:pPr>
              <a:defRPr sz="3200" b="1">
                <a:solidFill>
                  <a:srgbClr val="FFFFFF"/>
                </a:solidFill>
              </a:defRPr>
            </a:pPr>
            <a:r>
              <a:t>Appendix C: Competitive Feature Matrix</a:t>
            </a:r>
          </a:p>
        </p:txBody>
      </p:sp>
      <p:graphicFrame>
        <p:nvGraphicFramePr>
          <p:cNvPr id="4" name="Table 3"/>
          <p:cNvGraphicFramePr>
            <a:graphicFrameLocks noGrp="1"/>
          </p:cNvGraphicFramePr>
          <p:nvPr/>
        </p:nvGraphicFramePr>
        <p:xfrm>
          <a:off x="457200" y="1463040"/>
          <a:ext cx="8229600" cy="32004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457200">
                <a:tc>
                  <a:txBody>
                    <a:bodyPr/>
                    <a:lstStyle/>
                    <a:p>
                      <a:pPr algn="ctr">
                        <a:defRPr sz="1600" b="1">
                          <a:solidFill>
                            <a:srgbClr val="FFFFFF"/>
                          </a:solidFill>
                        </a:defRPr>
                      </a:pPr>
                      <a:r>
                        <a:t>Feature</a:t>
                      </a:r>
                    </a:p>
                  </a:txBody>
                  <a:tcPr>
                    <a:solidFill>
                      <a:srgbClr val="1A365D"/>
                    </a:solidFill>
                  </a:tcPr>
                </a:tc>
                <a:tc>
                  <a:txBody>
                    <a:bodyPr/>
                    <a:lstStyle/>
                    <a:p>
                      <a:pPr algn="ctr">
                        <a:defRPr sz="1600" b="1">
                          <a:solidFill>
                            <a:srgbClr val="FFFFFF"/>
                          </a:solidFill>
                        </a:defRPr>
                      </a:pPr>
                      <a:r>
                        <a:t>Agent9</a:t>
                      </a:r>
                    </a:p>
                  </a:txBody>
                  <a:tcPr>
                    <a:solidFill>
                      <a:srgbClr val="1A365D"/>
                    </a:solidFill>
                  </a:tcPr>
                </a:tc>
                <a:tc>
                  <a:txBody>
                    <a:bodyPr/>
                    <a:lstStyle/>
                    <a:p>
                      <a:pPr algn="ctr">
                        <a:defRPr sz="1600" b="1">
                          <a:solidFill>
                            <a:srgbClr val="FFFFFF"/>
                          </a:solidFill>
                        </a:defRPr>
                      </a:pPr>
                      <a:r>
                        <a:t>McKinsey</a:t>
                      </a:r>
                    </a:p>
                  </a:txBody>
                  <a:tcPr>
                    <a:solidFill>
                      <a:srgbClr val="1A365D"/>
                    </a:solidFill>
                  </a:tcPr>
                </a:tc>
                <a:tc>
                  <a:txBody>
                    <a:bodyPr/>
                    <a:lstStyle/>
                    <a:p>
                      <a:pPr algn="ctr">
                        <a:defRPr sz="1600" b="1">
                          <a:solidFill>
                            <a:srgbClr val="FFFFFF"/>
                          </a:solidFill>
                        </a:defRPr>
                      </a:pPr>
                      <a:r>
                        <a:t>ChatGPT</a:t>
                      </a:r>
                    </a:p>
                  </a:txBody>
                  <a:tcPr>
                    <a:solidFill>
                      <a:srgbClr val="1A365D"/>
                    </a:solidFill>
                  </a:tcPr>
                </a:tc>
                <a:tc>
                  <a:txBody>
                    <a:bodyPr/>
                    <a:lstStyle/>
                    <a:p>
                      <a:pPr algn="ctr">
                        <a:defRPr sz="1600" b="1">
                          <a:solidFill>
                            <a:srgbClr val="FFFFFF"/>
                          </a:solidFill>
                        </a:defRPr>
                      </a:pPr>
                      <a:r>
                        <a:t>Palantir</a:t>
                      </a:r>
                    </a:p>
                  </a:txBody>
                  <a:tcPr>
                    <a:solidFill>
                      <a:srgbClr val="1A365D"/>
                    </a:solidFill>
                  </a:tcPr>
                </a:tc>
                <a:extLst>
                  <a:ext uri="{0D108BD9-81ED-4DB2-BD59-A6C34878D82A}">
                    <a16:rowId xmlns:a16="http://schemas.microsoft.com/office/drawing/2014/main" val="10000"/>
                  </a:ext>
                </a:extLst>
              </a:tr>
              <a:tr h="457200">
                <a:tc>
                  <a:txBody>
                    <a:bodyPr/>
                    <a:lstStyle/>
                    <a:p>
                      <a:pPr algn="ctr">
                        <a:defRPr sz="1400">
                          <a:solidFill>
                            <a:srgbClr val="424242"/>
                          </a:solidFill>
                        </a:defRPr>
                      </a:pPr>
                      <a:r>
                        <a:t>Strategic expertise</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extLst>
                  <a:ext uri="{0D108BD9-81ED-4DB2-BD59-A6C34878D82A}">
                    <a16:rowId xmlns:a16="http://schemas.microsoft.com/office/drawing/2014/main" val="10001"/>
                  </a:ext>
                </a:extLst>
              </a:tr>
              <a:tr h="457200">
                <a:tc>
                  <a:txBody>
                    <a:bodyPr/>
                    <a:lstStyle/>
                    <a:p>
                      <a:pPr algn="ctr">
                        <a:defRPr sz="1400">
                          <a:solidFill>
                            <a:srgbClr val="424242"/>
                          </a:solidFill>
                        </a:defRPr>
                      </a:pPr>
                      <a:r>
                        <a:t>On-demand (24/7)</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extLst>
                  <a:ext uri="{0D108BD9-81ED-4DB2-BD59-A6C34878D82A}">
                    <a16:rowId xmlns:a16="http://schemas.microsoft.com/office/drawing/2014/main" val="10002"/>
                  </a:ext>
                </a:extLst>
              </a:tr>
              <a:tr h="457200">
                <a:tc>
                  <a:txBody>
                    <a:bodyPr/>
                    <a:lstStyle/>
                    <a:p>
                      <a:pPr algn="ctr">
                        <a:defRPr sz="1400">
                          <a:solidFill>
                            <a:srgbClr val="424242"/>
                          </a:solidFill>
                        </a:defRPr>
                      </a:pPr>
                      <a:r>
                        <a:t>Multi-agent debate</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extLst>
                  <a:ext uri="{0D108BD9-81ED-4DB2-BD59-A6C34878D82A}">
                    <a16:rowId xmlns:a16="http://schemas.microsoft.com/office/drawing/2014/main" val="10003"/>
                  </a:ext>
                </a:extLst>
              </a:tr>
              <a:tr h="457200">
                <a:tc>
                  <a:txBody>
                    <a:bodyPr/>
                    <a:lstStyle/>
                    <a:p>
                      <a:pPr algn="ctr">
                        <a:defRPr sz="1400">
                          <a:solidFill>
                            <a:srgbClr val="424242"/>
                          </a:solidFill>
                        </a:defRPr>
                      </a:pPr>
                      <a:r>
                        <a:t>Full audit trail</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tc>
                  <a:txBody>
                    <a:bodyPr/>
                    <a:lstStyle/>
                    <a:p>
                      <a:pPr algn="ctr">
                        <a:defRPr sz="1400">
                          <a:solidFill>
                            <a:srgbClr val="424242"/>
                          </a:solidFill>
                        </a:defRPr>
                      </a:pPr>
                      <a:r>
                        <a:t>⚠️</a:t>
                      </a:r>
                    </a:p>
                  </a:txBody>
                  <a:tcPr/>
                </a:tc>
                <a:extLst>
                  <a:ext uri="{0D108BD9-81ED-4DB2-BD59-A6C34878D82A}">
                    <a16:rowId xmlns:a16="http://schemas.microsoft.com/office/drawing/2014/main" val="10004"/>
                  </a:ext>
                </a:extLst>
              </a:tr>
              <a:tr h="457200">
                <a:tc>
                  <a:txBody>
                    <a:bodyPr/>
                    <a:lstStyle/>
                    <a:p>
                      <a:pPr algn="ctr">
                        <a:defRPr sz="1400">
                          <a:solidFill>
                            <a:srgbClr val="424242"/>
                          </a:solidFill>
                        </a:defRPr>
                      </a:pPr>
                      <a:r>
                        <a:t>Enterprise data</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tc>
                  <a:txBody>
                    <a:bodyPr/>
                    <a:lstStyle/>
                    <a:p>
                      <a:pPr algn="ctr">
                        <a:defRPr sz="1400">
                          <a:solidFill>
                            <a:srgbClr val="424242"/>
                          </a:solidFill>
                        </a:defRPr>
                      </a:pPr>
                      <a:r>
                        <a:t>✅</a:t>
                      </a:r>
                    </a:p>
                  </a:txBody>
                  <a:tcPr>
                    <a:solidFill>
                      <a:srgbClr val="F5F5F5"/>
                    </a:solidFill>
                  </a:tcPr>
                </a:tc>
                <a:extLst>
                  <a:ext uri="{0D108BD9-81ED-4DB2-BD59-A6C34878D82A}">
                    <a16:rowId xmlns:a16="http://schemas.microsoft.com/office/drawing/2014/main" val="10005"/>
                  </a:ext>
                </a:extLst>
              </a:tr>
              <a:tr h="457200">
                <a:tc>
                  <a:txBody>
                    <a:bodyPr/>
                    <a:lstStyle/>
                    <a:p>
                      <a:pPr algn="ctr">
                        <a:defRPr sz="1400">
                          <a:solidFill>
                            <a:srgbClr val="424242"/>
                          </a:solidFill>
                        </a:defRPr>
                      </a:pPr>
                      <a:r>
                        <a:t>Cost per insight</a:t>
                      </a:r>
                    </a:p>
                  </a:txBody>
                  <a:tcPr/>
                </a:tc>
                <a:tc>
                  <a:txBody>
                    <a:bodyPr/>
                    <a:lstStyle/>
                    <a:p>
                      <a:pPr algn="ctr">
                        <a:defRPr sz="1400">
                          <a:solidFill>
                            <a:srgbClr val="424242"/>
                          </a:solidFill>
                        </a:defRPr>
                      </a:pPr>
                      <a:r>
                        <a:t>$100-500</a:t>
                      </a:r>
                    </a:p>
                  </a:txBody>
                  <a:tcPr/>
                </a:tc>
                <a:tc>
                  <a:txBody>
                    <a:bodyPr/>
                    <a:lstStyle/>
                    <a:p>
                      <a:pPr algn="ctr">
                        <a:defRPr sz="1400">
                          <a:solidFill>
                            <a:srgbClr val="424242"/>
                          </a:solidFill>
                        </a:defRPr>
                      </a:pPr>
                      <a:r>
                        <a:t>$50K+</a:t>
                      </a:r>
                    </a:p>
                  </a:txBody>
                  <a:tcPr/>
                </a:tc>
                <a:tc>
                  <a:txBody>
                    <a:bodyPr/>
                    <a:lstStyle/>
                    <a:p>
                      <a:pPr algn="ctr">
                        <a:defRPr sz="1400">
                          <a:solidFill>
                            <a:srgbClr val="424242"/>
                          </a:solidFill>
                        </a:defRPr>
                      </a:pPr>
                      <a:r>
                        <a:t>$0.10</a:t>
                      </a:r>
                    </a:p>
                  </a:txBody>
                  <a:tcPr/>
                </a:tc>
                <a:tc>
                  <a:txBody>
                    <a:bodyPr/>
                    <a:lstStyle/>
                    <a:p>
                      <a:pPr algn="ctr">
                        <a:defRPr sz="1400">
                          <a:solidFill>
                            <a:srgbClr val="424242"/>
                          </a:solidFill>
                        </a:defRPr>
                      </a:pPr>
                      <a:r>
                        <a:t>$10K+</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2662</Words>
  <Application>Microsoft Office PowerPoint</Application>
  <PresentationFormat>On-screen Show (4:3)</PresentationFormat>
  <Paragraphs>476</Paragraphs>
  <Slides>29</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Barry Ellis</cp:lastModifiedBy>
  <cp:revision>3</cp:revision>
  <dcterms:created xsi:type="dcterms:W3CDTF">2013-01-27T09:14:16Z</dcterms:created>
  <dcterms:modified xsi:type="dcterms:W3CDTF">2025-12-03T22:04:28Z</dcterms:modified>
  <cp:category/>
</cp:coreProperties>
</file>