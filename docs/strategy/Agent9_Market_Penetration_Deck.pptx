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6" d="100"/>
          <a:sy n="106" d="100"/>
        </p:scale>
        <p:origin x="86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C23E82-728F-4BD2-9874-86C81D002562}" type="datetimeFigureOut">
              <a:rPr lang="en-US" smtClean="0"/>
              <a:t>12/3/2025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34D4A4-D001-4874-8F74-8C5C7756712B}" type="slidenum">
              <a:rPr lang="en-US" smtClean="0"/>
              <a:t>‹#›</a:t>
            </a:fld>
            <a:endParaRPr lang="en-US"/>
          </a:p>
        </p:txBody>
      </p:sp>
    </p:spTree>
    <p:extLst>
      <p:ext uri="{BB962C8B-B14F-4D97-AF65-F5344CB8AC3E}">
        <p14:creationId xmlns:p14="http://schemas.microsoft.com/office/powerpoint/2010/main" val="3577494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Let me paint the picture of what enterprises face today. They're paying millions for insights that arrive months late. They get one firm's perspective with no way to verify the reasoning. And when the engagement ends, all that knowledge walks out the door. This is an $800 billion market ripe for disruption.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Here's the gap in the market. Traditional consulting has expertise but lacks speed and affordability. Generic AI tools are fast and cheap but lack real expertise and accountability. Agent9 sits in the middle—we deliver branded expertise at AI speed with full audit trails. No one else is doing this.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Here's how Agent9 works. When a customer has a strategic question, they don't get one consultant's opinion—they get multiple branded AI agents, each trained on a firm's proprietary methodology, debating the problem. The platform synthesizes the best ideas and delivers a recommendation with a complete audit trail.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Let's break down the timeline. Traditional consulting takes 3-6 months from kickoff to final recommendation. With Agent9, because we're pre-connected to customer data and our agents work in parallel, we compress that to hours.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We're not pitching a vision—we've built the core platform. Our orchestrator coordinates multiple agents through complete workflows. Every decision has an audit trail. What we're building next is the marketplace layer.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Our business model is a three-sided marketplace. On the supply side, consulting firms and domain experts bring their methodologies. On the demand side, enterprises need strategic insights. Agent9 earns from subscriptions, transaction fees, services, and partner revenue share.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We're targeting segments that are data-mature and frustrated with traditional consulting. PE portfolio ops teams are ideal—they have a mandate to improve operations and they're tired of paying McKinsey $2M per portfolio company.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Our ideal customer already has data infrastructure. They have an analytics team who can validate outputs. And they're spending at least a million a year on consulting, so the pain is real.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Our go-to-market has three phases. First, we land early adopters through direct sales. Then we expand within those accounts. Finally, we launch the partner marketplace, which becomes our primary growth engine.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The number one objection from partners is revenue cannibalization. Our reframe: Agent9 lets them access the mid-market—companies that can't afford a $500K engagement. These become qualified leads for human work.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Traditional consulting is high expertise but low scale. Generic AI is high scale but low expertise. Agent9 occupies the upper right quadrant: branded expertise at AI scale. No one else is there.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Our defensibility comes from network effects. As we add partners, we have more expertise, which attracts more customers. Partner methodologies encoded in our platform create lock-in.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We're targeting 15 customers in year one at $100K average deal size, growing to 150 customers by year three. Our unit economics are strong—LTV to CAC ratio of 8-10x with 75-80% gross margins.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We're not just pitching an idea—we have working software. Our core platform is built. We're now polishing the UI for demos and beginning customer pilots.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[Customize with your actual team backgrounds and credentials]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Here's what we're looking for. From investors, we're raising [X] million. From partners, we want 2-3 strategic firms for co-development. From customers, we're seeking 5-10 early adopter pilots.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Why is now the right time? The technology is ready, the market is ready, and there's no competition. The first mover will define the category.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We're going after an $800 billion market with a solution that's 10-50x faster and 70-90% cheaper. We bring multiple perspectives together through AI debate, with full audit trails. We're building the future of consulting.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Mid-market example with $3M consulting spend. 69% cost reduction with 10x faster insights.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Partners can earn over $1M in year one from a combination of agent fees, transaction revenue, and upsells to human engagements.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600" y="1143000"/>
            <a:ext cx="4114800" cy="3086100"/>
          </a:xfrm>
        </p:spPr>
      </p:sp>
      <p:sp>
        <p:nvSpPr>
          <p:cNvPr id="3" name="Notes Placeholder 2"/>
          <p:cNvSpPr>
            <a:spLocks noGrp="1"/>
          </p:cNvSpPr>
          <p:nvPr>
            <p:ph type="body" sz="quarter" idx="3"/>
          </p:nvPr>
        </p:nvSpPr>
        <p:spPr/>
        <p:txBody>
          <a:bodyPr/>
          <a:lstStyle/>
          <a:p>
            <a:r>
              <a:t>Agent9 is the only solution that combines strategic expertise, on-demand availability, multi-perspective debate, and full audit trails.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4"/>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12/3/2025</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8"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9144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40040" y="-1133192"/>
            <a:ext cx="6858001" cy="9124385"/>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1072" y="0"/>
            <a:ext cx="4572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3"/>
            <a:ext cx="9137153"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784" y="4049"/>
            <a:ext cx="7662432"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p:cNvSpPr txBox="1"/>
          <p:nvPr/>
        </p:nvSpPr>
        <p:spPr>
          <a:xfrm>
            <a:off x="1520019" y="1030406"/>
            <a:ext cx="6110785" cy="3081242"/>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5400" b="1">
                <a:solidFill>
                  <a:srgbClr val="FFFFFF"/>
                </a:solidFill>
              </a:defRPr>
            </a:pPr>
            <a:r>
              <a:rPr lang="en-US" sz="4200" kern="1200">
                <a:solidFill>
                  <a:srgbClr val="FFFFFF"/>
                </a:solidFill>
                <a:latin typeface="+mj-lt"/>
                <a:ea typeface="+mj-ea"/>
                <a:cs typeface="+mj-cs"/>
              </a:rPr>
              <a:t>Agent9</a:t>
            </a:r>
          </a:p>
        </p:txBody>
      </p:sp>
      <p:sp>
        <p:nvSpPr>
          <p:cNvPr id="3" name="TextBox 2"/>
          <p:cNvSpPr txBox="1"/>
          <p:nvPr/>
        </p:nvSpPr>
        <p:spPr>
          <a:xfrm>
            <a:off x="1169957" y="5171093"/>
            <a:ext cx="6808971" cy="860620"/>
          </a:xfrm>
          <a:prstGeom prst="rect">
            <a:avLst/>
          </a:prstGeom>
        </p:spPr>
        <p:txBody>
          <a:bodyPr vert="horz" lIns="91440" tIns="45720" rIns="91440" bIns="45720" rtlCol="0" anchor="ctr">
            <a:normAutofit/>
          </a:bodyPr>
          <a:lstStyle/>
          <a:p>
            <a:pPr algn="ctr" defTabSz="914400">
              <a:lnSpc>
                <a:spcPct val="90000"/>
              </a:lnSpc>
              <a:spcBef>
                <a:spcPts val="1000"/>
              </a:spcBef>
              <a:defRPr sz="2800">
                <a:solidFill>
                  <a:srgbClr val="FFFFFF"/>
                </a:solidFill>
              </a:defRPr>
            </a:pPr>
            <a:r>
              <a:rPr lang="en-US" sz="2400" kern="1200">
                <a:solidFill>
                  <a:srgbClr val="FFFFFF"/>
                </a:solidFill>
                <a:latin typeface="+mn-lt"/>
                <a:ea typeface="+mn-ea"/>
                <a:cs typeface="+mn-cs"/>
              </a:rPr>
              <a:t>The Agentic Consulting Marketplace</a:t>
            </a:r>
          </a:p>
        </p:txBody>
      </p:sp>
      <p:sp>
        <p:nvSpPr>
          <p:cNvPr id="4" name="TextBox 3"/>
          <p:cNvSpPr txBox="1"/>
          <p:nvPr/>
        </p:nvSpPr>
        <p:spPr>
          <a:xfrm>
            <a:off x="1091467" y="4206240"/>
            <a:ext cx="6961073" cy="369332"/>
          </a:xfrm>
          <a:prstGeom prst="rect">
            <a:avLst/>
          </a:prstGeom>
          <a:noFill/>
        </p:spPr>
        <p:txBody>
          <a:bodyPr wrap="none">
            <a:spAutoFit/>
          </a:bodyPr>
          <a:lstStyle/>
          <a:p>
            <a:pPr algn="ctr">
              <a:spcAft>
                <a:spcPts val="600"/>
              </a:spcAft>
              <a:defRPr sz="1800" i="1">
                <a:solidFill>
                  <a:srgbClr val="FFFFFF"/>
                </a:solidFill>
              </a:defRPr>
            </a:pPr>
            <a:r>
              <a:rPr lang="en-US"/>
              <a:t>Transforming $800B of consulting into on-demand, AI-powered expertise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4" y="320044"/>
            <a:ext cx="6517169" cy="584775"/>
          </a:xfrm>
          <a:prstGeom prst="rect">
            <a:avLst/>
          </a:prstGeom>
          <a:noFill/>
        </p:spPr>
        <p:txBody>
          <a:bodyPr wrap="none">
            <a:spAutoFit/>
          </a:bodyPr>
          <a:lstStyle/>
          <a:p>
            <a:pPr>
              <a:defRPr sz="3200" b="1">
                <a:solidFill>
                  <a:srgbClr val="FFFFFF"/>
                </a:solidFill>
              </a:defRPr>
            </a:pPr>
            <a:r>
              <a:rPr sz="3200"/>
              <a:t>Enterprise Decision-Making is Broken</a:t>
            </a:r>
          </a:p>
        </p:txBody>
      </p:sp>
      <p:sp>
        <p:nvSpPr>
          <p:cNvPr id="4" name="TextBox 3"/>
          <p:cNvSpPr txBox="1"/>
          <p:nvPr/>
        </p:nvSpPr>
        <p:spPr>
          <a:xfrm>
            <a:off x="457200" y="1371604"/>
            <a:ext cx="8229600" cy="2923877"/>
          </a:xfrm>
          <a:prstGeom prst="rect">
            <a:avLst/>
          </a:prstGeom>
          <a:noFill/>
        </p:spPr>
        <p:txBody>
          <a:bodyPr wrap="square">
            <a:spAutoFit/>
          </a:bodyPr>
          <a:lstStyle/>
          <a:p>
            <a:pPr>
              <a:spcAft>
                <a:spcPts val="1200"/>
              </a:spcAft>
              <a:defRPr sz="2400">
                <a:solidFill>
                  <a:srgbClr val="424242"/>
                </a:solidFill>
              </a:defRPr>
            </a:pPr>
            <a:r>
              <a:rPr sz="2400"/>
              <a:t>⏱️  Consulting is slow — 12-24 weeks for strategic insights</a:t>
            </a:r>
          </a:p>
          <a:p>
            <a:pPr>
              <a:spcAft>
                <a:spcPts val="1200"/>
              </a:spcAft>
              <a:defRPr sz="2400">
                <a:solidFill>
                  <a:srgbClr val="424242"/>
                </a:solidFill>
              </a:defRPr>
            </a:pPr>
            <a:r>
              <a:rPr sz="2400"/>
              <a:t>💰  Consulting is expensive — $500K-$2M minimum engagements</a:t>
            </a:r>
          </a:p>
          <a:p>
            <a:pPr>
              <a:spcAft>
                <a:spcPts val="1200"/>
              </a:spcAft>
              <a:defRPr sz="2400">
                <a:solidFill>
                  <a:srgbClr val="424242"/>
                </a:solidFill>
              </a:defRPr>
            </a:pPr>
            <a:r>
              <a:rPr sz="2400"/>
              <a:t>👁️  Single perspective — One firm's bias, no debate</a:t>
            </a:r>
          </a:p>
          <a:p>
            <a:pPr>
              <a:spcAft>
                <a:spcPts val="1200"/>
              </a:spcAft>
              <a:defRPr sz="2400">
                <a:solidFill>
                  <a:srgbClr val="424242"/>
                </a:solidFill>
              </a:defRPr>
            </a:pPr>
            <a:r>
              <a:rPr sz="2400"/>
              <a:t>📋  No audit trail — "Trust us" doesn't satisfy boards</a:t>
            </a:r>
          </a:p>
          <a:p>
            <a:pPr>
              <a:spcAft>
                <a:spcPts val="1200"/>
              </a:spcAft>
              <a:defRPr sz="2400">
                <a:solidFill>
                  <a:srgbClr val="424242"/>
                </a:solidFill>
              </a:defRPr>
            </a:pPr>
            <a:r>
              <a:rPr sz="2400"/>
              <a:t>🚪  IP walks out — Knowledge leaves with consultants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4"/>
            <a:ext cx="6214330" cy="584775"/>
          </a:xfrm>
          <a:prstGeom prst="rect">
            <a:avLst/>
          </a:prstGeom>
          <a:noFill/>
        </p:spPr>
        <p:txBody>
          <a:bodyPr wrap="none">
            <a:spAutoFit/>
          </a:bodyPr>
          <a:lstStyle/>
          <a:p>
            <a:pPr>
              <a:defRPr sz="3200" b="1">
                <a:solidFill>
                  <a:srgbClr val="FFFFFF"/>
                </a:solidFill>
              </a:defRPr>
            </a:pPr>
            <a:r>
              <a:rPr sz="3200"/>
              <a:t>$800B Market, Zero Agentic Players</a:t>
            </a:r>
          </a:p>
        </p:txBody>
      </p:sp>
      <p:graphicFrame>
        <p:nvGraphicFramePr>
          <p:cNvPr id="4" name="Table 3"/>
          <p:cNvGraphicFramePr>
            <a:graphicFrameLocks noGrp="1"/>
          </p:cNvGraphicFramePr>
          <p:nvPr/>
        </p:nvGraphicFramePr>
        <p:xfrm>
          <a:off x="457200" y="1463040"/>
          <a:ext cx="8229600" cy="27432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7200">
                <a:tc>
                  <a:txBody>
                    <a:bodyPr/>
                    <a:lstStyle/>
                    <a:p>
                      <a:pPr algn="ctr">
                        <a:defRPr sz="1600" b="1">
                          <a:solidFill>
                            <a:srgbClr val="FFFFFF"/>
                          </a:solidFill>
                        </a:defRPr>
                      </a:pPr>
                      <a:r>
                        <a:t>Capability</a:t>
                      </a:r>
                    </a:p>
                  </a:txBody>
                  <a:tcPr>
                    <a:solidFill>
                      <a:srgbClr val="1A365D"/>
                    </a:solidFill>
                  </a:tcPr>
                </a:tc>
                <a:tc>
                  <a:txBody>
                    <a:bodyPr/>
                    <a:lstStyle/>
                    <a:p>
                      <a:pPr algn="ctr">
                        <a:defRPr sz="1600" b="1">
                          <a:solidFill>
                            <a:srgbClr val="FFFFFF"/>
                          </a:solidFill>
                        </a:defRPr>
                      </a:pPr>
                      <a:r>
                        <a:t>Traditional Consulting</a:t>
                      </a:r>
                    </a:p>
                  </a:txBody>
                  <a:tcPr>
                    <a:solidFill>
                      <a:srgbClr val="1A365D"/>
                    </a:solidFill>
                  </a:tcPr>
                </a:tc>
                <a:tc>
                  <a:txBody>
                    <a:bodyPr/>
                    <a:lstStyle/>
                    <a:p>
                      <a:pPr algn="ctr">
                        <a:defRPr sz="1600" b="1">
                          <a:solidFill>
                            <a:srgbClr val="FFFFFF"/>
                          </a:solidFill>
                        </a:defRPr>
                      </a:pPr>
                      <a:r>
                        <a:t>AI Tools (ChatGPT)</a:t>
                      </a:r>
                    </a:p>
                  </a:txBody>
                  <a:tcPr>
                    <a:solidFill>
                      <a:srgbClr val="1A365D"/>
                    </a:solidFill>
                  </a:tcPr>
                </a:tc>
                <a:tc>
                  <a:txBody>
                    <a:bodyPr/>
                    <a:lstStyle/>
                    <a:p>
                      <a:pPr algn="ctr">
                        <a:defRPr sz="1600" b="1">
                          <a:solidFill>
                            <a:srgbClr val="FFFFFF"/>
                          </a:solidFill>
                        </a:defRPr>
                      </a:pPr>
                      <a:r>
                        <a:t>Agent9 CaaS</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Expertise</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Trust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Speed</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Cost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Audit Trail</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4"/>
            <a:ext cx="7005444" cy="584775"/>
          </a:xfrm>
          <a:prstGeom prst="rect">
            <a:avLst/>
          </a:prstGeom>
          <a:noFill/>
        </p:spPr>
        <p:txBody>
          <a:bodyPr wrap="none">
            <a:spAutoFit/>
          </a:bodyPr>
          <a:lstStyle/>
          <a:p>
            <a:pPr>
              <a:defRPr sz="3200" b="1">
                <a:solidFill>
                  <a:srgbClr val="FFFFFF"/>
                </a:solidFill>
              </a:defRPr>
            </a:pPr>
            <a:r>
              <a:rPr sz="3200"/>
              <a:t>Agent9: Agentic Consulting Marketplace</a:t>
            </a:r>
          </a:p>
        </p:txBody>
      </p:sp>
      <p:sp>
        <p:nvSpPr>
          <p:cNvPr id="4" name="TextBox 3"/>
          <p:cNvSpPr txBox="1"/>
          <p:nvPr/>
        </p:nvSpPr>
        <p:spPr>
          <a:xfrm>
            <a:off x="457200" y="1371600"/>
            <a:ext cx="8229600" cy="4124206"/>
          </a:xfrm>
          <a:prstGeom prst="rect">
            <a:avLst/>
          </a:prstGeom>
          <a:noFill/>
        </p:spPr>
        <p:txBody>
          <a:bodyPr wrap="square">
            <a:spAutoFit/>
          </a:bodyPr>
          <a:lstStyle/>
          <a:p>
            <a:pPr>
              <a:spcAft>
                <a:spcPts val="1200"/>
              </a:spcAft>
              <a:defRPr sz="2400">
                <a:solidFill>
                  <a:srgbClr val="424242"/>
                </a:solidFill>
              </a:defRPr>
            </a:pPr>
            <a:r>
              <a:rPr sz="2400"/>
              <a:t>Multiple branded AI agents debate your problem</a:t>
            </a:r>
          </a:p>
          <a:p>
            <a:pPr>
              <a:spcAft>
                <a:spcPts val="1200"/>
              </a:spcAft>
              <a:defRPr sz="2400">
                <a:solidFill>
                  <a:srgbClr val="424242"/>
                </a:solidFill>
              </a:defRPr>
            </a:pPr>
            <a:r>
              <a:rPr sz="2400"/>
              <a:t>   → McKinsey Agent + BCG Agent + AWS Agent + ...</a:t>
            </a:r>
          </a:p>
          <a:p>
            <a:pPr>
              <a:spcAft>
                <a:spcPts val="1200"/>
              </a:spcAft>
              <a:defRPr sz="2400">
                <a:solidFill>
                  <a:srgbClr val="424242"/>
                </a:solidFill>
              </a:defRPr>
            </a:pPr>
            <a:endParaRPr sz="2400"/>
          </a:p>
          <a:p>
            <a:pPr>
              <a:spcAft>
                <a:spcPts val="1200"/>
              </a:spcAft>
              <a:defRPr sz="2400">
                <a:solidFill>
                  <a:srgbClr val="424242"/>
                </a:solidFill>
              </a:defRPr>
            </a:pPr>
            <a:r>
              <a:rPr sz="2400"/>
              <a:t>Platform synthesizes best ideas into recommendation</a:t>
            </a:r>
          </a:p>
          <a:p>
            <a:pPr>
              <a:spcAft>
                <a:spcPts val="1200"/>
              </a:spcAft>
              <a:defRPr sz="2400">
                <a:solidFill>
                  <a:srgbClr val="424242"/>
                </a:solidFill>
              </a:defRPr>
            </a:pPr>
            <a:r>
              <a:rPr sz="2400"/>
              <a:t>   → Multi-agent debate surfaces optimal solutions</a:t>
            </a:r>
          </a:p>
          <a:p>
            <a:pPr>
              <a:spcAft>
                <a:spcPts val="1200"/>
              </a:spcAft>
              <a:defRPr sz="2400">
                <a:solidFill>
                  <a:srgbClr val="424242"/>
                </a:solidFill>
              </a:defRPr>
            </a:pPr>
            <a:endParaRPr sz="2400"/>
          </a:p>
          <a:p>
            <a:pPr>
              <a:spcAft>
                <a:spcPts val="1200"/>
              </a:spcAft>
              <a:defRPr sz="2400">
                <a:solidFill>
                  <a:srgbClr val="424242"/>
                </a:solidFill>
              </a:defRPr>
            </a:pPr>
            <a:r>
              <a:rPr sz="2400"/>
              <a:t>Complete audit trail for every decision</a:t>
            </a:r>
          </a:p>
          <a:p>
            <a:pPr>
              <a:spcAft>
                <a:spcPts val="1200"/>
              </a:spcAft>
              <a:defRPr sz="2400">
                <a:solidFill>
                  <a:srgbClr val="424242"/>
                </a:solidFill>
              </a:defRPr>
            </a:pPr>
            <a:r>
              <a:rPr sz="2400"/>
              <a:t>   → Full transcript, evidence citations, confidence scores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4" y="320044"/>
            <a:ext cx="8462573" cy="584775"/>
          </a:xfrm>
          <a:prstGeom prst="rect">
            <a:avLst/>
          </a:prstGeom>
          <a:noFill/>
        </p:spPr>
        <p:txBody>
          <a:bodyPr wrap="none">
            <a:spAutoFit/>
          </a:bodyPr>
          <a:lstStyle/>
          <a:p>
            <a:pPr>
              <a:defRPr sz="3200" b="1">
                <a:solidFill>
                  <a:srgbClr val="FFFFFF"/>
                </a:solidFill>
              </a:defRPr>
            </a:pPr>
            <a:r>
              <a:rPr sz="3200"/>
              <a:t>From Question to Decision in Hours, Not Months</a:t>
            </a:r>
          </a:p>
        </p:txBody>
      </p:sp>
      <p:graphicFrame>
        <p:nvGraphicFramePr>
          <p:cNvPr id="4" name="Table 3"/>
          <p:cNvGraphicFramePr>
            <a:graphicFrameLocks noGrp="1"/>
          </p:cNvGraphicFramePr>
          <p:nvPr/>
        </p:nvGraphicFramePr>
        <p:xfrm>
          <a:off x="457200" y="1463040"/>
          <a:ext cx="8229600" cy="36576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pPr algn="ctr">
                        <a:defRPr sz="1600" b="1">
                          <a:solidFill>
                            <a:srgbClr val="FFFFFF"/>
                          </a:solidFill>
                        </a:defRPr>
                      </a:pPr>
                      <a:r>
                        <a:t>Step</a:t>
                      </a:r>
                    </a:p>
                  </a:txBody>
                  <a:tcPr>
                    <a:solidFill>
                      <a:srgbClr val="1A365D"/>
                    </a:solidFill>
                  </a:tcPr>
                </a:tc>
                <a:tc>
                  <a:txBody>
                    <a:bodyPr/>
                    <a:lstStyle/>
                    <a:p>
                      <a:pPr algn="ctr">
                        <a:defRPr sz="1600" b="1">
                          <a:solidFill>
                            <a:srgbClr val="FFFFFF"/>
                          </a:solidFill>
                        </a:defRPr>
                      </a:pPr>
                      <a:r>
                        <a:t>Traditional</a:t>
                      </a:r>
                    </a:p>
                  </a:txBody>
                  <a:tcPr>
                    <a:solidFill>
                      <a:srgbClr val="1A365D"/>
                    </a:solidFill>
                  </a:tcPr>
                </a:tc>
                <a:tc>
                  <a:txBody>
                    <a:bodyPr/>
                    <a:lstStyle/>
                    <a:p>
                      <a:pPr algn="ctr">
                        <a:defRPr sz="1600" b="1">
                          <a:solidFill>
                            <a:srgbClr val="FFFFFF"/>
                          </a:solidFill>
                        </a:defRPr>
                      </a:pPr>
                      <a:r>
                        <a:t>Agent9</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1. Frame Problem</a:t>
                      </a:r>
                    </a:p>
                  </a:txBody>
                  <a:tcPr>
                    <a:solidFill>
                      <a:srgbClr val="F5F5F5"/>
                    </a:solidFill>
                  </a:tcPr>
                </a:tc>
                <a:tc>
                  <a:txBody>
                    <a:bodyPr/>
                    <a:lstStyle/>
                    <a:p>
                      <a:pPr algn="ctr">
                        <a:defRPr sz="1400">
                          <a:solidFill>
                            <a:srgbClr val="424242"/>
                          </a:solidFill>
                        </a:defRPr>
                      </a:pPr>
                      <a:r>
                        <a:t>2-4 weeks</a:t>
                      </a:r>
                    </a:p>
                  </a:txBody>
                  <a:tcPr>
                    <a:solidFill>
                      <a:srgbClr val="F5F5F5"/>
                    </a:solidFill>
                  </a:tcPr>
                </a:tc>
                <a:tc>
                  <a:txBody>
                    <a:bodyPr/>
                    <a:lstStyle/>
                    <a:p>
                      <a:pPr algn="ctr">
                        <a:defRPr sz="1400">
                          <a:solidFill>
                            <a:srgbClr val="424242"/>
                          </a:solidFill>
                        </a:defRPr>
                      </a:pPr>
                      <a:r>
                        <a:t>Minutes</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2. Gather Data</a:t>
                      </a:r>
                    </a:p>
                  </a:txBody>
                  <a:tcPr/>
                </a:tc>
                <a:tc>
                  <a:txBody>
                    <a:bodyPr/>
                    <a:lstStyle/>
                    <a:p>
                      <a:pPr algn="ctr">
                        <a:defRPr sz="1400">
                          <a:solidFill>
                            <a:srgbClr val="424242"/>
                          </a:solidFill>
                        </a:defRPr>
                      </a:pPr>
                      <a:r>
                        <a:t>4-8 weeks</a:t>
                      </a:r>
                    </a:p>
                  </a:txBody>
                  <a:tcPr/>
                </a:tc>
                <a:tc>
                  <a:txBody>
                    <a:bodyPr/>
                    <a:lstStyle/>
                    <a:p>
                      <a:pPr algn="ctr">
                        <a:defRPr sz="1400">
                          <a:solidFill>
                            <a:srgbClr val="424242"/>
                          </a:solidFill>
                        </a:defRPr>
                      </a:pPr>
                      <a:r>
                        <a:t>Pre-connected</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3. Analyze</a:t>
                      </a:r>
                    </a:p>
                  </a:txBody>
                  <a:tcPr>
                    <a:solidFill>
                      <a:srgbClr val="F5F5F5"/>
                    </a:solidFill>
                  </a:tcPr>
                </a:tc>
                <a:tc>
                  <a:txBody>
                    <a:bodyPr/>
                    <a:lstStyle/>
                    <a:p>
                      <a:pPr algn="ctr">
                        <a:defRPr sz="1400">
                          <a:solidFill>
                            <a:srgbClr val="424242"/>
                          </a:solidFill>
                        </a:defRPr>
                      </a:pPr>
                      <a:r>
                        <a:t>4-8 weeks</a:t>
                      </a:r>
                    </a:p>
                  </a:txBody>
                  <a:tcPr>
                    <a:solidFill>
                      <a:srgbClr val="F5F5F5"/>
                    </a:solidFill>
                  </a:tcPr>
                </a:tc>
                <a:tc>
                  <a:txBody>
                    <a:bodyPr/>
                    <a:lstStyle/>
                    <a:p>
                      <a:pPr algn="ctr">
                        <a:defRPr sz="1400">
                          <a:solidFill>
                            <a:srgbClr val="424242"/>
                          </a:solidFill>
                        </a:defRPr>
                      </a:pPr>
                      <a:r>
                        <a:t>Hours</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4. Debate Options</a:t>
                      </a:r>
                    </a:p>
                  </a:txBody>
                  <a:tcPr/>
                </a:tc>
                <a:tc>
                  <a:txBody>
                    <a:bodyPr/>
                    <a:lstStyle/>
                    <a:p>
                      <a:pPr algn="ctr">
                        <a:defRPr sz="1400">
                          <a:solidFill>
                            <a:srgbClr val="424242"/>
                          </a:solidFill>
                        </a:defRPr>
                      </a:pPr>
                      <a:r>
                        <a:t>2-4 weeks</a:t>
                      </a:r>
                    </a:p>
                  </a:txBody>
                  <a:tcPr/>
                </a:tc>
                <a:tc>
                  <a:txBody>
                    <a:bodyPr/>
                    <a:lstStyle/>
                    <a:p>
                      <a:pPr algn="ctr">
                        <a:defRPr sz="1400">
                          <a:solidFill>
                            <a:srgbClr val="424242"/>
                          </a:solidFill>
                        </a:defRPr>
                      </a:pPr>
                      <a:r>
                        <a:t>Real-time</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5. Recommend</a:t>
                      </a:r>
                    </a:p>
                  </a:txBody>
                  <a:tcPr>
                    <a:solidFill>
                      <a:srgbClr val="F5F5F5"/>
                    </a:solidFill>
                  </a:tcPr>
                </a:tc>
                <a:tc>
                  <a:txBody>
                    <a:bodyPr/>
                    <a:lstStyle/>
                    <a:p>
                      <a:pPr algn="ctr">
                        <a:defRPr sz="1400">
                          <a:solidFill>
                            <a:srgbClr val="424242"/>
                          </a:solidFill>
                        </a:defRPr>
                      </a:pPr>
                      <a:r>
                        <a:t>2-4 weeks</a:t>
                      </a:r>
                    </a:p>
                  </a:txBody>
                  <a:tcPr>
                    <a:solidFill>
                      <a:srgbClr val="F5F5F5"/>
                    </a:solidFill>
                  </a:tcPr>
                </a:tc>
                <a:tc>
                  <a:txBody>
                    <a:bodyPr/>
                    <a:lstStyle/>
                    <a:p>
                      <a:pPr algn="ctr">
                        <a:defRPr sz="1400">
                          <a:solidFill>
                            <a:srgbClr val="424242"/>
                          </a:solidFill>
                        </a:defRPr>
                      </a:pPr>
                      <a:r>
                        <a:t>Instant</a:t>
                      </a:r>
                    </a:p>
                  </a:txBody>
                  <a:tcPr>
                    <a:solidFill>
                      <a:srgbClr val="F5F5F5"/>
                    </a:solidFill>
                  </a:tcPr>
                </a:tc>
                <a:extLst>
                  <a:ext uri="{0D108BD9-81ED-4DB2-BD59-A6C34878D82A}">
                    <a16:rowId xmlns:a16="http://schemas.microsoft.com/office/drawing/2014/main" val="10005"/>
                  </a:ext>
                </a:extLst>
              </a:tr>
              <a:tr h="457200">
                <a:tc>
                  <a:txBody>
                    <a:bodyPr/>
                    <a:lstStyle/>
                    <a:p>
                      <a:pPr algn="ctr">
                        <a:defRPr sz="1400">
                          <a:solidFill>
                            <a:srgbClr val="424242"/>
                          </a:solidFill>
                        </a:defRPr>
                      </a:pPr>
                      <a:r>
                        <a:t>6. Document</a:t>
                      </a:r>
                    </a:p>
                  </a:txBody>
                  <a:tcPr/>
                </a:tc>
                <a:tc>
                  <a:txBody>
                    <a:bodyPr/>
                    <a:lstStyle/>
                    <a:p>
                      <a:pPr algn="ctr">
                        <a:defRPr sz="1400">
                          <a:solidFill>
                            <a:srgbClr val="424242"/>
                          </a:solidFill>
                        </a:defRPr>
                      </a:pPr>
                      <a:r>
                        <a:t>1-2 weeks</a:t>
                      </a:r>
                    </a:p>
                  </a:txBody>
                  <a:tcPr/>
                </a:tc>
                <a:tc>
                  <a:txBody>
                    <a:bodyPr/>
                    <a:lstStyle/>
                    <a:p>
                      <a:pPr algn="ctr">
                        <a:defRPr sz="1400">
                          <a:solidFill>
                            <a:srgbClr val="424242"/>
                          </a:solidFill>
                        </a:defRPr>
                      </a:pPr>
                      <a:r>
                        <a:t>Automatic</a:t>
                      </a:r>
                    </a:p>
                  </a:txBody>
                  <a:tcPr/>
                </a:tc>
                <a:extLst>
                  <a:ext uri="{0D108BD9-81ED-4DB2-BD59-A6C34878D82A}">
                    <a16:rowId xmlns:a16="http://schemas.microsoft.com/office/drawing/2014/main" val="10006"/>
                  </a:ext>
                </a:extLst>
              </a:tr>
              <a:tr h="457200">
                <a:tc>
                  <a:txBody>
                    <a:bodyPr/>
                    <a:lstStyle/>
                    <a:p>
                      <a:pPr algn="ctr">
                        <a:defRPr sz="1400">
                          <a:solidFill>
                            <a:srgbClr val="424242"/>
                          </a:solidFill>
                        </a:defRPr>
                      </a:pPr>
                      <a:r>
                        <a:t>TOTAL</a:t>
                      </a:r>
                    </a:p>
                  </a:txBody>
                  <a:tcPr>
                    <a:solidFill>
                      <a:srgbClr val="F5F5F5"/>
                    </a:solidFill>
                  </a:tcPr>
                </a:tc>
                <a:tc>
                  <a:txBody>
                    <a:bodyPr/>
                    <a:lstStyle/>
                    <a:p>
                      <a:pPr algn="ctr">
                        <a:defRPr sz="1400">
                          <a:solidFill>
                            <a:srgbClr val="424242"/>
                          </a:solidFill>
                        </a:defRPr>
                      </a:pPr>
                      <a:r>
                        <a:t>12-24 weeks</a:t>
                      </a:r>
                    </a:p>
                  </a:txBody>
                  <a:tcPr>
                    <a:solidFill>
                      <a:srgbClr val="F5F5F5"/>
                    </a:solidFill>
                  </a:tcPr>
                </a:tc>
                <a:tc>
                  <a:txBody>
                    <a:bodyPr/>
                    <a:lstStyle/>
                    <a:p>
                      <a:pPr algn="ctr">
                        <a:defRPr sz="1400">
                          <a:solidFill>
                            <a:srgbClr val="424242"/>
                          </a:solidFill>
                        </a:defRPr>
                      </a:pPr>
                      <a:r>
                        <a:t>4-24 hours</a:t>
                      </a:r>
                    </a:p>
                  </a:txBody>
                  <a:tcPr>
                    <a:solidFill>
                      <a:srgbClr val="F5F5F5"/>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4" y="320044"/>
            <a:ext cx="3155287" cy="584775"/>
          </a:xfrm>
          <a:prstGeom prst="rect">
            <a:avLst/>
          </a:prstGeom>
          <a:noFill/>
        </p:spPr>
        <p:txBody>
          <a:bodyPr wrap="none">
            <a:spAutoFit/>
          </a:bodyPr>
          <a:lstStyle/>
          <a:p>
            <a:pPr>
              <a:defRPr sz="3200" b="1">
                <a:solidFill>
                  <a:srgbClr val="FFFFFF"/>
                </a:solidFill>
              </a:defRPr>
            </a:pPr>
            <a:r>
              <a:rPr sz="3200"/>
              <a:t>What We've Built</a:t>
            </a:r>
          </a:p>
        </p:txBody>
      </p:sp>
      <p:sp>
        <p:nvSpPr>
          <p:cNvPr id="4" name="TextBox 3"/>
          <p:cNvSpPr txBox="1"/>
          <p:nvPr/>
        </p:nvSpPr>
        <p:spPr>
          <a:xfrm>
            <a:off x="457200" y="1280164"/>
            <a:ext cx="2256900" cy="430887"/>
          </a:xfrm>
          <a:prstGeom prst="rect">
            <a:avLst/>
          </a:prstGeom>
          <a:noFill/>
        </p:spPr>
        <p:txBody>
          <a:bodyPr wrap="none">
            <a:spAutoFit/>
          </a:bodyPr>
          <a:lstStyle/>
          <a:p>
            <a:pPr>
              <a:defRPr sz="2200" b="1">
                <a:solidFill>
                  <a:srgbClr val="1A365D"/>
                </a:solidFill>
              </a:defRPr>
            </a:pPr>
            <a:r>
              <a:rPr sz="2200"/>
              <a:t>Core Platform ✅</a:t>
            </a:r>
          </a:p>
        </p:txBody>
      </p:sp>
      <p:sp>
        <p:nvSpPr>
          <p:cNvPr id="5" name="TextBox 4"/>
          <p:cNvSpPr txBox="1"/>
          <p:nvPr/>
        </p:nvSpPr>
        <p:spPr>
          <a:xfrm>
            <a:off x="457200" y="1737364"/>
            <a:ext cx="3840480" cy="2451953"/>
          </a:xfrm>
          <a:prstGeom prst="rect">
            <a:avLst/>
          </a:prstGeom>
          <a:noFill/>
        </p:spPr>
        <p:txBody>
          <a:bodyPr wrap="square">
            <a:spAutoFit/>
          </a:bodyPr>
          <a:lstStyle/>
          <a:p>
            <a:pPr>
              <a:spcAft>
                <a:spcPts val="800"/>
              </a:spcAft>
              <a:defRPr sz="2000">
                <a:solidFill>
                  <a:srgbClr val="424242"/>
                </a:solidFill>
              </a:defRPr>
            </a:pPr>
            <a:r>
              <a:rPr sz="2000"/>
              <a:t>• Multi-agent orchestration</a:t>
            </a:r>
          </a:p>
          <a:p>
            <a:pPr>
              <a:spcAft>
                <a:spcPts val="800"/>
              </a:spcAft>
              <a:defRPr sz="2000">
                <a:solidFill>
                  <a:srgbClr val="424242"/>
                </a:solidFill>
              </a:defRPr>
            </a:pPr>
            <a:r>
              <a:rPr sz="2000"/>
              <a:t>• Situation Awareness workflow</a:t>
            </a:r>
          </a:p>
          <a:p>
            <a:pPr>
              <a:spcAft>
                <a:spcPts val="800"/>
              </a:spcAft>
              <a:defRPr sz="2000">
                <a:solidFill>
                  <a:srgbClr val="424242"/>
                </a:solidFill>
              </a:defRPr>
            </a:pPr>
            <a:r>
              <a:rPr sz="2000"/>
              <a:t>• Deep Analysis workflow</a:t>
            </a:r>
          </a:p>
          <a:p>
            <a:pPr>
              <a:spcAft>
                <a:spcPts val="800"/>
              </a:spcAft>
              <a:defRPr sz="2000">
                <a:solidFill>
                  <a:srgbClr val="424242"/>
                </a:solidFill>
              </a:defRPr>
            </a:pPr>
            <a:r>
              <a:rPr sz="2000"/>
              <a:t>• Solution Finder with LLM debate</a:t>
            </a:r>
          </a:p>
          <a:p>
            <a:pPr>
              <a:spcAft>
                <a:spcPts val="800"/>
              </a:spcAft>
              <a:defRPr sz="2000">
                <a:solidFill>
                  <a:srgbClr val="424242"/>
                </a:solidFill>
              </a:defRPr>
            </a:pPr>
            <a:r>
              <a:rPr sz="2000"/>
              <a:t>• Full audit trail &amp; HITL</a:t>
            </a:r>
          </a:p>
          <a:p>
            <a:pPr>
              <a:spcAft>
                <a:spcPts val="800"/>
              </a:spcAft>
              <a:defRPr sz="2000">
                <a:solidFill>
                  <a:srgbClr val="424242"/>
                </a:solidFill>
              </a:defRPr>
            </a:pPr>
            <a:r>
              <a:rPr sz="2000"/>
              <a:t>• Data product onboarding</a:t>
            </a:r>
          </a:p>
        </p:txBody>
      </p:sp>
      <p:sp>
        <p:nvSpPr>
          <p:cNvPr id="6" name="TextBox 5"/>
          <p:cNvSpPr txBox="1"/>
          <p:nvPr/>
        </p:nvSpPr>
        <p:spPr>
          <a:xfrm>
            <a:off x="4846324" y="1280164"/>
            <a:ext cx="2164375" cy="430887"/>
          </a:xfrm>
          <a:prstGeom prst="rect">
            <a:avLst/>
          </a:prstGeom>
          <a:noFill/>
        </p:spPr>
        <p:txBody>
          <a:bodyPr wrap="none">
            <a:spAutoFit/>
          </a:bodyPr>
          <a:lstStyle/>
          <a:p>
            <a:pPr>
              <a:defRPr sz="2200" b="1">
                <a:solidFill>
                  <a:srgbClr val="1A365D"/>
                </a:solidFill>
              </a:defRPr>
            </a:pPr>
            <a:r>
              <a:rPr sz="2200"/>
              <a:t>Coming Soon 🔄</a:t>
            </a:r>
          </a:p>
        </p:txBody>
      </p:sp>
      <p:sp>
        <p:nvSpPr>
          <p:cNvPr id="7" name="TextBox 6"/>
          <p:cNvSpPr txBox="1"/>
          <p:nvPr/>
        </p:nvSpPr>
        <p:spPr>
          <a:xfrm>
            <a:off x="4846320" y="1737364"/>
            <a:ext cx="3840480" cy="2041585"/>
          </a:xfrm>
          <a:prstGeom prst="rect">
            <a:avLst/>
          </a:prstGeom>
          <a:noFill/>
        </p:spPr>
        <p:txBody>
          <a:bodyPr wrap="square">
            <a:spAutoFit/>
          </a:bodyPr>
          <a:lstStyle/>
          <a:p>
            <a:pPr>
              <a:spcAft>
                <a:spcPts val="800"/>
              </a:spcAft>
              <a:defRPr sz="2000">
                <a:solidFill>
                  <a:srgbClr val="424242"/>
                </a:solidFill>
              </a:defRPr>
            </a:pPr>
            <a:r>
              <a:rPr sz="2000"/>
              <a:t>• Branded Agent Marketplace</a:t>
            </a:r>
          </a:p>
          <a:p>
            <a:pPr>
              <a:spcAft>
                <a:spcPts val="800"/>
              </a:spcAft>
              <a:defRPr sz="2000">
                <a:solidFill>
                  <a:srgbClr val="424242"/>
                </a:solidFill>
              </a:defRPr>
            </a:pPr>
            <a:r>
              <a:rPr sz="2000"/>
              <a:t>• Decision Studio UI</a:t>
            </a:r>
          </a:p>
          <a:p>
            <a:pPr>
              <a:spcAft>
                <a:spcPts val="800"/>
              </a:spcAft>
              <a:defRPr sz="2000">
                <a:solidFill>
                  <a:srgbClr val="424242"/>
                </a:solidFill>
              </a:defRPr>
            </a:pPr>
            <a:r>
              <a:rPr sz="2000"/>
              <a:t>• RAG integration for partner IP</a:t>
            </a:r>
          </a:p>
          <a:p>
            <a:pPr>
              <a:spcAft>
                <a:spcPts val="800"/>
              </a:spcAft>
              <a:defRPr sz="2000">
                <a:solidFill>
                  <a:srgbClr val="424242"/>
                </a:solidFill>
              </a:defRPr>
            </a:pPr>
            <a:r>
              <a:rPr sz="2000"/>
              <a:t>• Additional data connectors</a:t>
            </a:r>
          </a:p>
          <a:p>
            <a:pPr>
              <a:spcAft>
                <a:spcPts val="800"/>
              </a:spcAft>
              <a:defRPr sz="2000">
                <a:solidFill>
                  <a:srgbClr val="424242"/>
                </a:solidFill>
              </a:defRPr>
            </a:pPr>
            <a:r>
              <a:rPr sz="2000"/>
              <a:t>• Partner self-service tools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4" y="320044"/>
            <a:ext cx="4462055" cy="584775"/>
          </a:xfrm>
          <a:prstGeom prst="rect">
            <a:avLst/>
          </a:prstGeom>
          <a:noFill/>
        </p:spPr>
        <p:txBody>
          <a:bodyPr wrap="none">
            <a:spAutoFit/>
          </a:bodyPr>
          <a:lstStyle/>
          <a:p>
            <a:pPr>
              <a:defRPr sz="3200" b="1">
                <a:solidFill>
                  <a:srgbClr val="FFFFFF"/>
                </a:solidFill>
              </a:defRPr>
            </a:pPr>
            <a:r>
              <a:rPr sz="3200"/>
              <a:t>Three-Sided Marketplace</a:t>
            </a:r>
          </a:p>
        </p:txBody>
      </p:sp>
      <p:sp>
        <p:nvSpPr>
          <p:cNvPr id="4" name="TextBox 3"/>
          <p:cNvSpPr txBox="1"/>
          <p:nvPr/>
        </p:nvSpPr>
        <p:spPr>
          <a:xfrm>
            <a:off x="457200" y="1371604"/>
            <a:ext cx="8229600" cy="6217087"/>
          </a:xfrm>
          <a:prstGeom prst="rect">
            <a:avLst/>
          </a:prstGeom>
          <a:noFill/>
        </p:spPr>
        <p:txBody>
          <a:bodyPr wrap="square">
            <a:spAutoFit/>
          </a:bodyPr>
          <a:lstStyle/>
          <a:p>
            <a:pPr>
              <a:spcAft>
                <a:spcPts val="1200"/>
              </a:spcAft>
              <a:defRPr sz="2400">
                <a:solidFill>
                  <a:srgbClr val="424242"/>
                </a:solidFill>
              </a:defRPr>
            </a:pPr>
            <a:r>
              <a:rPr sz="2400"/>
              <a:t>PARTNERS (Supply)                    CUSTOMERS (Demand)</a:t>
            </a:r>
          </a:p>
          <a:p>
            <a:pPr>
              <a:spcAft>
                <a:spcPts val="1200"/>
              </a:spcAft>
              <a:defRPr sz="2400">
                <a:solidFill>
                  <a:srgbClr val="424242"/>
                </a:solidFill>
              </a:defRPr>
            </a:pPr>
            <a:r>
              <a:rPr sz="2400"/>
              <a:t>• Consulting firms                      • Enterprises</a:t>
            </a:r>
          </a:p>
          <a:p>
            <a:pPr>
              <a:spcAft>
                <a:spcPts val="1200"/>
              </a:spcAft>
              <a:defRPr sz="2400">
                <a:solidFill>
                  <a:srgbClr val="424242"/>
                </a:solidFill>
              </a:defRPr>
            </a:pPr>
            <a:r>
              <a:rPr sz="2400"/>
              <a:t>• Tech vendors                           • PE portfolio companies</a:t>
            </a:r>
          </a:p>
          <a:p>
            <a:pPr>
              <a:spcAft>
                <a:spcPts val="1200"/>
              </a:spcAft>
              <a:defRPr sz="2400">
                <a:solidFill>
                  <a:srgbClr val="424242"/>
                </a:solidFill>
              </a:defRPr>
            </a:pPr>
            <a:r>
              <a:rPr sz="2400"/>
              <a:t>• Domain experts                        • Mid-market CFOs</a:t>
            </a:r>
          </a:p>
          <a:p>
            <a:pPr>
              <a:spcAft>
                <a:spcPts val="1200"/>
              </a:spcAft>
              <a:defRPr sz="2400">
                <a:solidFill>
                  <a:srgbClr val="424242"/>
                </a:solidFill>
              </a:defRPr>
            </a:pPr>
            <a:endParaRPr sz="2400"/>
          </a:p>
          <a:p>
            <a:pPr>
              <a:spcAft>
                <a:spcPts val="1200"/>
              </a:spcAft>
              <a:defRPr sz="2400">
                <a:solidFill>
                  <a:srgbClr val="424242"/>
                </a:solidFill>
              </a:defRPr>
            </a:pPr>
            <a:r>
              <a:rPr sz="2400"/>
              <a:t>                    ↘    AGENT9 PLATFORM    ↙</a:t>
            </a:r>
          </a:p>
          <a:p>
            <a:pPr>
              <a:spcAft>
                <a:spcPts val="1200"/>
              </a:spcAft>
              <a:defRPr sz="2400">
                <a:solidFill>
                  <a:srgbClr val="424242"/>
                </a:solidFill>
              </a:defRPr>
            </a:pPr>
            <a:endParaRPr sz="2400"/>
          </a:p>
          <a:p>
            <a:pPr>
              <a:spcAft>
                <a:spcPts val="1200"/>
              </a:spcAft>
              <a:defRPr sz="2400">
                <a:solidFill>
                  <a:srgbClr val="424242"/>
                </a:solidFill>
              </a:defRPr>
            </a:pPr>
            <a:r>
              <a:rPr sz="2400"/>
              <a:t>Revenue Streams:</a:t>
            </a:r>
          </a:p>
          <a:p>
            <a:pPr>
              <a:spcAft>
                <a:spcPts val="1200"/>
              </a:spcAft>
              <a:defRPr sz="2400">
                <a:solidFill>
                  <a:srgbClr val="424242"/>
                </a:solidFill>
              </a:defRPr>
            </a:pPr>
            <a:r>
              <a:rPr sz="2400"/>
              <a:t>• Platform subscriptions: $80K-$300K/year</a:t>
            </a:r>
          </a:p>
          <a:p>
            <a:pPr>
              <a:spcAft>
                <a:spcPts val="1200"/>
              </a:spcAft>
              <a:defRPr sz="2400">
                <a:solidFill>
                  <a:srgbClr val="424242"/>
                </a:solidFill>
              </a:defRPr>
            </a:pPr>
            <a:r>
              <a:rPr sz="2400"/>
              <a:t>• Per-debate fees: $100-$500 each</a:t>
            </a:r>
          </a:p>
          <a:p>
            <a:pPr>
              <a:spcAft>
                <a:spcPts val="1200"/>
              </a:spcAft>
              <a:defRPr sz="2400">
                <a:solidFill>
                  <a:srgbClr val="424242"/>
                </a:solidFill>
              </a:defRPr>
            </a:pPr>
            <a:r>
              <a:rPr sz="2400"/>
              <a:t>• Implementation: $50K-$150K</a:t>
            </a:r>
          </a:p>
          <a:p>
            <a:pPr>
              <a:spcAft>
                <a:spcPts val="1200"/>
              </a:spcAft>
              <a:defRPr sz="2400">
                <a:solidFill>
                  <a:srgbClr val="424242"/>
                </a:solidFill>
              </a:defRPr>
            </a:pPr>
            <a:r>
              <a:rPr sz="2400"/>
              <a:t>• Partner revenue share: 15-30%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4"/>
            <a:ext cx="3757952" cy="584775"/>
          </a:xfrm>
          <a:prstGeom prst="rect">
            <a:avLst/>
          </a:prstGeom>
          <a:noFill/>
        </p:spPr>
        <p:txBody>
          <a:bodyPr wrap="none">
            <a:spAutoFit/>
          </a:bodyPr>
          <a:lstStyle/>
          <a:p>
            <a:pPr>
              <a:defRPr sz="3200" b="1">
                <a:solidFill>
                  <a:srgbClr val="FFFFFF"/>
                </a:solidFill>
              </a:defRPr>
            </a:pPr>
            <a:r>
              <a:rPr sz="3200"/>
              <a:t>Who We're Targeting</a:t>
            </a:r>
          </a:p>
        </p:txBody>
      </p:sp>
      <p:graphicFrame>
        <p:nvGraphicFramePr>
          <p:cNvPr id="4" name="Table 3"/>
          <p:cNvGraphicFramePr>
            <a:graphicFrameLocks noGrp="1"/>
          </p:cNvGraphicFramePr>
          <p:nvPr/>
        </p:nvGraphicFramePr>
        <p:xfrm>
          <a:off x="457200" y="1463040"/>
          <a:ext cx="8229600" cy="22860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7200">
                <a:tc>
                  <a:txBody>
                    <a:bodyPr/>
                    <a:lstStyle/>
                    <a:p>
                      <a:pPr algn="ctr">
                        <a:defRPr sz="1600" b="1">
                          <a:solidFill>
                            <a:srgbClr val="FFFFFF"/>
                          </a:solidFill>
                        </a:defRPr>
                      </a:pPr>
                      <a:r>
                        <a:t>Segment</a:t>
                      </a:r>
                    </a:p>
                  </a:txBody>
                  <a:tcPr>
                    <a:solidFill>
                      <a:srgbClr val="1A365D"/>
                    </a:solidFill>
                  </a:tcPr>
                </a:tc>
                <a:tc>
                  <a:txBody>
                    <a:bodyPr/>
                    <a:lstStyle/>
                    <a:p>
                      <a:pPr algn="ctr">
                        <a:defRPr sz="1600" b="1">
                          <a:solidFill>
                            <a:srgbClr val="FFFFFF"/>
                          </a:solidFill>
                        </a:defRPr>
                      </a:pPr>
                      <a:r>
                        <a:t>Market Size</a:t>
                      </a:r>
                    </a:p>
                  </a:txBody>
                  <a:tcPr>
                    <a:solidFill>
                      <a:srgbClr val="1A365D"/>
                    </a:solidFill>
                  </a:tcPr>
                </a:tc>
                <a:tc>
                  <a:txBody>
                    <a:bodyPr/>
                    <a:lstStyle/>
                    <a:p>
                      <a:pPr algn="ctr">
                        <a:defRPr sz="1600" b="1">
                          <a:solidFill>
                            <a:srgbClr val="FFFFFF"/>
                          </a:solidFill>
                        </a:defRPr>
                      </a:pPr>
                      <a:r>
                        <a:t>Avg. Deal</a:t>
                      </a:r>
                    </a:p>
                  </a:txBody>
                  <a:tcPr>
                    <a:solidFill>
                      <a:srgbClr val="1A365D"/>
                    </a:solidFill>
                  </a:tcPr>
                </a:tc>
                <a:tc>
                  <a:txBody>
                    <a:bodyPr/>
                    <a:lstStyle/>
                    <a:p>
                      <a:pPr algn="ctr">
                        <a:defRPr sz="1600" b="1">
                          <a:solidFill>
                            <a:srgbClr val="FFFFFF"/>
                          </a:solidFill>
                        </a:defRPr>
                      </a:pPr>
                      <a:r>
                        <a:t>Priority</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PE Portfolio Ops</a:t>
                      </a:r>
                    </a:p>
                  </a:txBody>
                  <a:tcPr>
                    <a:solidFill>
                      <a:srgbClr val="F5F5F5"/>
                    </a:solidFill>
                  </a:tcPr>
                </a:tc>
                <a:tc>
                  <a:txBody>
                    <a:bodyPr/>
                    <a:lstStyle/>
                    <a:p>
                      <a:pPr algn="ctr">
                        <a:defRPr sz="1400">
                          <a:solidFill>
                            <a:srgbClr val="424242"/>
                          </a:solidFill>
                        </a:defRPr>
                      </a:pPr>
                      <a:r>
                        <a:t>500 firms</a:t>
                      </a:r>
                    </a:p>
                  </a:txBody>
                  <a:tcPr>
                    <a:solidFill>
                      <a:srgbClr val="F5F5F5"/>
                    </a:solidFill>
                  </a:tcPr>
                </a:tc>
                <a:tc>
                  <a:txBody>
                    <a:bodyPr/>
                    <a:lstStyle/>
                    <a:p>
                      <a:pPr algn="ctr">
                        <a:defRPr sz="1400">
                          <a:solidFill>
                            <a:srgbClr val="424242"/>
                          </a:solidFill>
                        </a:defRPr>
                      </a:pPr>
                      <a:r>
                        <a:t>$200K+</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Mid-Market CFOs</a:t>
                      </a:r>
                    </a:p>
                  </a:txBody>
                  <a:tcPr/>
                </a:tc>
                <a:tc>
                  <a:txBody>
                    <a:bodyPr/>
                    <a:lstStyle/>
                    <a:p>
                      <a:pPr algn="ctr">
                        <a:defRPr sz="1400">
                          <a:solidFill>
                            <a:srgbClr val="424242"/>
                          </a:solidFill>
                        </a:defRPr>
                      </a:pPr>
                      <a:r>
                        <a:t>10,000+</a:t>
                      </a:r>
                    </a:p>
                  </a:txBody>
                  <a:tcPr/>
                </a:tc>
                <a:tc>
                  <a:txBody>
                    <a:bodyPr/>
                    <a:lstStyle/>
                    <a:p>
                      <a:pPr algn="ctr">
                        <a:defRPr sz="1400">
                          <a:solidFill>
                            <a:srgbClr val="424242"/>
                          </a:solidFill>
                        </a:defRPr>
                      </a:pPr>
                      <a:r>
                        <a:t>$80K</a:t>
                      </a:r>
                    </a:p>
                  </a:txBody>
                  <a:tcPr/>
                </a:tc>
                <a:tc>
                  <a:txBody>
                    <a:bodyPr/>
                    <a:lstStyle/>
                    <a:p>
                      <a:pPr algn="ctr">
                        <a:defRPr sz="1400">
                          <a:solidFill>
                            <a:srgbClr val="424242"/>
                          </a:solidFill>
                        </a:defRPr>
                      </a:pPr>
                      <a:r>
                        <a:t>⭐⭐⭐</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Corp Strategy Teams</a:t>
                      </a:r>
                    </a:p>
                  </a:txBody>
                  <a:tcPr>
                    <a:solidFill>
                      <a:srgbClr val="F5F5F5"/>
                    </a:solidFill>
                  </a:tcPr>
                </a:tc>
                <a:tc>
                  <a:txBody>
                    <a:bodyPr/>
                    <a:lstStyle/>
                    <a:p>
                      <a:pPr algn="ctr">
                        <a:defRPr sz="1400">
                          <a:solidFill>
                            <a:srgbClr val="424242"/>
                          </a:solidFill>
                        </a:defRPr>
                      </a:pPr>
                      <a:r>
                        <a:t>500 F500</a:t>
                      </a:r>
                    </a:p>
                  </a:txBody>
                  <a:tcPr>
                    <a:solidFill>
                      <a:srgbClr val="F5F5F5"/>
                    </a:solidFill>
                  </a:tcPr>
                </a:tc>
                <a:tc>
                  <a:txBody>
                    <a:bodyPr/>
                    <a:lstStyle/>
                    <a:p>
                      <a:pPr algn="ctr">
                        <a:defRPr sz="1400">
                          <a:solidFill>
                            <a:srgbClr val="424242"/>
                          </a:solidFill>
                        </a:defRPr>
                      </a:pPr>
                      <a:r>
                        <a:t>$300K+</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Data Platform Customers</a:t>
                      </a:r>
                    </a:p>
                  </a:txBody>
                  <a:tcPr/>
                </a:tc>
                <a:tc>
                  <a:txBody>
                    <a:bodyPr/>
                    <a:lstStyle/>
                    <a:p>
                      <a:pPr algn="ctr">
                        <a:defRPr sz="1400">
                          <a:solidFill>
                            <a:srgbClr val="424242"/>
                          </a:solidFill>
                        </a:defRPr>
                      </a:pPr>
                      <a:r>
                        <a:t>5,000+</a:t>
                      </a:r>
                    </a:p>
                  </a:txBody>
                  <a:tcPr/>
                </a:tc>
                <a:tc>
                  <a:txBody>
                    <a:bodyPr/>
                    <a:lstStyle/>
                    <a:p>
                      <a:pPr algn="ctr">
                        <a:defRPr sz="1400">
                          <a:solidFill>
                            <a:srgbClr val="424242"/>
                          </a:solidFill>
                        </a:defRPr>
                      </a:pPr>
                      <a:r>
                        <a:t>$100K</a:t>
                      </a:r>
                    </a:p>
                  </a:txBody>
                  <a:tcPr/>
                </a:tc>
                <a:tc>
                  <a:txBody>
                    <a:bodyPr/>
                    <a:lstStyle/>
                    <a:p>
                      <a:pPr algn="ctr">
                        <a:defRPr sz="1400">
                          <a:solidFill>
                            <a:srgbClr val="424242"/>
                          </a:solidFill>
                        </a:defRPr>
                      </a:pPr>
                      <a:r>
                        <a:t>⭐⭐</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4" y="320044"/>
            <a:ext cx="4536627" cy="584775"/>
          </a:xfrm>
          <a:prstGeom prst="rect">
            <a:avLst/>
          </a:prstGeom>
          <a:noFill/>
        </p:spPr>
        <p:txBody>
          <a:bodyPr wrap="none">
            <a:spAutoFit/>
          </a:bodyPr>
          <a:lstStyle/>
          <a:p>
            <a:pPr>
              <a:defRPr sz="3200" b="1">
                <a:solidFill>
                  <a:srgbClr val="FFFFFF"/>
                </a:solidFill>
              </a:defRPr>
            </a:pPr>
            <a:r>
              <a:rPr sz="3200"/>
              <a:t>The Perfect Early Adopter</a:t>
            </a:r>
          </a:p>
        </p:txBody>
      </p:sp>
      <p:sp>
        <p:nvSpPr>
          <p:cNvPr id="4" name="TextBox 3"/>
          <p:cNvSpPr txBox="1"/>
          <p:nvPr/>
        </p:nvSpPr>
        <p:spPr>
          <a:xfrm>
            <a:off x="457204" y="1280164"/>
            <a:ext cx="2028119" cy="430887"/>
          </a:xfrm>
          <a:prstGeom prst="rect">
            <a:avLst/>
          </a:prstGeom>
          <a:noFill/>
        </p:spPr>
        <p:txBody>
          <a:bodyPr wrap="none">
            <a:spAutoFit/>
          </a:bodyPr>
          <a:lstStyle/>
          <a:p>
            <a:pPr>
              <a:defRPr sz="2200" b="1">
                <a:solidFill>
                  <a:srgbClr val="1A365D"/>
                </a:solidFill>
              </a:defRPr>
            </a:pPr>
            <a:r>
              <a:rPr sz="2200"/>
              <a:t>Must-Haves ✅</a:t>
            </a:r>
          </a:p>
        </p:txBody>
      </p:sp>
      <p:sp>
        <p:nvSpPr>
          <p:cNvPr id="5" name="TextBox 4"/>
          <p:cNvSpPr txBox="1"/>
          <p:nvPr/>
        </p:nvSpPr>
        <p:spPr>
          <a:xfrm>
            <a:off x="457200" y="1737360"/>
            <a:ext cx="3840480" cy="1631216"/>
          </a:xfrm>
          <a:prstGeom prst="rect">
            <a:avLst/>
          </a:prstGeom>
          <a:noFill/>
        </p:spPr>
        <p:txBody>
          <a:bodyPr wrap="square">
            <a:spAutoFit/>
          </a:bodyPr>
          <a:lstStyle/>
          <a:p>
            <a:pPr>
              <a:spcAft>
                <a:spcPts val="800"/>
              </a:spcAft>
              <a:defRPr sz="2000">
                <a:solidFill>
                  <a:srgbClr val="424242"/>
                </a:solidFill>
              </a:defRPr>
            </a:pPr>
            <a:r>
              <a:rPr sz="2000"/>
              <a:t>• Existing data infrastructure</a:t>
            </a:r>
          </a:p>
          <a:p>
            <a:pPr>
              <a:spcAft>
                <a:spcPts val="800"/>
              </a:spcAft>
              <a:defRPr sz="2000">
                <a:solidFill>
                  <a:srgbClr val="424242"/>
                </a:solidFill>
              </a:defRPr>
            </a:pPr>
            <a:r>
              <a:rPr sz="2000"/>
              <a:t>• Analytics team to validate</a:t>
            </a:r>
          </a:p>
          <a:p>
            <a:pPr>
              <a:spcAft>
                <a:spcPts val="800"/>
              </a:spcAft>
              <a:defRPr sz="2000">
                <a:solidFill>
                  <a:srgbClr val="424242"/>
                </a:solidFill>
              </a:defRPr>
            </a:pPr>
            <a:r>
              <a:rPr sz="2000"/>
              <a:t>• Executive sponsor with budget</a:t>
            </a:r>
          </a:p>
          <a:p>
            <a:pPr>
              <a:spcAft>
                <a:spcPts val="800"/>
              </a:spcAft>
              <a:defRPr sz="2000">
                <a:solidFill>
                  <a:srgbClr val="424242"/>
                </a:solidFill>
              </a:defRPr>
            </a:pPr>
            <a:r>
              <a:rPr sz="2000"/>
              <a:t>• $1M+ annual consulting spend</a:t>
            </a:r>
          </a:p>
        </p:txBody>
      </p:sp>
      <p:sp>
        <p:nvSpPr>
          <p:cNvPr id="6" name="TextBox 5"/>
          <p:cNvSpPr txBox="1"/>
          <p:nvPr/>
        </p:nvSpPr>
        <p:spPr>
          <a:xfrm>
            <a:off x="4846324" y="1280164"/>
            <a:ext cx="2286203" cy="430887"/>
          </a:xfrm>
          <a:prstGeom prst="rect">
            <a:avLst/>
          </a:prstGeom>
          <a:noFill/>
        </p:spPr>
        <p:txBody>
          <a:bodyPr wrap="none">
            <a:spAutoFit/>
          </a:bodyPr>
          <a:lstStyle/>
          <a:p>
            <a:pPr>
              <a:defRPr sz="2200" b="1">
                <a:solidFill>
                  <a:srgbClr val="1A365D"/>
                </a:solidFill>
              </a:defRPr>
            </a:pPr>
            <a:r>
              <a:rPr sz="2200"/>
              <a:t>Trigger Events 🎯</a:t>
            </a:r>
          </a:p>
        </p:txBody>
      </p:sp>
      <p:sp>
        <p:nvSpPr>
          <p:cNvPr id="7" name="TextBox 6"/>
          <p:cNvSpPr txBox="1"/>
          <p:nvPr/>
        </p:nvSpPr>
        <p:spPr>
          <a:xfrm>
            <a:off x="4846320" y="1737364"/>
            <a:ext cx="3840480" cy="2041585"/>
          </a:xfrm>
          <a:prstGeom prst="rect">
            <a:avLst/>
          </a:prstGeom>
          <a:noFill/>
        </p:spPr>
        <p:txBody>
          <a:bodyPr wrap="square">
            <a:spAutoFit/>
          </a:bodyPr>
          <a:lstStyle/>
          <a:p>
            <a:pPr>
              <a:spcAft>
                <a:spcPts val="800"/>
              </a:spcAft>
              <a:defRPr sz="2000">
                <a:solidFill>
                  <a:srgbClr val="424242"/>
                </a:solidFill>
              </a:defRPr>
            </a:pPr>
            <a:r>
              <a:rPr sz="2000"/>
              <a:t>• New CFO/CSO hire (first 90 days)</a:t>
            </a:r>
          </a:p>
          <a:p>
            <a:pPr>
              <a:spcAft>
                <a:spcPts val="800"/>
              </a:spcAft>
              <a:defRPr sz="2000">
                <a:solidFill>
                  <a:srgbClr val="424242"/>
                </a:solidFill>
              </a:defRPr>
            </a:pPr>
            <a:r>
              <a:rPr sz="2000"/>
              <a:t>• PE acquisition</a:t>
            </a:r>
          </a:p>
          <a:p>
            <a:pPr>
              <a:spcAft>
                <a:spcPts val="800"/>
              </a:spcAft>
              <a:defRPr sz="2000">
                <a:solidFill>
                  <a:srgbClr val="424242"/>
                </a:solidFill>
              </a:defRPr>
            </a:pPr>
            <a:r>
              <a:rPr sz="2000"/>
              <a:t>• Activist investor pressure</a:t>
            </a:r>
          </a:p>
          <a:p>
            <a:pPr>
              <a:spcAft>
                <a:spcPts val="800"/>
              </a:spcAft>
              <a:defRPr sz="2000">
                <a:solidFill>
                  <a:srgbClr val="424242"/>
                </a:solidFill>
              </a:defRPr>
            </a:pPr>
            <a:r>
              <a:rPr sz="2000"/>
              <a:t>• IPO preparation</a:t>
            </a:r>
          </a:p>
          <a:p>
            <a:pPr>
              <a:spcAft>
                <a:spcPts val="800"/>
              </a:spcAft>
              <a:defRPr sz="2000">
                <a:solidFill>
                  <a:srgbClr val="424242"/>
                </a:solidFill>
              </a:defRPr>
            </a:pPr>
            <a:r>
              <a:rPr sz="2000"/>
              <a:t>• Cost reduction initiative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4" y="320044"/>
            <a:ext cx="6458371" cy="584775"/>
          </a:xfrm>
          <a:prstGeom prst="rect">
            <a:avLst/>
          </a:prstGeom>
          <a:noFill/>
        </p:spPr>
        <p:txBody>
          <a:bodyPr wrap="none">
            <a:spAutoFit/>
          </a:bodyPr>
          <a:lstStyle/>
          <a:p>
            <a:pPr>
              <a:defRPr sz="3200" b="1">
                <a:solidFill>
                  <a:srgbClr val="FFFFFF"/>
                </a:solidFill>
              </a:defRPr>
            </a:pPr>
            <a:r>
              <a:rPr sz="3200"/>
              <a:t>Go-to-Market: Land, Expand, Partner</a:t>
            </a:r>
          </a:p>
        </p:txBody>
      </p:sp>
      <p:sp>
        <p:nvSpPr>
          <p:cNvPr id="4" name="TextBox 3"/>
          <p:cNvSpPr txBox="1"/>
          <p:nvPr/>
        </p:nvSpPr>
        <p:spPr>
          <a:xfrm>
            <a:off x="457200" y="1371600"/>
            <a:ext cx="8229600" cy="5693866"/>
          </a:xfrm>
          <a:prstGeom prst="rect">
            <a:avLst/>
          </a:prstGeom>
          <a:noFill/>
        </p:spPr>
        <p:txBody>
          <a:bodyPr wrap="square">
            <a:spAutoFit/>
          </a:bodyPr>
          <a:lstStyle/>
          <a:p>
            <a:pPr>
              <a:spcAft>
                <a:spcPts val="1200"/>
              </a:spcAft>
              <a:defRPr sz="2400">
                <a:solidFill>
                  <a:srgbClr val="424242"/>
                </a:solidFill>
              </a:defRPr>
            </a:pPr>
            <a:r>
              <a:rPr sz="2400"/>
              <a:t>PHASE 1: LAND (Q1-Q2 2025)</a:t>
            </a:r>
          </a:p>
          <a:p>
            <a:pPr>
              <a:spcAft>
                <a:spcPts val="1200"/>
              </a:spcAft>
              <a:defRPr sz="2400">
                <a:solidFill>
                  <a:srgbClr val="424242"/>
                </a:solidFill>
              </a:defRPr>
            </a:pPr>
            <a:r>
              <a:rPr sz="2400"/>
              <a:t>   • Direct sales to 10-20 early adopters</a:t>
            </a:r>
          </a:p>
          <a:p>
            <a:pPr>
              <a:spcAft>
                <a:spcPts val="1200"/>
              </a:spcAft>
              <a:defRPr sz="2400">
                <a:solidFill>
                  <a:srgbClr val="424242"/>
                </a:solidFill>
              </a:defRPr>
            </a:pPr>
            <a:r>
              <a:rPr sz="2400"/>
              <a:t>   • Goal: 5-10 customers, $500K ARR</a:t>
            </a:r>
          </a:p>
          <a:p>
            <a:pPr>
              <a:spcAft>
                <a:spcPts val="1200"/>
              </a:spcAft>
              <a:defRPr sz="2400">
                <a:solidFill>
                  <a:srgbClr val="424242"/>
                </a:solidFill>
              </a:defRPr>
            </a:pPr>
            <a:endParaRPr sz="2400"/>
          </a:p>
          <a:p>
            <a:pPr>
              <a:spcAft>
                <a:spcPts val="1200"/>
              </a:spcAft>
              <a:defRPr sz="2400">
                <a:solidFill>
                  <a:srgbClr val="424242"/>
                </a:solidFill>
              </a:defRPr>
            </a:pPr>
            <a:r>
              <a:rPr sz="2400"/>
              <a:t>PHASE 2: EXPAND (Q3-Q4 2025)</a:t>
            </a:r>
          </a:p>
          <a:p>
            <a:pPr>
              <a:spcAft>
                <a:spcPts val="1200"/>
              </a:spcAft>
              <a:defRPr sz="2400">
                <a:solidFill>
                  <a:srgbClr val="424242"/>
                </a:solidFill>
              </a:defRPr>
            </a:pPr>
            <a:r>
              <a:rPr sz="2400"/>
              <a:t>   • Grow within accounts, add use cases</a:t>
            </a:r>
          </a:p>
          <a:p>
            <a:pPr>
              <a:spcAft>
                <a:spcPts val="1200"/>
              </a:spcAft>
              <a:defRPr sz="2400">
                <a:solidFill>
                  <a:srgbClr val="424242"/>
                </a:solidFill>
              </a:defRPr>
            </a:pPr>
            <a:r>
              <a:rPr sz="2400"/>
              <a:t>   • Goal: $150K avg ACV, $2M ARR</a:t>
            </a:r>
          </a:p>
          <a:p>
            <a:pPr>
              <a:spcAft>
                <a:spcPts val="1200"/>
              </a:spcAft>
              <a:defRPr sz="2400">
                <a:solidFill>
                  <a:srgbClr val="424242"/>
                </a:solidFill>
              </a:defRPr>
            </a:pPr>
            <a:endParaRPr sz="2400"/>
          </a:p>
          <a:p>
            <a:pPr>
              <a:spcAft>
                <a:spcPts val="1200"/>
              </a:spcAft>
              <a:defRPr sz="2400">
                <a:solidFill>
                  <a:srgbClr val="424242"/>
                </a:solidFill>
              </a:defRPr>
            </a:pPr>
            <a:r>
              <a:rPr sz="2400"/>
              <a:t>PHASE 3: PARTNER (2026)</a:t>
            </a:r>
          </a:p>
          <a:p>
            <a:pPr>
              <a:spcAft>
                <a:spcPts val="1200"/>
              </a:spcAft>
              <a:defRPr sz="2400">
                <a:solidFill>
                  <a:srgbClr val="424242"/>
                </a:solidFill>
              </a:defRPr>
            </a:pPr>
            <a:r>
              <a:rPr sz="2400"/>
              <a:t>   • Launch branded agent marketplace</a:t>
            </a:r>
          </a:p>
          <a:p>
            <a:pPr>
              <a:spcAft>
                <a:spcPts val="1200"/>
              </a:spcAft>
              <a:defRPr sz="2400">
                <a:solidFill>
                  <a:srgbClr val="424242"/>
                </a:solidFill>
              </a:defRPr>
            </a:pPr>
            <a:r>
              <a:rPr sz="2400"/>
              <a:t>   • Goal: 50% revenue from partner channel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4"/>
            <a:ext cx="4025846" cy="584775"/>
          </a:xfrm>
          <a:prstGeom prst="rect">
            <a:avLst/>
          </a:prstGeom>
          <a:noFill/>
        </p:spPr>
        <p:txBody>
          <a:bodyPr wrap="none">
            <a:spAutoFit/>
          </a:bodyPr>
          <a:lstStyle/>
          <a:p>
            <a:pPr>
              <a:defRPr sz="3200" b="1">
                <a:solidFill>
                  <a:srgbClr val="FFFFFF"/>
                </a:solidFill>
              </a:defRPr>
            </a:pPr>
            <a:r>
              <a:rPr sz="3200"/>
              <a:t>Why Partners Will Join</a:t>
            </a:r>
          </a:p>
        </p:txBody>
      </p:sp>
      <p:graphicFrame>
        <p:nvGraphicFramePr>
          <p:cNvPr id="4" name="Table 3"/>
          <p:cNvGraphicFramePr>
            <a:graphicFrameLocks noGrp="1"/>
          </p:cNvGraphicFramePr>
          <p:nvPr/>
        </p:nvGraphicFramePr>
        <p:xfrm>
          <a:off x="457200" y="1463040"/>
          <a:ext cx="82296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57200">
                <a:tc>
                  <a:txBody>
                    <a:bodyPr/>
                    <a:lstStyle/>
                    <a:p>
                      <a:pPr algn="ctr">
                        <a:defRPr sz="1600" b="1">
                          <a:solidFill>
                            <a:srgbClr val="FFFFFF"/>
                          </a:solidFill>
                        </a:defRPr>
                      </a:pPr>
                      <a:r>
                        <a:t>Partner Fear</a:t>
                      </a:r>
                    </a:p>
                  </a:txBody>
                  <a:tcPr>
                    <a:solidFill>
                      <a:srgbClr val="1A365D"/>
                    </a:solidFill>
                  </a:tcPr>
                </a:tc>
                <a:tc>
                  <a:txBody>
                    <a:bodyPr/>
                    <a:lstStyle/>
                    <a:p>
                      <a:pPr algn="ctr">
                        <a:defRPr sz="1600" b="1">
                          <a:solidFill>
                            <a:srgbClr val="FFFFFF"/>
                          </a:solidFill>
                        </a:defRPr>
                      </a:pPr>
                      <a:r>
                        <a:t>Agent9 Reality</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"We'll cannibalize revenue"</a:t>
                      </a:r>
                    </a:p>
                  </a:txBody>
                  <a:tcPr>
                    <a:solidFill>
                      <a:srgbClr val="F5F5F5"/>
                    </a:solidFill>
                  </a:tcPr>
                </a:tc>
                <a:tc>
                  <a:txBody>
                    <a:bodyPr/>
                    <a:lstStyle/>
                    <a:p>
                      <a:pPr algn="ctr">
                        <a:defRPr sz="1400">
                          <a:solidFill>
                            <a:srgbClr val="424242"/>
                          </a:solidFill>
                        </a:defRPr>
                      </a:pPr>
                      <a:r>
                        <a:t>Access markets you can't serve today</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"Our IP will be commoditized"</a:t>
                      </a:r>
                    </a:p>
                  </a:txBody>
                  <a:tcPr/>
                </a:tc>
                <a:tc>
                  <a:txBody>
                    <a:bodyPr/>
                    <a:lstStyle/>
                    <a:p>
                      <a:pPr algn="ctr">
                        <a:defRPr sz="1400">
                          <a:solidFill>
                            <a:srgbClr val="424242"/>
                          </a:solidFill>
                        </a:defRPr>
                      </a:pPr>
                      <a:r>
                        <a:t>Monetize IP that's currently free</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"Clients won't need us"</a:t>
                      </a:r>
                    </a:p>
                  </a:txBody>
                  <a:tcPr>
                    <a:solidFill>
                      <a:srgbClr val="F5F5F5"/>
                    </a:solidFill>
                  </a:tcPr>
                </a:tc>
                <a:tc>
                  <a:txBody>
                    <a:bodyPr/>
                    <a:lstStyle/>
                    <a:p>
                      <a:pPr algn="ctr">
                        <a:defRPr sz="1400">
                          <a:solidFill>
                            <a:srgbClr val="424242"/>
                          </a:solidFill>
                        </a:defRPr>
                      </a:pPr>
                      <a:r>
                        <a:t>Agents generate leads for human work</a:t>
                      </a:r>
                    </a:p>
                  </a:txBody>
                  <a:tcPr>
                    <a:solidFill>
                      <a:srgbClr val="F5F5F5"/>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4" y="320044"/>
            <a:ext cx="5483617" cy="584775"/>
          </a:xfrm>
          <a:prstGeom prst="rect">
            <a:avLst/>
          </a:prstGeom>
          <a:noFill/>
        </p:spPr>
        <p:txBody>
          <a:bodyPr wrap="none">
            <a:spAutoFit/>
          </a:bodyPr>
          <a:lstStyle/>
          <a:p>
            <a:pPr>
              <a:defRPr sz="3200" b="1">
                <a:solidFill>
                  <a:srgbClr val="FFFFFF"/>
                </a:solidFill>
              </a:defRPr>
            </a:pPr>
            <a:r>
              <a:rPr sz="3200"/>
              <a:t>We're Creating a New Category</a:t>
            </a:r>
          </a:p>
        </p:txBody>
      </p:sp>
      <p:sp>
        <p:nvSpPr>
          <p:cNvPr id="4" name="TextBox 3"/>
          <p:cNvSpPr txBox="1"/>
          <p:nvPr/>
        </p:nvSpPr>
        <p:spPr>
          <a:xfrm>
            <a:off x="457200" y="1371600"/>
            <a:ext cx="8229600" cy="6586418"/>
          </a:xfrm>
          <a:prstGeom prst="rect">
            <a:avLst/>
          </a:prstGeom>
          <a:noFill/>
        </p:spPr>
        <p:txBody>
          <a:bodyPr wrap="square">
            <a:spAutoFit/>
          </a:bodyPr>
          <a:lstStyle/>
          <a:p>
            <a:pPr>
              <a:spcAft>
                <a:spcPts val="1200"/>
              </a:spcAft>
              <a:defRPr sz="2400">
                <a:solidFill>
                  <a:srgbClr val="424242"/>
                </a:solidFill>
              </a:defRPr>
            </a:pPr>
            <a:r>
              <a:rPr sz="2400"/>
              <a:t>                         HIGH EXPERTISE</a:t>
            </a:r>
          </a:p>
          <a:p>
            <a:pPr>
              <a:spcAft>
                <a:spcPts val="1200"/>
              </a:spcAft>
              <a:defRPr sz="2400">
                <a:solidFill>
                  <a:srgbClr val="424242"/>
                </a:solidFill>
              </a:defRPr>
            </a:pPr>
            <a:r>
              <a:rPr sz="2400"/>
              <a:t>                               │</a:t>
            </a:r>
          </a:p>
          <a:p>
            <a:pPr>
              <a:spcAft>
                <a:spcPts val="1200"/>
              </a:spcAft>
              <a:defRPr sz="2400">
                <a:solidFill>
                  <a:srgbClr val="424242"/>
                </a:solidFill>
              </a:defRPr>
            </a:pPr>
            <a:r>
              <a:rPr sz="2400"/>
              <a:t>        Traditional            │           Agent9</a:t>
            </a:r>
          </a:p>
          <a:p>
            <a:pPr>
              <a:spcAft>
                <a:spcPts val="1200"/>
              </a:spcAft>
              <a:defRPr sz="2400">
                <a:solidFill>
                  <a:srgbClr val="424242"/>
                </a:solidFill>
              </a:defRPr>
            </a:pPr>
            <a:r>
              <a:rPr sz="2400"/>
              <a:t>        Consulting             │           CaaS ★</a:t>
            </a:r>
          </a:p>
          <a:p>
            <a:pPr>
              <a:spcAft>
                <a:spcPts val="1200"/>
              </a:spcAft>
              <a:defRPr sz="2400">
                <a:solidFill>
                  <a:srgbClr val="424242"/>
                </a:solidFill>
              </a:defRPr>
            </a:pPr>
            <a:r>
              <a:rPr sz="2400"/>
              <a:t>        (McKinsey)             │</a:t>
            </a:r>
          </a:p>
          <a:p>
            <a:pPr>
              <a:spcAft>
                <a:spcPts val="1200"/>
              </a:spcAft>
              <a:defRPr sz="2400">
                <a:solidFill>
                  <a:srgbClr val="424242"/>
                </a:solidFill>
              </a:defRPr>
            </a:pPr>
            <a:r>
              <a:rPr sz="2400"/>
              <a:t>                               │</a:t>
            </a:r>
          </a:p>
          <a:p>
            <a:pPr>
              <a:spcAft>
                <a:spcPts val="1200"/>
              </a:spcAft>
              <a:defRPr sz="2400">
                <a:solidFill>
                  <a:srgbClr val="424242"/>
                </a:solidFill>
              </a:defRPr>
            </a:pPr>
            <a:r>
              <a:rPr sz="2400"/>
              <a:t>   LOW SCALE ──────────────────┼─────────────── HIGH SCALE</a:t>
            </a:r>
          </a:p>
          <a:p>
            <a:pPr>
              <a:spcAft>
                <a:spcPts val="1200"/>
              </a:spcAft>
              <a:defRPr sz="2400">
                <a:solidFill>
                  <a:srgbClr val="424242"/>
                </a:solidFill>
              </a:defRPr>
            </a:pPr>
            <a:r>
              <a:rPr sz="2400"/>
              <a:t>                               │</a:t>
            </a:r>
          </a:p>
          <a:p>
            <a:pPr>
              <a:spcAft>
                <a:spcPts val="1200"/>
              </a:spcAft>
              <a:defRPr sz="2400">
                <a:solidFill>
                  <a:srgbClr val="424242"/>
                </a:solidFill>
              </a:defRPr>
            </a:pPr>
            <a:r>
              <a:rPr sz="2400"/>
              <a:t>        Generic AI             │</a:t>
            </a:r>
          </a:p>
          <a:p>
            <a:pPr>
              <a:spcAft>
                <a:spcPts val="1200"/>
              </a:spcAft>
              <a:defRPr sz="2400">
                <a:solidFill>
                  <a:srgbClr val="424242"/>
                </a:solidFill>
              </a:defRPr>
            </a:pPr>
            <a:r>
              <a:rPr sz="2400"/>
              <a:t>        (ChatGPT)              │           (empty)</a:t>
            </a:r>
          </a:p>
          <a:p>
            <a:pPr>
              <a:spcAft>
                <a:spcPts val="1200"/>
              </a:spcAft>
              <a:defRPr sz="2400">
                <a:solidFill>
                  <a:srgbClr val="424242"/>
                </a:solidFill>
              </a:defRPr>
            </a:pPr>
            <a:r>
              <a:rPr sz="2400"/>
              <a:t>                               │</a:t>
            </a:r>
          </a:p>
          <a:p>
            <a:pPr>
              <a:spcAft>
                <a:spcPts val="1200"/>
              </a:spcAft>
              <a:defRPr sz="2400">
                <a:solidFill>
                  <a:srgbClr val="424242"/>
                </a:solidFill>
              </a:defRPr>
            </a:pPr>
            <a:r>
              <a:rPr sz="2400"/>
              <a:t>                         LOW EXPERTISE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4" y="320044"/>
            <a:ext cx="5274201" cy="584775"/>
          </a:xfrm>
          <a:prstGeom prst="rect">
            <a:avLst/>
          </a:prstGeom>
          <a:noFill/>
        </p:spPr>
        <p:txBody>
          <a:bodyPr wrap="none">
            <a:spAutoFit/>
          </a:bodyPr>
          <a:lstStyle/>
          <a:p>
            <a:pPr>
              <a:defRPr sz="3200" b="1">
                <a:solidFill>
                  <a:srgbClr val="FFFFFF"/>
                </a:solidFill>
              </a:defRPr>
            </a:pPr>
            <a:r>
              <a:rPr sz="3200"/>
              <a:t>Our Moat Deepens Over Time</a:t>
            </a:r>
          </a:p>
        </p:txBody>
      </p:sp>
      <p:sp>
        <p:nvSpPr>
          <p:cNvPr id="4" name="TextBox 3"/>
          <p:cNvSpPr txBox="1"/>
          <p:nvPr/>
        </p:nvSpPr>
        <p:spPr>
          <a:xfrm>
            <a:off x="457204" y="1463040"/>
            <a:ext cx="678391" cy="523220"/>
          </a:xfrm>
          <a:prstGeom prst="rect">
            <a:avLst/>
          </a:prstGeom>
          <a:noFill/>
        </p:spPr>
        <p:txBody>
          <a:bodyPr wrap="none">
            <a:spAutoFit/>
          </a:bodyPr>
          <a:lstStyle/>
          <a:p>
            <a:pPr>
              <a:defRPr sz="2800"/>
            </a:pPr>
            <a:r>
              <a:rPr sz="2800"/>
              <a:t>🤝</a:t>
            </a:r>
          </a:p>
        </p:txBody>
      </p:sp>
      <p:sp>
        <p:nvSpPr>
          <p:cNvPr id="5" name="TextBox 4"/>
          <p:cNvSpPr txBox="1"/>
          <p:nvPr/>
        </p:nvSpPr>
        <p:spPr>
          <a:xfrm>
            <a:off x="1005844" y="1463040"/>
            <a:ext cx="1964769" cy="400110"/>
          </a:xfrm>
          <a:prstGeom prst="rect">
            <a:avLst/>
          </a:prstGeom>
          <a:noFill/>
        </p:spPr>
        <p:txBody>
          <a:bodyPr wrap="none">
            <a:spAutoFit/>
          </a:bodyPr>
          <a:lstStyle/>
          <a:p>
            <a:pPr>
              <a:defRPr sz="2000" b="1">
                <a:solidFill>
                  <a:srgbClr val="1A365D"/>
                </a:solidFill>
              </a:defRPr>
            </a:pPr>
            <a:r>
              <a:rPr sz="2000"/>
              <a:t>Partner Network</a:t>
            </a:r>
          </a:p>
        </p:txBody>
      </p:sp>
      <p:sp>
        <p:nvSpPr>
          <p:cNvPr id="6" name="TextBox 5"/>
          <p:cNvSpPr txBox="1"/>
          <p:nvPr/>
        </p:nvSpPr>
        <p:spPr>
          <a:xfrm>
            <a:off x="1005840" y="1828804"/>
            <a:ext cx="3200400" cy="584775"/>
          </a:xfrm>
          <a:prstGeom prst="rect">
            <a:avLst/>
          </a:prstGeom>
          <a:noFill/>
        </p:spPr>
        <p:txBody>
          <a:bodyPr wrap="square">
            <a:spAutoFit/>
          </a:bodyPr>
          <a:lstStyle/>
          <a:p>
            <a:pPr>
              <a:defRPr sz="1600">
                <a:solidFill>
                  <a:srgbClr val="424242"/>
                </a:solidFill>
              </a:defRPr>
            </a:pPr>
            <a:r>
              <a:rPr sz="1600"/>
              <a:t>More partners → more expertise → more customers</a:t>
            </a:r>
          </a:p>
        </p:txBody>
      </p:sp>
      <p:sp>
        <p:nvSpPr>
          <p:cNvPr id="7" name="TextBox 6"/>
          <p:cNvSpPr txBox="1"/>
          <p:nvPr/>
        </p:nvSpPr>
        <p:spPr>
          <a:xfrm>
            <a:off x="457204" y="2743200"/>
            <a:ext cx="652743" cy="523220"/>
          </a:xfrm>
          <a:prstGeom prst="rect">
            <a:avLst/>
          </a:prstGeom>
          <a:noFill/>
        </p:spPr>
        <p:txBody>
          <a:bodyPr wrap="none">
            <a:spAutoFit/>
          </a:bodyPr>
          <a:lstStyle/>
          <a:p>
            <a:pPr>
              <a:defRPr sz="2800"/>
            </a:pPr>
            <a:r>
              <a:rPr sz="2800"/>
              <a:t>📊</a:t>
            </a:r>
          </a:p>
        </p:txBody>
      </p:sp>
      <p:sp>
        <p:nvSpPr>
          <p:cNvPr id="8" name="TextBox 7"/>
          <p:cNvSpPr txBox="1"/>
          <p:nvPr/>
        </p:nvSpPr>
        <p:spPr>
          <a:xfrm>
            <a:off x="1005840" y="2743200"/>
            <a:ext cx="1666738" cy="400110"/>
          </a:xfrm>
          <a:prstGeom prst="rect">
            <a:avLst/>
          </a:prstGeom>
          <a:noFill/>
        </p:spPr>
        <p:txBody>
          <a:bodyPr wrap="none">
            <a:spAutoFit/>
          </a:bodyPr>
          <a:lstStyle/>
          <a:p>
            <a:pPr>
              <a:defRPr sz="2000" b="1">
                <a:solidFill>
                  <a:srgbClr val="1A365D"/>
                </a:solidFill>
              </a:defRPr>
            </a:pPr>
            <a:r>
              <a:rPr sz="2000"/>
              <a:t>Data Network</a:t>
            </a:r>
          </a:p>
        </p:txBody>
      </p:sp>
      <p:sp>
        <p:nvSpPr>
          <p:cNvPr id="9" name="TextBox 8"/>
          <p:cNvSpPr txBox="1"/>
          <p:nvPr/>
        </p:nvSpPr>
        <p:spPr>
          <a:xfrm>
            <a:off x="1005840" y="3108964"/>
            <a:ext cx="3200400" cy="584775"/>
          </a:xfrm>
          <a:prstGeom prst="rect">
            <a:avLst/>
          </a:prstGeom>
          <a:noFill/>
        </p:spPr>
        <p:txBody>
          <a:bodyPr wrap="square">
            <a:spAutoFit/>
          </a:bodyPr>
          <a:lstStyle/>
          <a:p>
            <a:pPr>
              <a:defRPr sz="1600">
                <a:solidFill>
                  <a:srgbClr val="424242"/>
                </a:solidFill>
              </a:defRPr>
            </a:pPr>
            <a:r>
              <a:rPr sz="1600"/>
              <a:t>More customers → better pattern recognition</a:t>
            </a:r>
          </a:p>
        </p:txBody>
      </p:sp>
      <p:sp>
        <p:nvSpPr>
          <p:cNvPr id="10" name="TextBox 9"/>
          <p:cNvSpPr txBox="1"/>
          <p:nvPr/>
        </p:nvSpPr>
        <p:spPr>
          <a:xfrm>
            <a:off x="457204" y="4023360"/>
            <a:ext cx="601447" cy="523220"/>
          </a:xfrm>
          <a:prstGeom prst="rect">
            <a:avLst/>
          </a:prstGeom>
          <a:noFill/>
        </p:spPr>
        <p:txBody>
          <a:bodyPr wrap="none">
            <a:spAutoFit/>
          </a:bodyPr>
          <a:lstStyle/>
          <a:p>
            <a:pPr>
              <a:defRPr sz="2800"/>
            </a:pPr>
            <a:r>
              <a:rPr sz="2800"/>
              <a:t>🔒</a:t>
            </a:r>
          </a:p>
        </p:txBody>
      </p:sp>
      <p:sp>
        <p:nvSpPr>
          <p:cNvPr id="11" name="TextBox 10"/>
          <p:cNvSpPr txBox="1"/>
          <p:nvPr/>
        </p:nvSpPr>
        <p:spPr>
          <a:xfrm>
            <a:off x="1005840" y="4023360"/>
            <a:ext cx="2436886" cy="400110"/>
          </a:xfrm>
          <a:prstGeom prst="rect">
            <a:avLst/>
          </a:prstGeom>
          <a:noFill/>
        </p:spPr>
        <p:txBody>
          <a:bodyPr wrap="none">
            <a:spAutoFit/>
          </a:bodyPr>
          <a:lstStyle/>
          <a:p>
            <a:pPr>
              <a:defRPr sz="2000" b="1">
                <a:solidFill>
                  <a:srgbClr val="1A365D"/>
                </a:solidFill>
              </a:defRPr>
            </a:pPr>
            <a:r>
              <a:rPr sz="2000"/>
              <a:t>Methodology Lock-in</a:t>
            </a:r>
          </a:p>
        </p:txBody>
      </p:sp>
      <p:sp>
        <p:nvSpPr>
          <p:cNvPr id="12" name="TextBox 11"/>
          <p:cNvSpPr txBox="1"/>
          <p:nvPr/>
        </p:nvSpPr>
        <p:spPr>
          <a:xfrm>
            <a:off x="1005840" y="4389124"/>
            <a:ext cx="3200400" cy="584775"/>
          </a:xfrm>
          <a:prstGeom prst="rect">
            <a:avLst/>
          </a:prstGeom>
          <a:noFill/>
        </p:spPr>
        <p:txBody>
          <a:bodyPr wrap="square">
            <a:spAutoFit/>
          </a:bodyPr>
          <a:lstStyle/>
          <a:p>
            <a:pPr>
              <a:defRPr sz="1600">
                <a:solidFill>
                  <a:srgbClr val="424242"/>
                </a:solidFill>
              </a:defRPr>
            </a:pPr>
            <a:r>
              <a:rPr sz="1600"/>
              <a:t>Partner IP encoded, hard to replicate</a:t>
            </a:r>
          </a:p>
        </p:txBody>
      </p:sp>
      <p:sp>
        <p:nvSpPr>
          <p:cNvPr id="13" name="TextBox 12"/>
          <p:cNvSpPr txBox="1"/>
          <p:nvPr/>
        </p:nvSpPr>
        <p:spPr>
          <a:xfrm>
            <a:off x="4846324" y="1463040"/>
            <a:ext cx="601447" cy="523220"/>
          </a:xfrm>
          <a:prstGeom prst="rect">
            <a:avLst/>
          </a:prstGeom>
          <a:noFill/>
        </p:spPr>
        <p:txBody>
          <a:bodyPr wrap="none">
            <a:spAutoFit/>
          </a:bodyPr>
          <a:lstStyle/>
          <a:p>
            <a:pPr>
              <a:defRPr sz="2800"/>
            </a:pPr>
            <a:r>
              <a:rPr sz="2800"/>
              <a:t>📋</a:t>
            </a:r>
          </a:p>
        </p:txBody>
      </p:sp>
      <p:sp>
        <p:nvSpPr>
          <p:cNvPr id="14" name="TextBox 13"/>
          <p:cNvSpPr txBox="1"/>
          <p:nvPr/>
        </p:nvSpPr>
        <p:spPr>
          <a:xfrm>
            <a:off x="5394960" y="1463040"/>
            <a:ext cx="1786836" cy="400110"/>
          </a:xfrm>
          <a:prstGeom prst="rect">
            <a:avLst/>
          </a:prstGeom>
          <a:noFill/>
        </p:spPr>
        <p:txBody>
          <a:bodyPr wrap="none">
            <a:spAutoFit/>
          </a:bodyPr>
          <a:lstStyle/>
          <a:p>
            <a:pPr>
              <a:defRPr sz="2000" b="1">
                <a:solidFill>
                  <a:srgbClr val="1A365D"/>
                </a:solidFill>
              </a:defRPr>
            </a:pPr>
            <a:r>
              <a:rPr sz="2000"/>
              <a:t>Audit Standard</a:t>
            </a:r>
          </a:p>
        </p:txBody>
      </p:sp>
      <p:sp>
        <p:nvSpPr>
          <p:cNvPr id="15" name="TextBox 14"/>
          <p:cNvSpPr txBox="1"/>
          <p:nvPr/>
        </p:nvSpPr>
        <p:spPr>
          <a:xfrm>
            <a:off x="5394960" y="1828804"/>
            <a:ext cx="3200400" cy="584775"/>
          </a:xfrm>
          <a:prstGeom prst="rect">
            <a:avLst/>
          </a:prstGeom>
          <a:noFill/>
        </p:spPr>
        <p:txBody>
          <a:bodyPr wrap="square">
            <a:spAutoFit/>
          </a:bodyPr>
          <a:lstStyle/>
          <a:p>
            <a:pPr>
              <a:defRPr sz="1600">
                <a:solidFill>
                  <a:srgbClr val="424242"/>
                </a:solidFill>
              </a:defRPr>
            </a:pPr>
            <a:r>
              <a:rPr sz="1600"/>
              <a:t>First to define explainable AI consulting</a:t>
            </a:r>
          </a:p>
        </p:txBody>
      </p:sp>
      <p:sp>
        <p:nvSpPr>
          <p:cNvPr id="16" name="TextBox 15"/>
          <p:cNvSpPr txBox="1"/>
          <p:nvPr/>
        </p:nvSpPr>
        <p:spPr>
          <a:xfrm>
            <a:off x="4846324" y="2743200"/>
            <a:ext cx="678391" cy="523220"/>
          </a:xfrm>
          <a:prstGeom prst="rect">
            <a:avLst/>
          </a:prstGeom>
          <a:noFill/>
        </p:spPr>
        <p:txBody>
          <a:bodyPr wrap="none">
            <a:spAutoFit/>
          </a:bodyPr>
          <a:lstStyle/>
          <a:p>
            <a:pPr>
              <a:defRPr sz="2800"/>
            </a:pPr>
            <a:r>
              <a:rPr sz="2800"/>
              <a:t>🔄</a:t>
            </a:r>
          </a:p>
        </p:txBody>
      </p:sp>
      <p:sp>
        <p:nvSpPr>
          <p:cNvPr id="17" name="TextBox 16"/>
          <p:cNvSpPr txBox="1"/>
          <p:nvPr/>
        </p:nvSpPr>
        <p:spPr>
          <a:xfrm>
            <a:off x="5394960" y="2743200"/>
            <a:ext cx="1831912" cy="400110"/>
          </a:xfrm>
          <a:prstGeom prst="rect">
            <a:avLst/>
          </a:prstGeom>
          <a:noFill/>
        </p:spPr>
        <p:txBody>
          <a:bodyPr wrap="none">
            <a:spAutoFit/>
          </a:bodyPr>
          <a:lstStyle/>
          <a:p>
            <a:pPr>
              <a:defRPr sz="2000" b="1">
                <a:solidFill>
                  <a:srgbClr val="1A365D"/>
                </a:solidFill>
              </a:defRPr>
            </a:pPr>
            <a:r>
              <a:rPr sz="2000"/>
              <a:t>Switching Costs</a:t>
            </a:r>
          </a:p>
        </p:txBody>
      </p:sp>
      <p:sp>
        <p:nvSpPr>
          <p:cNvPr id="18" name="TextBox 17"/>
          <p:cNvSpPr txBox="1"/>
          <p:nvPr/>
        </p:nvSpPr>
        <p:spPr>
          <a:xfrm>
            <a:off x="5394960" y="3108964"/>
            <a:ext cx="3200400" cy="584775"/>
          </a:xfrm>
          <a:prstGeom prst="rect">
            <a:avLst/>
          </a:prstGeom>
          <a:noFill/>
        </p:spPr>
        <p:txBody>
          <a:bodyPr wrap="square">
            <a:spAutoFit/>
          </a:bodyPr>
          <a:lstStyle/>
          <a:p>
            <a:pPr>
              <a:defRPr sz="1600">
                <a:solidFill>
                  <a:srgbClr val="424242"/>
                </a:solidFill>
              </a:defRPr>
            </a:pPr>
            <a:r>
              <a:rPr sz="1600"/>
              <a:t>Data onboarding, workflow integration</a:t>
            </a:r>
          </a:p>
        </p:txBody>
      </p:sp>
      <p:sp>
        <p:nvSpPr>
          <p:cNvPr id="19" name="TextBox 18"/>
          <p:cNvSpPr txBox="1"/>
          <p:nvPr/>
        </p:nvSpPr>
        <p:spPr>
          <a:xfrm>
            <a:off x="4846324" y="4023360"/>
            <a:ext cx="652743" cy="523220"/>
          </a:xfrm>
          <a:prstGeom prst="rect">
            <a:avLst/>
          </a:prstGeom>
          <a:noFill/>
        </p:spPr>
        <p:txBody>
          <a:bodyPr wrap="none">
            <a:spAutoFit/>
          </a:bodyPr>
          <a:lstStyle/>
          <a:p>
            <a:pPr>
              <a:defRPr sz="2800"/>
            </a:pPr>
            <a:r>
              <a:rPr sz="2800"/>
              <a:t>📈</a:t>
            </a:r>
          </a:p>
        </p:txBody>
      </p:sp>
      <p:sp>
        <p:nvSpPr>
          <p:cNvPr id="20" name="TextBox 19"/>
          <p:cNvSpPr txBox="1"/>
          <p:nvPr/>
        </p:nvSpPr>
        <p:spPr>
          <a:xfrm>
            <a:off x="5394960" y="4023360"/>
            <a:ext cx="1808508" cy="400110"/>
          </a:xfrm>
          <a:prstGeom prst="rect">
            <a:avLst/>
          </a:prstGeom>
          <a:noFill/>
        </p:spPr>
        <p:txBody>
          <a:bodyPr wrap="none">
            <a:spAutoFit/>
          </a:bodyPr>
          <a:lstStyle/>
          <a:p>
            <a:pPr>
              <a:defRPr sz="2000" b="1">
                <a:solidFill>
                  <a:srgbClr val="1A365D"/>
                </a:solidFill>
              </a:defRPr>
            </a:pPr>
            <a:r>
              <a:rPr sz="2000"/>
              <a:t>Flywheel Effect</a:t>
            </a:r>
          </a:p>
        </p:txBody>
      </p:sp>
      <p:sp>
        <p:nvSpPr>
          <p:cNvPr id="21" name="TextBox 20"/>
          <p:cNvSpPr txBox="1"/>
          <p:nvPr/>
        </p:nvSpPr>
        <p:spPr>
          <a:xfrm>
            <a:off x="5394960" y="4389124"/>
            <a:ext cx="3200400" cy="584775"/>
          </a:xfrm>
          <a:prstGeom prst="rect">
            <a:avLst/>
          </a:prstGeom>
          <a:noFill/>
        </p:spPr>
        <p:txBody>
          <a:bodyPr wrap="square">
            <a:spAutoFit/>
          </a:bodyPr>
          <a:lstStyle/>
          <a:p>
            <a:pPr>
              <a:defRPr sz="1600">
                <a:solidFill>
                  <a:srgbClr val="424242"/>
                </a:solidFill>
              </a:defRPr>
            </a:pPr>
            <a:r>
              <a:rPr sz="1600"/>
              <a:t>Network effects compound over time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4" y="320044"/>
            <a:ext cx="3493457" cy="584775"/>
          </a:xfrm>
          <a:prstGeom prst="rect">
            <a:avLst/>
          </a:prstGeom>
          <a:noFill/>
        </p:spPr>
        <p:txBody>
          <a:bodyPr wrap="none">
            <a:spAutoFit/>
          </a:bodyPr>
          <a:lstStyle/>
          <a:p>
            <a:pPr>
              <a:defRPr sz="3200" b="1">
                <a:solidFill>
                  <a:srgbClr val="FFFFFF"/>
                </a:solidFill>
              </a:defRPr>
            </a:pPr>
            <a:r>
              <a:rPr sz="3200"/>
              <a:t>Path to $10M+ ARR</a:t>
            </a:r>
          </a:p>
        </p:txBody>
      </p:sp>
      <p:graphicFrame>
        <p:nvGraphicFramePr>
          <p:cNvPr id="4" name="Table 3"/>
          <p:cNvGraphicFramePr>
            <a:graphicFrameLocks noGrp="1"/>
          </p:cNvGraphicFramePr>
          <p:nvPr/>
        </p:nvGraphicFramePr>
        <p:xfrm>
          <a:off x="457200" y="1463040"/>
          <a:ext cx="8229600" cy="27432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7200">
                <a:tc>
                  <a:txBody>
                    <a:bodyPr/>
                    <a:lstStyle/>
                    <a:p>
                      <a:pPr algn="ctr">
                        <a:defRPr sz="1600" b="1">
                          <a:solidFill>
                            <a:srgbClr val="FFFFFF"/>
                          </a:solidFill>
                        </a:defRPr>
                      </a:pPr>
                      <a:r>
                        <a:t>Metric</a:t>
                      </a:r>
                    </a:p>
                  </a:txBody>
                  <a:tcPr>
                    <a:solidFill>
                      <a:srgbClr val="1A365D"/>
                    </a:solidFill>
                  </a:tcPr>
                </a:tc>
                <a:tc>
                  <a:txBody>
                    <a:bodyPr/>
                    <a:lstStyle/>
                    <a:p>
                      <a:pPr algn="ctr">
                        <a:defRPr sz="1600" b="1">
                          <a:solidFill>
                            <a:srgbClr val="FFFFFF"/>
                          </a:solidFill>
                        </a:defRPr>
                      </a:pPr>
                      <a:r>
                        <a:t>2025</a:t>
                      </a:r>
                    </a:p>
                  </a:txBody>
                  <a:tcPr>
                    <a:solidFill>
                      <a:srgbClr val="1A365D"/>
                    </a:solidFill>
                  </a:tcPr>
                </a:tc>
                <a:tc>
                  <a:txBody>
                    <a:bodyPr/>
                    <a:lstStyle/>
                    <a:p>
                      <a:pPr algn="ctr">
                        <a:defRPr sz="1600" b="1">
                          <a:solidFill>
                            <a:srgbClr val="FFFFFF"/>
                          </a:solidFill>
                        </a:defRPr>
                      </a:pPr>
                      <a:r>
                        <a:t>2026</a:t>
                      </a:r>
                    </a:p>
                  </a:txBody>
                  <a:tcPr>
                    <a:solidFill>
                      <a:srgbClr val="1A365D"/>
                    </a:solidFill>
                  </a:tcPr>
                </a:tc>
                <a:tc>
                  <a:txBody>
                    <a:bodyPr/>
                    <a:lstStyle/>
                    <a:p>
                      <a:pPr algn="ctr">
                        <a:defRPr sz="1600" b="1">
                          <a:solidFill>
                            <a:srgbClr val="FFFFFF"/>
                          </a:solidFill>
                        </a:defRPr>
                      </a:pPr>
                      <a:r>
                        <a:t>2027</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Customers</a:t>
                      </a:r>
                    </a:p>
                  </a:txBody>
                  <a:tcPr>
                    <a:solidFill>
                      <a:srgbClr val="F5F5F5"/>
                    </a:solidFill>
                  </a:tcPr>
                </a:tc>
                <a:tc>
                  <a:txBody>
                    <a:bodyPr/>
                    <a:lstStyle/>
                    <a:p>
                      <a:pPr algn="ctr">
                        <a:defRPr sz="1400">
                          <a:solidFill>
                            <a:srgbClr val="424242"/>
                          </a:solidFill>
                        </a:defRPr>
                      </a:pPr>
                      <a:r>
                        <a:t>15</a:t>
                      </a:r>
                    </a:p>
                  </a:txBody>
                  <a:tcPr>
                    <a:solidFill>
                      <a:srgbClr val="F5F5F5"/>
                    </a:solidFill>
                  </a:tcPr>
                </a:tc>
                <a:tc>
                  <a:txBody>
                    <a:bodyPr/>
                    <a:lstStyle/>
                    <a:p>
                      <a:pPr algn="ctr">
                        <a:defRPr sz="1400">
                          <a:solidFill>
                            <a:srgbClr val="424242"/>
                          </a:solidFill>
                        </a:defRPr>
                      </a:pPr>
                      <a:r>
                        <a:t>50</a:t>
                      </a:r>
                    </a:p>
                  </a:txBody>
                  <a:tcPr>
                    <a:solidFill>
                      <a:srgbClr val="F5F5F5"/>
                    </a:solidFill>
                  </a:tcPr>
                </a:tc>
                <a:tc>
                  <a:txBody>
                    <a:bodyPr/>
                    <a:lstStyle/>
                    <a:p>
                      <a:pPr algn="ctr">
                        <a:defRPr sz="1400">
                          <a:solidFill>
                            <a:srgbClr val="424242"/>
                          </a:solidFill>
                        </a:defRPr>
                      </a:pPr>
                      <a:r>
                        <a:t>150</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Avg. ACV</a:t>
                      </a:r>
                    </a:p>
                  </a:txBody>
                  <a:tcPr/>
                </a:tc>
                <a:tc>
                  <a:txBody>
                    <a:bodyPr/>
                    <a:lstStyle/>
                    <a:p>
                      <a:pPr algn="ctr">
                        <a:defRPr sz="1400">
                          <a:solidFill>
                            <a:srgbClr val="424242"/>
                          </a:solidFill>
                        </a:defRPr>
                      </a:pPr>
                      <a:r>
                        <a:t>$100K</a:t>
                      </a:r>
                    </a:p>
                  </a:txBody>
                  <a:tcPr/>
                </a:tc>
                <a:tc>
                  <a:txBody>
                    <a:bodyPr/>
                    <a:lstStyle/>
                    <a:p>
                      <a:pPr algn="ctr">
                        <a:defRPr sz="1400">
                          <a:solidFill>
                            <a:srgbClr val="424242"/>
                          </a:solidFill>
                        </a:defRPr>
                      </a:pPr>
                      <a:r>
                        <a:t>$120K</a:t>
                      </a:r>
                    </a:p>
                  </a:txBody>
                  <a:tcPr/>
                </a:tc>
                <a:tc>
                  <a:txBody>
                    <a:bodyPr/>
                    <a:lstStyle/>
                    <a:p>
                      <a:pPr algn="ctr">
                        <a:defRPr sz="1400">
                          <a:solidFill>
                            <a:srgbClr val="424242"/>
                          </a:solidFill>
                        </a:defRPr>
                      </a:pPr>
                      <a:r>
                        <a:t>$130K</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Platform ARR</a:t>
                      </a:r>
                    </a:p>
                  </a:txBody>
                  <a:tcPr>
                    <a:solidFill>
                      <a:srgbClr val="F5F5F5"/>
                    </a:solidFill>
                  </a:tcPr>
                </a:tc>
                <a:tc>
                  <a:txBody>
                    <a:bodyPr/>
                    <a:lstStyle/>
                    <a:p>
                      <a:pPr algn="ctr">
                        <a:defRPr sz="1400">
                          <a:solidFill>
                            <a:srgbClr val="424242"/>
                          </a:solidFill>
                        </a:defRPr>
                      </a:pPr>
                      <a:r>
                        <a:t>$1.5M</a:t>
                      </a:r>
                    </a:p>
                  </a:txBody>
                  <a:tcPr>
                    <a:solidFill>
                      <a:srgbClr val="F5F5F5"/>
                    </a:solidFill>
                  </a:tcPr>
                </a:tc>
                <a:tc>
                  <a:txBody>
                    <a:bodyPr/>
                    <a:lstStyle/>
                    <a:p>
                      <a:pPr algn="ctr">
                        <a:defRPr sz="1400">
                          <a:solidFill>
                            <a:srgbClr val="424242"/>
                          </a:solidFill>
                        </a:defRPr>
                      </a:pPr>
                      <a:r>
                        <a:t>$6M</a:t>
                      </a:r>
                    </a:p>
                  </a:txBody>
                  <a:tcPr>
                    <a:solidFill>
                      <a:srgbClr val="F5F5F5"/>
                    </a:solidFill>
                  </a:tcPr>
                </a:tc>
                <a:tc>
                  <a:txBody>
                    <a:bodyPr/>
                    <a:lstStyle/>
                    <a:p>
                      <a:pPr algn="ctr">
                        <a:defRPr sz="1400">
                          <a:solidFill>
                            <a:srgbClr val="424242"/>
                          </a:solidFill>
                        </a:defRPr>
                      </a:pPr>
                      <a:r>
                        <a:t>$19.5M</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Partner + Services</a:t>
                      </a:r>
                    </a:p>
                  </a:txBody>
                  <a:tcPr/>
                </a:tc>
                <a:tc>
                  <a:txBody>
                    <a:bodyPr/>
                    <a:lstStyle/>
                    <a:p>
                      <a:pPr algn="ctr">
                        <a:defRPr sz="1400">
                          <a:solidFill>
                            <a:srgbClr val="424242"/>
                          </a:solidFill>
                        </a:defRPr>
                      </a:pPr>
                      <a:r>
                        <a:t>$0.5M</a:t>
                      </a:r>
                    </a:p>
                  </a:txBody>
                  <a:tcPr/>
                </a:tc>
                <a:tc>
                  <a:txBody>
                    <a:bodyPr/>
                    <a:lstStyle/>
                    <a:p>
                      <a:pPr algn="ctr">
                        <a:defRPr sz="1400">
                          <a:solidFill>
                            <a:srgbClr val="424242"/>
                          </a:solidFill>
                        </a:defRPr>
                      </a:pPr>
                      <a:r>
                        <a:t>$1.5M</a:t>
                      </a:r>
                    </a:p>
                  </a:txBody>
                  <a:tcPr/>
                </a:tc>
                <a:tc>
                  <a:txBody>
                    <a:bodyPr/>
                    <a:lstStyle/>
                    <a:p>
                      <a:pPr algn="ctr">
                        <a:defRPr sz="1400">
                          <a:solidFill>
                            <a:srgbClr val="424242"/>
                          </a:solidFill>
                        </a:defRPr>
                      </a:pPr>
                      <a:r>
                        <a:t>$3.5M</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Total Revenue</a:t>
                      </a:r>
                    </a:p>
                  </a:txBody>
                  <a:tcPr>
                    <a:solidFill>
                      <a:srgbClr val="F5F5F5"/>
                    </a:solidFill>
                  </a:tcPr>
                </a:tc>
                <a:tc>
                  <a:txBody>
                    <a:bodyPr/>
                    <a:lstStyle/>
                    <a:p>
                      <a:pPr algn="ctr">
                        <a:defRPr sz="1400">
                          <a:solidFill>
                            <a:srgbClr val="424242"/>
                          </a:solidFill>
                        </a:defRPr>
                      </a:pPr>
                      <a:r>
                        <a:t>$2M</a:t>
                      </a:r>
                    </a:p>
                  </a:txBody>
                  <a:tcPr>
                    <a:solidFill>
                      <a:srgbClr val="F5F5F5"/>
                    </a:solidFill>
                  </a:tcPr>
                </a:tc>
                <a:tc>
                  <a:txBody>
                    <a:bodyPr/>
                    <a:lstStyle/>
                    <a:p>
                      <a:pPr algn="ctr">
                        <a:defRPr sz="1400">
                          <a:solidFill>
                            <a:srgbClr val="424242"/>
                          </a:solidFill>
                        </a:defRPr>
                      </a:pPr>
                      <a:r>
                        <a:t>$7.5M</a:t>
                      </a:r>
                    </a:p>
                  </a:txBody>
                  <a:tcPr>
                    <a:solidFill>
                      <a:srgbClr val="F5F5F5"/>
                    </a:solidFill>
                  </a:tcPr>
                </a:tc>
                <a:tc>
                  <a:txBody>
                    <a:bodyPr/>
                    <a:lstStyle/>
                    <a:p>
                      <a:pPr algn="ctr">
                        <a:defRPr sz="1400">
                          <a:solidFill>
                            <a:srgbClr val="424242"/>
                          </a:solidFill>
                        </a:defRPr>
                      </a:pPr>
                      <a:r>
                        <a:t>$23M</a:t>
                      </a:r>
                    </a:p>
                  </a:txBody>
                  <a:tcPr>
                    <a:solidFill>
                      <a:srgbClr val="F5F5F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4"/>
            <a:ext cx="3912994" cy="584775"/>
          </a:xfrm>
          <a:prstGeom prst="rect">
            <a:avLst/>
          </a:prstGeom>
          <a:noFill/>
        </p:spPr>
        <p:txBody>
          <a:bodyPr wrap="none">
            <a:spAutoFit/>
          </a:bodyPr>
          <a:lstStyle/>
          <a:p>
            <a:pPr>
              <a:defRPr sz="3200" b="1">
                <a:solidFill>
                  <a:srgbClr val="FFFFFF"/>
                </a:solidFill>
              </a:defRPr>
            </a:pPr>
            <a:r>
              <a:rPr sz="3200"/>
              <a:t>Traction &amp; Milestones</a:t>
            </a:r>
          </a:p>
        </p:txBody>
      </p:sp>
      <p:sp>
        <p:nvSpPr>
          <p:cNvPr id="4" name="TextBox 3"/>
          <p:cNvSpPr txBox="1"/>
          <p:nvPr/>
        </p:nvSpPr>
        <p:spPr>
          <a:xfrm>
            <a:off x="457204" y="1280164"/>
            <a:ext cx="1907317" cy="430887"/>
          </a:xfrm>
          <a:prstGeom prst="rect">
            <a:avLst/>
          </a:prstGeom>
          <a:noFill/>
        </p:spPr>
        <p:txBody>
          <a:bodyPr wrap="none">
            <a:spAutoFit/>
          </a:bodyPr>
          <a:lstStyle/>
          <a:p>
            <a:pPr>
              <a:defRPr sz="2200" b="1">
                <a:solidFill>
                  <a:srgbClr val="1A365D"/>
                </a:solidFill>
              </a:defRPr>
            </a:pPr>
            <a:r>
              <a:rPr sz="2200"/>
              <a:t>Completed ✅</a:t>
            </a:r>
          </a:p>
        </p:txBody>
      </p:sp>
      <p:sp>
        <p:nvSpPr>
          <p:cNvPr id="5" name="TextBox 4"/>
          <p:cNvSpPr txBox="1"/>
          <p:nvPr/>
        </p:nvSpPr>
        <p:spPr>
          <a:xfrm>
            <a:off x="457200" y="1737364"/>
            <a:ext cx="3840480" cy="2451953"/>
          </a:xfrm>
          <a:prstGeom prst="rect">
            <a:avLst/>
          </a:prstGeom>
          <a:noFill/>
        </p:spPr>
        <p:txBody>
          <a:bodyPr wrap="square">
            <a:spAutoFit/>
          </a:bodyPr>
          <a:lstStyle/>
          <a:p>
            <a:pPr>
              <a:spcAft>
                <a:spcPts val="800"/>
              </a:spcAft>
              <a:defRPr sz="2000">
                <a:solidFill>
                  <a:srgbClr val="424242"/>
                </a:solidFill>
              </a:defRPr>
            </a:pPr>
            <a:r>
              <a:rPr sz="2000"/>
              <a:t>• Multi-agent orchestration</a:t>
            </a:r>
          </a:p>
          <a:p>
            <a:pPr>
              <a:spcAft>
                <a:spcPts val="800"/>
              </a:spcAft>
              <a:defRPr sz="2000">
                <a:solidFill>
                  <a:srgbClr val="424242"/>
                </a:solidFill>
              </a:defRPr>
            </a:pPr>
            <a:r>
              <a:rPr sz="2000"/>
              <a:t>• Situation Awareness workflow</a:t>
            </a:r>
          </a:p>
          <a:p>
            <a:pPr>
              <a:spcAft>
                <a:spcPts val="800"/>
              </a:spcAft>
              <a:defRPr sz="2000">
                <a:solidFill>
                  <a:srgbClr val="424242"/>
                </a:solidFill>
              </a:defRPr>
            </a:pPr>
            <a:r>
              <a:rPr sz="2000"/>
              <a:t>• Deep Analysis workflow</a:t>
            </a:r>
          </a:p>
          <a:p>
            <a:pPr>
              <a:spcAft>
                <a:spcPts val="800"/>
              </a:spcAft>
              <a:defRPr sz="2000">
                <a:solidFill>
                  <a:srgbClr val="424242"/>
                </a:solidFill>
              </a:defRPr>
            </a:pPr>
            <a:r>
              <a:rPr sz="2000"/>
              <a:t>• Solution Finder with LLM debate</a:t>
            </a:r>
          </a:p>
          <a:p>
            <a:pPr>
              <a:spcAft>
                <a:spcPts val="800"/>
              </a:spcAft>
              <a:defRPr sz="2000">
                <a:solidFill>
                  <a:srgbClr val="424242"/>
                </a:solidFill>
              </a:defRPr>
            </a:pPr>
            <a:r>
              <a:rPr sz="2000"/>
              <a:t>• Audit trail &amp; HITL checkpoints</a:t>
            </a:r>
          </a:p>
          <a:p>
            <a:pPr>
              <a:spcAft>
                <a:spcPts val="800"/>
              </a:spcAft>
              <a:defRPr sz="2000">
                <a:solidFill>
                  <a:srgbClr val="424242"/>
                </a:solidFill>
              </a:defRPr>
            </a:pPr>
            <a:r>
              <a:rPr sz="2000"/>
              <a:t>• Data product onboarding</a:t>
            </a:r>
          </a:p>
        </p:txBody>
      </p:sp>
      <p:sp>
        <p:nvSpPr>
          <p:cNvPr id="6" name="TextBox 5"/>
          <p:cNvSpPr txBox="1"/>
          <p:nvPr/>
        </p:nvSpPr>
        <p:spPr>
          <a:xfrm>
            <a:off x="4846320" y="1280164"/>
            <a:ext cx="2724592" cy="430887"/>
          </a:xfrm>
          <a:prstGeom prst="rect">
            <a:avLst/>
          </a:prstGeom>
          <a:noFill/>
        </p:spPr>
        <p:txBody>
          <a:bodyPr wrap="none">
            <a:spAutoFit/>
          </a:bodyPr>
          <a:lstStyle/>
          <a:p>
            <a:pPr>
              <a:defRPr sz="2200" b="1">
                <a:solidFill>
                  <a:srgbClr val="1A365D"/>
                </a:solidFill>
              </a:defRPr>
            </a:pPr>
            <a:r>
              <a:rPr sz="2200"/>
              <a:t>Upcoming Milestones</a:t>
            </a:r>
          </a:p>
        </p:txBody>
      </p:sp>
      <p:sp>
        <p:nvSpPr>
          <p:cNvPr id="7" name="TextBox 6"/>
          <p:cNvSpPr txBox="1"/>
          <p:nvPr/>
        </p:nvSpPr>
        <p:spPr>
          <a:xfrm>
            <a:off x="4846320" y="1737364"/>
            <a:ext cx="3840480" cy="2349361"/>
          </a:xfrm>
          <a:prstGeom prst="rect">
            <a:avLst/>
          </a:prstGeom>
          <a:noFill/>
        </p:spPr>
        <p:txBody>
          <a:bodyPr wrap="square">
            <a:spAutoFit/>
          </a:bodyPr>
          <a:lstStyle/>
          <a:p>
            <a:pPr>
              <a:spcAft>
                <a:spcPts val="800"/>
              </a:spcAft>
              <a:defRPr sz="2000">
                <a:solidFill>
                  <a:srgbClr val="424242"/>
                </a:solidFill>
              </a:defRPr>
            </a:pPr>
            <a:r>
              <a:rPr sz="2000"/>
              <a:t>• UI demo-ready: Q1 2025</a:t>
            </a:r>
          </a:p>
          <a:p>
            <a:pPr>
              <a:spcAft>
                <a:spcPts val="800"/>
              </a:spcAft>
              <a:defRPr sz="2000">
                <a:solidFill>
                  <a:srgbClr val="424242"/>
                </a:solidFill>
              </a:defRPr>
            </a:pPr>
            <a:r>
              <a:rPr sz="2000"/>
              <a:t>• First 3 paying customers: Q1 2025</a:t>
            </a:r>
          </a:p>
          <a:p>
            <a:pPr>
              <a:spcAft>
                <a:spcPts val="800"/>
              </a:spcAft>
              <a:defRPr sz="2000">
                <a:solidFill>
                  <a:srgbClr val="424242"/>
                </a:solidFill>
              </a:defRPr>
            </a:pPr>
            <a:r>
              <a:rPr sz="2000"/>
              <a:t>• First partner pilot: Q2 2025</a:t>
            </a:r>
          </a:p>
          <a:p>
            <a:pPr>
              <a:spcAft>
                <a:spcPts val="800"/>
              </a:spcAft>
              <a:defRPr sz="2000">
                <a:solidFill>
                  <a:srgbClr val="424242"/>
                </a:solidFill>
              </a:defRPr>
            </a:pPr>
            <a:r>
              <a:rPr sz="2000"/>
              <a:t>• $500K ARR: Q2 2025</a:t>
            </a:r>
          </a:p>
          <a:p>
            <a:pPr>
              <a:spcAft>
                <a:spcPts val="800"/>
              </a:spcAft>
              <a:defRPr sz="2000">
                <a:solidFill>
                  <a:srgbClr val="424242"/>
                </a:solidFill>
              </a:defRPr>
            </a:pPr>
            <a:r>
              <a:rPr sz="2000"/>
              <a:t>• Marketplace beta: Q3 2025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4"/>
            <a:ext cx="1853392" cy="584775"/>
          </a:xfrm>
          <a:prstGeom prst="rect">
            <a:avLst/>
          </a:prstGeom>
          <a:noFill/>
        </p:spPr>
        <p:txBody>
          <a:bodyPr wrap="none">
            <a:spAutoFit/>
          </a:bodyPr>
          <a:lstStyle/>
          <a:p>
            <a:pPr>
              <a:defRPr sz="3200" b="1">
                <a:solidFill>
                  <a:srgbClr val="FFFFFF"/>
                </a:solidFill>
              </a:defRPr>
            </a:pPr>
            <a:r>
              <a:rPr sz="3200"/>
              <a:t>The Team</a:t>
            </a:r>
          </a:p>
        </p:txBody>
      </p:sp>
      <p:sp>
        <p:nvSpPr>
          <p:cNvPr id="4" name="TextBox 3"/>
          <p:cNvSpPr txBox="1"/>
          <p:nvPr/>
        </p:nvSpPr>
        <p:spPr>
          <a:xfrm>
            <a:off x="457200" y="1371604"/>
            <a:ext cx="8229600" cy="6740307"/>
          </a:xfrm>
          <a:prstGeom prst="rect">
            <a:avLst/>
          </a:prstGeom>
          <a:noFill/>
        </p:spPr>
        <p:txBody>
          <a:bodyPr wrap="square">
            <a:spAutoFit/>
          </a:bodyPr>
          <a:lstStyle/>
          <a:p>
            <a:pPr>
              <a:spcAft>
                <a:spcPts val="1200"/>
              </a:spcAft>
              <a:defRPr sz="2400">
                <a:solidFill>
                  <a:srgbClr val="424242"/>
                </a:solidFill>
              </a:defRPr>
            </a:pPr>
            <a:r>
              <a:rPr sz="2400"/>
              <a:t>[CEO NAME]</a:t>
            </a:r>
          </a:p>
          <a:p>
            <a:pPr>
              <a:spcAft>
                <a:spcPts val="1200"/>
              </a:spcAft>
              <a:defRPr sz="2400">
                <a:solidFill>
                  <a:srgbClr val="424242"/>
                </a:solidFill>
              </a:defRPr>
            </a:pPr>
            <a:r>
              <a:rPr sz="2400"/>
              <a:t>   • [Background in consulting/enterprise software]</a:t>
            </a:r>
          </a:p>
          <a:p>
            <a:pPr>
              <a:spcAft>
                <a:spcPts val="1200"/>
              </a:spcAft>
              <a:defRPr sz="2400">
                <a:solidFill>
                  <a:srgbClr val="424242"/>
                </a:solidFill>
              </a:defRPr>
            </a:pPr>
            <a:endParaRPr sz="2400"/>
          </a:p>
          <a:p>
            <a:pPr>
              <a:spcAft>
                <a:spcPts val="1200"/>
              </a:spcAft>
              <a:defRPr sz="2400">
                <a:solidFill>
                  <a:srgbClr val="424242"/>
                </a:solidFill>
              </a:defRPr>
            </a:pPr>
            <a:r>
              <a:rPr sz="2400"/>
              <a:t>[CTO NAME]</a:t>
            </a:r>
          </a:p>
          <a:p>
            <a:pPr>
              <a:spcAft>
                <a:spcPts val="1200"/>
              </a:spcAft>
              <a:defRPr sz="2400">
                <a:solidFill>
                  <a:srgbClr val="424242"/>
                </a:solidFill>
              </a:defRPr>
            </a:pPr>
            <a:r>
              <a:rPr sz="2400"/>
              <a:t>   • [Background in AI/ML, platform architecture]</a:t>
            </a:r>
          </a:p>
          <a:p>
            <a:pPr>
              <a:spcAft>
                <a:spcPts val="1200"/>
              </a:spcAft>
              <a:defRPr sz="2400">
                <a:solidFill>
                  <a:srgbClr val="424242"/>
                </a:solidFill>
              </a:defRPr>
            </a:pPr>
            <a:endParaRPr sz="2400"/>
          </a:p>
          <a:p>
            <a:pPr>
              <a:spcAft>
                <a:spcPts val="1200"/>
              </a:spcAft>
              <a:defRPr sz="2400">
                <a:solidFill>
                  <a:srgbClr val="424242"/>
                </a:solidFill>
              </a:defRPr>
            </a:pPr>
            <a:r>
              <a:rPr sz="2400"/>
              <a:t>[HEAD OF PARTNERSHIPS]</a:t>
            </a:r>
          </a:p>
          <a:p>
            <a:pPr>
              <a:spcAft>
                <a:spcPts val="1200"/>
              </a:spcAft>
              <a:defRPr sz="2400">
                <a:solidFill>
                  <a:srgbClr val="424242"/>
                </a:solidFill>
              </a:defRPr>
            </a:pPr>
            <a:r>
              <a:rPr sz="2400"/>
              <a:t>   • [Background in consulting, alliances]</a:t>
            </a:r>
          </a:p>
          <a:p>
            <a:pPr>
              <a:spcAft>
                <a:spcPts val="1200"/>
              </a:spcAft>
              <a:defRPr sz="2400">
                <a:solidFill>
                  <a:srgbClr val="424242"/>
                </a:solidFill>
              </a:defRPr>
            </a:pPr>
            <a:endParaRPr sz="2400"/>
          </a:p>
          <a:p>
            <a:pPr>
              <a:spcAft>
                <a:spcPts val="1200"/>
              </a:spcAft>
              <a:defRPr sz="2400">
                <a:solidFill>
                  <a:srgbClr val="424242"/>
                </a:solidFill>
              </a:defRPr>
            </a:pPr>
            <a:r>
              <a:rPr sz="2400"/>
              <a:t>Advisors:</a:t>
            </a:r>
          </a:p>
          <a:p>
            <a:pPr>
              <a:spcAft>
                <a:spcPts val="1200"/>
              </a:spcAft>
              <a:defRPr sz="2400">
                <a:solidFill>
                  <a:srgbClr val="424242"/>
                </a:solidFill>
              </a:defRPr>
            </a:pPr>
            <a:r>
              <a:rPr sz="2400"/>
              <a:t>   • [Former McKinsey Partner]</a:t>
            </a:r>
          </a:p>
          <a:p>
            <a:pPr>
              <a:spcAft>
                <a:spcPts val="1200"/>
              </a:spcAft>
              <a:defRPr sz="2400">
                <a:solidFill>
                  <a:srgbClr val="424242"/>
                </a:solidFill>
              </a:defRPr>
            </a:pPr>
            <a:r>
              <a:rPr sz="2400"/>
              <a:t>   • [Former CDO, Fortune 500]</a:t>
            </a:r>
          </a:p>
          <a:p>
            <a:pPr>
              <a:spcAft>
                <a:spcPts val="1200"/>
              </a:spcAft>
              <a:defRPr sz="2400">
                <a:solidFill>
                  <a:srgbClr val="424242"/>
                </a:solidFill>
              </a:defRPr>
            </a:pPr>
            <a:r>
              <a:rPr sz="2400"/>
              <a:t>   • [Enterprise SaaS founder]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4" y="320044"/>
            <a:ext cx="4639027" cy="584775"/>
          </a:xfrm>
          <a:prstGeom prst="rect">
            <a:avLst/>
          </a:prstGeom>
          <a:noFill/>
        </p:spPr>
        <p:txBody>
          <a:bodyPr wrap="none">
            <a:spAutoFit/>
          </a:bodyPr>
          <a:lstStyle/>
          <a:p>
            <a:pPr>
              <a:defRPr sz="3200" b="1">
                <a:solidFill>
                  <a:srgbClr val="FFFFFF"/>
                </a:solidFill>
              </a:defRPr>
            </a:pPr>
            <a:r>
              <a:rPr sz="3200"/>
              <a:t>What We Need to Execute</a:t>
            </a:r>
          </a:p>
        </p:txBody>
      </p:sp>
      <p:sp>
        <p:nvSpPr>
          <p:cNvPr id="4" name="TextBox 3"/>
          <p:cNvSpPr txBox="1"/>
          <p:nvPr/>
        </p:nvSpPr>
        <p:spPr>
          <a:xfrm>
            <a:off x="457200" y="1371604"/>
            <a:ext cx="8229600" cy="6740307"/>
          </a:xfrm>
          <a:prstGeom prst="rect">
            <a:avLst/>
          </a:prstGeom>
          <a:noFill/>
        </p:spPr>
        <p:txBody>
          <a:bodyPr wrap="square">
            <a:spAutoFit/>
          </a:bodyPr>
          <a:lstStyle/>
          <a:p>
            <a:pPr>
              <a:spcAft>
                <a:spcPts val="1200"/>
              </a:spcAft>
              <a:defRPr sz="2400">
                <a:solidFill>
                  <a:srgbClr val="424242"/>
                </a:solidFill>
              </a:defRPr>
            </a:pPr>
            <a:r>
              <a:rPr sz="2400"/>
              <a:t>FOR INVESTORS 💰</a:t>
            </a:r>
          </a:p>
          <a:p>
            <a:pPr>
              <a:spcAft>
                <a:spcPts val="1200"/>
              </a:spcAft>
              <a:defRPr sz="2400">
                <a:solidFill>
                  <a:srgbClr val="424242"/>
                </a:solidFill>
              </a:defRPr>
            </a:pPr>
            <a:r>
              <a:rPr sz="2400"/>
              <a:t>   • Raising: $[X]M Seed/Series A</a:t>
            </a:r>
          </a:p>
          <a:p>
            <a:pPr>
              <a:spcAft>
                <a:spcPts val="1200"/>
              </a:spcAft>
              <a:defRPr sz="2400">
                <a:solidFill>
                  <a:srgbClr val="424242"/>
                </a:solidFill>
              </a:defRPr>
            </a:pPr>
            <a:r>
              <a:rPr sz="2400"/>
              <a:t>   • Use: 50% Engineering, 30% GTM, 20% Ops</a:t>
            </a:r>
          </a:p>
          <a:p>
            <a:pPr>
              <a:spcAft>
                <a:spcPts val="1200"/>
              </a:spcAft>
              <a:defRPr sz="2400">
                <a:solidFill>
                  <a:srgbClr val="424242"/>
                </a:solidFill>
              </a:defRPr>
            </a:pPr>
            <a:endParaRPr sz="2400"/>
          </a:p>
          <a:p>
            <a:pPr>
              <a:spcAft>
                <a:spcPts val="1200"/>
              </a:spcAft>
              <a:defRPr sz="2400">
                <a:solidFill>
                  <a:srgbClr val="424242"/>
                </a:solidFill>
              </a:defRPr>
            </a:pPr>
            <a:r>
              <a:rPr sz="2400"/>
              <a:t>FOR PARTNERS 🤝</a:t>
            </a:r>
          </a:p>
          <a:p>
            <a:pPr>
              <a:spcAft>
                <a:spcPts val="1200"/>
              </a:spcAft>
              <a:defRPr sz="2400">
                <a:solidFill>
                  <a:srgbClr val="424242"/>
                </a:solidFill>
              </a:defRPr>
            </a:pPr>
            <a:r>
              <a:rPr sz="2400"/>
              <a:t>   • Seeking: 2-3 strategic partners</a:t>
            </a:r>
          </a:p>
          <a:p>
            <a:pPr>
              <a:spcAft>
                <a:spcPts val="1200"/>
              </a:spcAft>
              <a:defRPr sz="2400">
                <a:solidFill>
                  <a:srgbClr val="424242"/>
                </a:solidFill>
              </a:defRPr>
            </a:pPr>
            <a:r>
              <a:rPr sz="2400"/>
              <a:t>   • Investment: $37.5K + methodology</a:t>
            </a:r>
          </a:p>
          <a:p>
            <a:pPr>
              <a:spcAft>
                <a:spcPts val="1200"/>
              </a:spcAft>
              <a:defRPr sz="2400">
                <a:solidFill>
                  <a:srgbClr val="424242"/>
                </a:solidFill>
              </a:defRPr>
            </a:pPr>
            <a:r>
              <a:rPr sz="2400"/>
              <a:t>   • Outcome: Branded agent, revenue share</a:t>
            </a:r>
          </a:p>
          <a:p>
            <a:pPr>
              <a:spcAft>
                <a:spcPts val="1200"/>
              </a:spcAft>
              <a:defRPr sz="2400">
                <a:solidFill>
                  <a:srgbClr val="424242"/>
                </a:solidFill>
              </a:defRPr>
            </a:pPr>
            <a:endParaRPr sz="2400"/>
          </a:p>
          <a:p>
            <a:pPr>
              <a:spcAft>
                <a:spcPts val="1200"/>
              </a:spcAft>
              <a:defRPr sz="2400">
                <a:solidFill>
                  <a:srgbClr val="424242"/>
                </a:solidFill>
              </a:defRPr>
            </a:pPr>
            <a:r>
              <a:rPr sz="2400"/>
              <a:t>FOR CUSTOMERS 🏢</a:t>
            </a:r>
          </a:p>
          <a:p>
            <a:pPr>
              <a:spcAft>
                <a:spcPts val="1200"/>
              </a:spcAft>
              <a:defRPr sz="2400">
                <a:solidFill>
                  <a:srgbClr val="424242"/>
                </a:solidFill>
              </a:defRPr>
            </a:pPr>
            <a:r>
              <a:rPr sz="2400"/>
              <a:t>   • Seeking: 5-10 early adopters</a:t>
            </a:r>
          </a:p>
          <a:p>
            <a:pPr>
              <a:spcAft>
                <a:spcPts val="1200"/>
              </a:spcAft>
              <a:defRPr sz="2400">
                <a:solidFill>
                  <a:srgbClr val="424242"/>
                </a:solidFill>
              </a:defRPr>
            </a:pPr>
            <a:r>
              <a:rPr sz="2400"/>
              <a:t>   • Investment: $50K-$100K pilot</a:t>
            </a:r>
          </a:p>
          <a:p>
            <a:pPr>
              <a:spcAft>
                <a:spcPts val="1200"/>
              </a:spcAft>
              <a:defRPr sz="2400">
                <a:solidFill>
                  <a:srgbClr val="424242"/>
                </a:solidFill>
              </a:defRPr>
            </a:pPr>
            <a:r>
              <a:rPr sz="2400"/>
              <a:t>   • Outcome: On-demand strategic analysis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4" y="320044"/>
            <a:ext cx="3720057" cy="584775"/>
          </a:xfrm>
          <a:prstGeom prst="rect">
            <a:avLst/>
          </a:prstGeom>
          <a:noFill/>
        </p:spPr>
        <p:txBody>
          <a:bodyPr wrap="none">
            <a:spAutoFit/>
          </a:bodyPr>
          <a:lstStyle/>
          <a:p>
            <a:pPr>
              <a:defRPr sz="3200" b="1">
                <a:solidFill>
                  <a:srgbClr val="FFFFFF"/>
                </a:solidFill>
              </a:defRPr>
            </a:pPr>
            <a:r>
              <a:rPr sz="3200"/>
              <a:t>The Window is Open</a:t>
            </a:r>
          </a:p>
        </p:txBody>
      </p:sp>
      <p:sp>
        <p:nvSpPr>
          <p:cNvPr id="4" name="TextBox 3"/>
          <p:cNvSpPr txBox="1"/>
          <p:nvPr/>
        </p:nvSpPr>
        <p:spPr>
          <a:xfrm>
            <a:off x="457204" y="1463040"/>
            <a:ext cx="678391" cy="523220"/>
          </a:xfrm>
          <a:prstGeom prst="rect">
            <a:avLst/>
          </a:prstGeom>
          <a:noFill/>
        </p:spPr>
        <p:txBody>
          <a:bodyPr wrap="none">
            <a:spAutoFit/>
          </a:bodyPr>
          <a:lstStyle/>
          <a:p>
            <a:pPr>
              <a:defRPr sz="2800"/>
            </a:pPr>
            <a:r>
              <a:rPr sz="2800"/>
              <a:t>🚀</a:t>
            </a:r>
          </a:p>
        </p:txBody>
      </p:sp>
      <p:sp>
        <p:nvSpPr>
          <p:cNvPr id="5" name="TextBox 4"/>
          <p:cNvSpPr txBox="1"/>
          <p:nvPr/>
        </p:nvSpPr>
        <p:spPr>
          <a:xfrm>
            <a:off x="1005844" y="1463040"/>
            <a:ext cx="2455031" cy="400110"/>
          </a:xfrm>
          <a:prstGeom prst="rect">
            <a:avLst/>
          </a:prstGeom>
          <a:noFill/>
        </p:spPr>
        <p:txBody>
          <a:bodyPr wrap="none">
            <a:spAutoFit/>
          </a:bodyPr>
          <a:lstStyle/>
          <a:p>
            <a:pPr>
              <a:defRPr sz="2000" b="1">
                <a:solidFill>
                  <a:srgbClr val="1A365D"/>
                </a:solidFill>
              </a:defRPr>
            </a:pPr>
            <a:r>
              <a:rPr sz="2000"/>
              <a:t>Technology Inflection</a:t>
            </a:r>
          </a:p>
        </p:txBody>
      </p:sp>
      <p:sp>
        <p:nvSpPr>
          <p:cNvPr id="6" name="TextBox 5"/>
          <p:cNvSpPr txBox="1"/>
          <p:nvPr/>
        </p:nvSpPr>
        <p:spPr>
          <a:xfrm>
            <a:off x="1005840" y="1828804"/>
            <a:ext cx="3200400" cy="830997"/>
          </a:xfrm>
          <a:prstGeom prst="rect">
            <a:avLst/>
          </a:prstGeom>
          <a:noFill/>
        </p:spPr>
        <p:txBody>
          <a:bodyPr wrap="square">
            <a:spAutoFit/>
          </a:bodyPr>
          <a:lstStyle/>
          <a:p>
            <a:pPr>
              <a:defRPr sz="1600">
                <a:solidFill>
                  <a:srgbClr val="424242"/>
                </a:solidFill>
              </a:defRPr>
            </a:pPr>
            <a:r>
              <a:rPr sz="1600"/>
              <a:t>LLMs now capable of nuanced reasoning; multi-agent systems production-ready</a:t>
            </a:r>
          </a:p>
        </p:txBody>
      </p:sp>
      <p:sp>
        <p:nvSpPr>
          <p:cNvPr id="7" name="TextBox 6"/>
          <p:cNvSpPr txBox="1"/>
          <p:nvPr/>
        </p:nvSpPr>
        <p:spPr>
          <a:xfrm>
            <a:off x="457204" y="2743200"/>
            <a:ext cx="652743" cy="523220"/>
          </a:xfrm>
          <a:prstGeom prst="rect">
            <a:avLst/>
          </a:prstGeom>
          <a:noFill/>
        </p:spPr>
        <p:txBody>
          <a:bodyPr wrap="none">
            <a:spAutoFit/>
          </a:bodyPr>
          <a:lstStyle/>
          <a:p>
            <a:pPr>
              <a:defRPr sz="2800"/>
            </a:pPr>
            <a:r>
              <a:rPr sz="2800"/>
              <a:t>📈</a:t>
            </a:r>
          </a:p>
        </p:txBody>
      </p:sp>
      <p:sp>
        <p:nvSpPr>
          <p:cNvPr id="8" name="TextBox 7"/>
          <p:cNvSpPr txBox="1"/>
          <p:nvPr/>
        </p:nvSpPr>
        <p:spPr>
          <a:xfrm>
            <a:off x="1005844" y="2743200"/>
            <a:ext cx="1745991" cy="400110"/>
          </a:xfrm>
          <a:prstGeom prst="rect">
            <a:avLst/>
          </a:prstGeom>
          <a:noFill/>
        </p:spPr>
        <p:txBody>
          <a:bodyPr wrap="none">
            <a:spAutoFit/>
          </a:bodyPr>
          <a:lstStyle/>
          <a:p>
            <a:pPr>
              <a:defRPr sz="2000" b="1">
                <a:solidFill>
                  <a:srgbClr val="1A365D"/>
                </a:solidFill>
              </a:defRPr>
            </a:pPr>
            <a:r>
              <a:rPr sz="2000"/>
              <a:t>Market Timing</a:t>
            </a:r>
          </a:p>
        </p:txBody>
      </p:sp>
      <p:sp>
        <p:nvSpPr>
          <p:cNvPr id="9" name="TextBox 8"/>
          <p:cNvSpPr txBox="1"/>
          <p:nvPr/>
        </p:nvSpPr>
        <p:spPr>
          <a:xfrm>
            <a:off x="1005840" y="3108964"/>
            <a:ext cx="3200400" cy="584775"/>
          </a:xfrm>
          <a:prstGeom prst="rect">
            <a:avLst/>
          </a:prstGeom>
          <a:noFill/>
        </p:spPr>
        <p:txBody>
          <a:bodyPr wrap="square">
            <a:spAutoFit/>
          </a:bodyPr>
          <a:lstStyle/>
          <a:p>
            <a:pPr>
              <a:defRPr sz="1600">
                <a:solidFill>
                  <a:srgbClr val="424242"/>
                </a:solidFill>
              </a:defRPr>
            </a:pPr>
            <a:r>
              <a:rPr sz="1600"/>
              <a:t>Consulting firms under margin pressure; enterprises demand speed</a:t>
            </a:r>
          </a:p>
        </p:txBody>
      </p:sp>
      <p:sp>
        <p:nvSpPr>
          <p:cNvPr id="10" name="TextBox 9"/>
          <p:cNvSpPr txBox="1"/>
          <p:nvPr/>
        </p:nvSpPr>
        <p:spPr>
          <a:xfrm>
            <a:off x="457204" y="4023360"/>
            <a:ext cx="652743" cy="523220"/>
          </a:xfrm>
          <a:prstGeom prst="rect">
            <a:avLst/>
          </a:prstGeom>
          <a:noFill/>
        </p:spPr>
        <p:txBody>
          <a:bodyPr wrap="none">
            <a:spAutoFit/>
          </a:bodyPr>
          <a:lstStyle/>
          <a:p>
            <a:pPr>
              <a:defRPr sz="2800"/>
            </a:pPr>
            <a:r>
              <a:rPr sz="2800"/>
              <a:t>🏁</a:t>
            </a:r>
          </a:p>
        </p:txBody>
      </p:sp>
      <p:sp>
        <p:nvSpPr>
          <p:cNvPr id="11" name="TextBox 10"/>
          <p:cNvSpPr txBox="1"/>
          <p:nvPr/>
        </p:nvSpPr>
        <p:spPr>
          <a:xfrm>
            <a:off x="1005844" y="4023360"/>
            <a:ext cx="2440283" cy="400110"/>
          </a:xfrm>
          <a:prstGeom prst="rect">
            <a:avLst/>
          </a:prstGeom>
          <a:noFill/>
        </p:spPr>
        <p:txBody>
          <a:bodyPr wrap="none">
            <a:spAutoFit/>
          </a:bodyPr>
          <a:lstStyle/>
          <a:p>
            <a:pPr>
              <a:defRPr sz="2000" b="1">
                <a:solidFill>
                  <a:srgbClr val="1A365D"/>
                </a:solidFill>
              </a:defRPr>
            </a:pPr>
            <a:r>
              <a:rPr sz="2000"/>
              <a:t>Competitive Window</a:t>
            </a:r>
          </a:p>
        </p:txBody>
      </p:sp>
      <p:sp>
        <p:nvSpPr>
          <p:cNvPr id="12" name="TextBox 11"/>
          <p:cNvSpPr txBox="1"/>
          <p:nvPr/>
        </p:nvSpPr>
        <p:spPr>
          <a:xfrm>
            <a:off x="1005840" y="4389124"/>
            <a:ext cx="3200400" cy="584775"/>
          </a:xfrm>
          <a:prstGeom prst="rect">
            <a:avLst/>
          </a:prstGeom>
          <a:noFill/>
        </p:spPr>
        <p:txBody>
          <a:bodyPr wrap="square">
            <a:spAutoFit/>
          </a:bodyPr>
          <a:lstStyle/>
          <a:p>
            <a:pPr>
              <a:defRPr sz="1600">
                <a:solidFill>
                  <a:srgbClr val="424242"/>
                </a:solidFill>
              </a:defRPr>
            </a:pPr>
            <a:r>
              <a:rPr sz="1600"/>
              <a:t>No agentic consulting marketplace exists; first-mover defines category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4"/>
            <a:ext cx="7728398" cy="584775"/>
          </a:xfrm>
          <a:prstGeom prst="rect">
            <a:avLst/>
          </a:prstGeom>
          <a:noFill/>
        </p:spPr>
        <p:txBody>
          <a:bodyPr wrap="none">
            <a:spAutoFit/>
          </a:bodyPr>
          <a:lstStyle/>
          <a:p>
            <a:pPr>
              <a:defRPr sz="3200" b="1">
                <a:solidFill>
                  <a:srgbClr val="FFFFFF"/>
                </a:solidFill>
              </a:defRPr>
            </a:pPr>
            <a:r>
              <a:rPr sz="3200"/>
              <a:t>Agent9: The Agentic Consulting Marketplace</a:t>
            </a:r>
          </a:p>
        </p:txBody>
      </p:sp>
      <p:sp>
        <p:nvSpPr>
          <p:cNvPr id="4" name="TextBox 3"/>
          <p:cNvSpPr txBox="1"/>
          <p:nvPr/>
        </p:nvSpPr>
        <p:spPr>
          <a:xfrm>
            <a:off x="457204" y="1463040"/>
            <a:ext cx="601447" cy="523220"/>
          </a:xfrm>
          <a:prstGeom prst="rect">
            <a:avLst/>
          </a:prstGeom>
          <a:noFill/>
        </p:spPr>
        <p:txBody>
          <a:bodyPr wrap="none">
            <a:spAutoFit/>
          </a:bodyPr>
          <a:lstStyle/>
          <a:p>
            <a:pPr>
              <a:defRPr sz="2800"/>
            </a:pPr>
            <a:r>
              <a:rPr sz="2800"/>
              <a:t>💰</a:t>
            </a:r>
          </a:p>
        </p:txBody>
      </p:sp>
      <p:sp>
        <p:nvSpPr>
          <p:cNvPr id="5" name="TextBox 4"/>
          <p:cNvSpPr txBox="1"/>
          <p:nvPr/>
        </p:nvSpPr>
        <p:spPr>
          <a:xfrm>
            <a:off x="1005840" y="1463040"/>
            <a:ext cx="1673856" cy="400110"/>
          </a:xfrm>
          <a:prstGeom prst="rect">
            <a:avLst/>
          </a:prstGeom>
          <a:noFill/>
        </p:spPr>
        <p:txBody>
          <a:bodyPr wrap="none">
            <a:spAutoFit/>
          </a:bodyPr>
          <a:lstStyle/>
          <a:p>
            <a:pPr>
              <a:defRPr sz="2000" b="1">
                <a:solidFill>
                  <a:srgbClr val="1A365D"/>
                </a:solidFill>
              </a:defRPr>
            </a:pPr>
            <a:r>
              <a:rPr sz="2000"/>
              <a:t>$800B market</a:t>
            </a:r>
          </a:p>
        </p:txBody>
      </p:sp>
      <p:sp>
        <p:nvSpPr>
          <p:cNvPr id="6" name="TextBox 5"/>
          <p:cNvSpPr txBox="1"/>
          <p:nvPr/>
        </p:nvSpPr>
        <p:spPr>
          <a:xfrm>
            <a:off x="1005840" y="1828804"/>
            <a:ext cx="3200400" cy="338554"/>
          </a:xfrm>
          <a:prstGeom prst="rect">
            <a:avLst/>
          </a:prstGeom>
          <a:noFill/>
        </p:spPr>
        <p:txBody>
          <a:bodyPr wrap="square">
            <a:spAutoFit/>
          </a:bodyPr>
          <a:lstStyle/>
          <a:p>
            <a:pPr>
              <a:defRPr sz="1600">
                <a:solidFill>
                  <a:srgbClr val="424242"/>
                </a:solidFill>
              </a:defRPr>
            </a:pPr>
            <a:r>
              <a:rPr sz="1600"/>
              <a:t>Massive, underserved by technology</a:t>
            </a:r>
          </a:p>
        </p:txBody>
      </p:sp>
      <p:sp>
        <p:nvSpPr>
          <p:cNvPr id="7" name="TextBox 6"/>
          <p:cNvSpPr txBox="1"/>
          <p:nvPr/>
        </p:nvSpPr>
        <p:spPr>
          <a:xfrm>
            <a:off x="457204" y="2743200"/>
            <a:ext cx="652743" cy="523220"/>
          </a:xfrm>
          <a:prstGeom prst="rect">
            <a:avLst/>
          </a:prstGeom>
          <a:noFill/>
        </p:spPr>
        <p:txBody>
          <a:bodyPr wrap="none">
            <a:spAutoFit/>
          </a:bodyPr>
          <a:lstStyle/>
          <a:p>
            <a:pPr>
              <a:defRPr sz="2800"/>
            </a:pPr>
            <a:r>
              <a:rPr sz="2800"/>
              <a:t>⚡</a:t>
            </a:r>
          </a:p>
        </p:txBody>
      </p:sp>
      <p:sp>
        <p:nvSpPr>
          <p:cNvPr id="8" name="TextBox 7"/>
          <p:cNvSpPr txBox="1"/>
          <p:nvPr/>
        </p:nvSpPr>
        <p:spPr>
          <a:xfrm>
            <a:off x="1005840" y="2743200"/>
            <a:ext cx="1569148" cy="400110"/>
          </a:xfrm>
          <a:prstGeom prst="rect">
            <a:avLst/>
          </a:prstGeom>
          <a:noFill/>
        </p:spPr>
        <p:txBody>
          <a:bodyPr wrap="none">
            <a:spAutoFit/>
          </a:bodyPr>
          <a:lstStyle/>
          <a:p>
            <a:pPr>
              <a:defRPr sz="2000" b="1">
                <a:solidFill>
                  <a:srgbClr val="1A365D"/>
                </a:solidFill>
              </a:defRPr>
            </a:pPr>
            <a:r>
              <a:rPr sz="2000"/>
              <a:t>10-50x faster</a:t>
            </a:r>
          </a:p>
        </p:txBody>
      </p:sp>
      <p:sp>
        <p:nvSpPr>
          <p:cNvPr id="9" name="TextBox 8"/>
          <p:cNvSpPr txBox="1"/>
          <p:nvPr/>
        </p:nvSpPr>
        <p:spPr>
          <a:xfrm>
            <a:off x="1005840" y="3108960"/>
            <a:ext cx="3200400" cy="338554"/>
          </a:xfrm>
          <a:prstGeom prst="rect">
            <a:avLst/>
          </a:prstGeom>
          <a:noFill/>
        </p:spPr>
        <p:txBody>
          <a:bodyPr wrap="square">
            <a:spAutoFit/>
          </a:bodyPr>
          <a:lstStyle/>
          <a:p>
            <a:pPr>
              <a:defRPr sz="1600">
                <a:solidFill>
                  <a:srgbClr val="424242"/>
                </a:solidFill>
              </a:defRPr>
            </a:pPr>
            <a:r>
              <a:rPr sz="1600"/>
              <a:t>Hours, not months</a:t>
            </a:r>
          </a:p>
        </p:txBody>
      </p:sp>
      <p:sp>
        <p:nvSpPr>
          <p:cNvPr id="10" name="TextBox 9"/>
          <p:cNvSpPr txBox="1"/>
          <p:nvPr/>
        </p:nvSpPr>
        <p:spPr>
          <a:xfrm>
            <a:off x="457204" y="4023360"/>
            <a:ext cx="652743" cy="523220"/>
          </a:xfrm>
          <a:prstGeom prst="rect">
            <a:avLst/>
          </a:prstGeom>
          <a:noFill/>
        </p:spPr>
        <p:txBody>
          <a:bodyPr wrap="none">
            <a:spAutoFit/>
          </a:bodyPr>
          <a:lstStyle/>
          <a:p>
            <a:pPr>
              <a:defRPr sz="2800"/>
            </a:pPr>
            <a:r>
              <a:rPr sz="2800"/>
              <a:t>📉</a:t>
            </a:r>
          </a:p>
        </p:txBody>
      </p:sp>
      <p:sp>
        <p:nvSpPr>
          <p:cNvPr id="11" name="TextBox 10"/>
          <p:cNvSpPr txBox="1"/>
          <p:nvPr/>
        </p:nvSpPr>
        <p:spPr>
          <a:xfrm>
            <a:off x="1005844" y="4023360"/>
            <a:ext cx="1888659" cy="400110"/>
          </a:xfrm>
          <a:prstGeom prst="rect">
            <a:avLst/>
          </a:prstGeom>
          <a:noFill/>
        </p:spPr>
        <p:txBody>
          <a:bodyPr wrap="none">
            <a:spAutoFit/>
          </a:bodyPr>
          <a:lstStyle/>
          <a:p>
            <a:pPr>
              <a:defRPr sz="2000" b="1">
                <a:solidFill>
                  <a:srgbClr val="1A365D"/>
                </a:solidFill>
              </a:defRPr>
            </a:pPr>
            <a:r>
              <a:rPr sz="2000"/>
              <a:t>70-90% cheaper</a:t>
            </a:r>
          </a:p>
        </p:txBody>
      </p:sp>
      <p:sp>
        <p:nvSpPr>
          <p:cNvPr id="12" name="TextBox 11"/>
          <p:cNvSpPr txBox="1"/>
          <p:nvPr/>
        </p:nvSpPr>
        <p:spPr>
          <a:xfrm>
            <a:off x="1005840" y="4389120"/>
            <a:ext cx="3200400" cy="338554"/>
          </a:xfrm>
          <a:prstGeom prst="rect">
            <a:avLst/>
          </a:prstGeom>
          <a:noFill/>
        </p:spPr>
        <p:txBody>
          <a:bodyPr wrap="square">
            <a:spAutoFit/>
          </a:bodyPr>
          <a:lstStyle/>
          <a:p>
            <a:pPr>
              <a:defRPr sz="1600">
                <a:solidFill>
                  <a:srgbClr val="424242"/>
                </a:solidFill>
              </a:defRPr>
            </a:pPr>
            <a:r>
              <a:rPr sz="1600"/>
              <a:t>Accessible to mid-market</a:t>
            </a:r>
          </a:p>
        </p:txBody>
      </p:sp>
      <p:sp>
        <p:nvSpPr>
          <p:cNvPr id="13" name="TextBox 12"/>
          <p:cNvSpPr txBox="1"/>
          <p:nvPr/>
        </p:nvSpPr>
        <p:spPr>
          <a:xfrm>
            <a:off x="4846324" y="1463040"/>
            <a:ext cx="639919" cy="523220"/>
          </a:xfrm>
          <a:prstGeom prst="rect">
            <a:avLst/>
          </a:prstGeom>
          <a:noFill/>
        </p:spPr>
        <p:txBody>
          <a:bodyPr wrap="none">
            <a:spAutoFit/>
          </a:bodyPr>
          <a:lstStyle/>
          <a:p>
            <a:pPr>
              <a:defRPr sz="2800"/>
            </a:pPr>
            <a:r>
              <a:rPr sz="2800"/>
              <a:t>🗣️</a:t>
            </a:r>
          </a:p>
        </p:txBody>
      </p:sp>
      <p:sp>
        <p:nvSpPr>
          <p:cNvPr id="14" name="TextBox 13"/>
          <p:cNvSpPr txBox="1"/>
          <p:nvPr/>
        </p:nvSpPr>
        <p:spPr>
          <a:xfrm>
            <a:off x="5394964" y="1463040"/>
            <a:ext cx="2077813" cy="400110"/>
          </a:xfrm>
          <a:prstGeom prst="rect">
            <a:avLst/>
          </a:prstGeom>
          <a:noFill/>
        </p:spPr>
        <p:txBody>
          <a:bodyPr wrap="none">
            <a:spAutoFit/>
          </a:bodyPr>
          <a:lstStyle/>
          <a:p>
            <a:pPr>
              <a:defRPr sz="2000" b="1">
                <a:solidFill>
                  <a:srgbClr val="1A365D"/>
                </a:solidFill>
              </a:defRPr>
            </a:pPr>
            <a:r>
              <a:rPr sz="2000"/>
              <a:t>Multi-perspective</a:t>
            </a:r>
          </a:p>
        </p:txBody>
      </p:sp>
      <p:sp>
        <p:nvSpPr>
          <p:cNvPr id="15" name="TextBox 14"/>
          <p:cNvSpPr txBox="1"/>
          <p:nvPr/>
        </p:nvSpPr>
        <p:spPr>
          <a:xfrm>
            <a:off x="5394960" y="1828800"/>
            <a:ext cx="3200400" cy="338554"/>
          </a:xfrm>
          <a:prstGeom prst="rect">
            <a:avLst/>
          </a:prstGeom>
          <a:noFill/>
        </p:spPr>
        <p:txBody>
          <a:bodyPr wrap="square">
            <a:spAutoFit/>
          </a:bodyPr>
          <a:lstStyle/>
          <a:p>
            <a:pPr>
              <a:defRPr sz="1600">
                <a:solidFill>
                  <a:srgbClr val="424242"/>
                </a:solidFill>
              </a:defRPr>
            </a:pPr>
            <a:r>
              <a:rPr sz="1600"/>
              <a:t>Best ideas surface through debate</a:t>
            </a:r>
          </a:p>
        </p:txBody>
      </p:sp>
      <p:sp>
        <p:nvSpPr>
          <p:cNvPr id="16" name="TextBox 15"/>
          <p:cNvSpPr txBox="1"/>
          <p:nvPr/>
        </p:nvSpPr>
        <p:spPr>
          <a:xfrm>
            <a:off x="4846324" y="2743200"/>
            <a:ext cx="678391" cy="523220"/>
          </a:xfrm>
          <a:prstGeom prst="rect">
            <a:avLst/>
          </a:prstGeom>
          <a:noFill/>
        </p:spPr>
        <p:txBody>
          <a:bodyPr wrap="none">
            <a:spAutoFit/>
          </a:bodyPr>
          <a:lstStyle/>
          <a:p>
            <a:pPr>
              <a:defRPr sz="2800"/>
            </a:pPr>
            <a:r>
              <a:rPr sz="2800"/>
              <a:t>✅</a:t>
            </a:r>
          </a:p>
        </p:txBody>
      </p:sp>
      <p:sp>
        <p:nvSpPr>
          <p:cNvPr id="17" name="TextBox 16"/>
          <p:cNvSpPr txBox="1"/>
          <p:nvPr/>
        </p:nvSpPr>
        <p:spPr>
          <a:xfrm>
            <a:off x="5394964" y="2743200"/>
            <a:ext cx="1249829" cy="400110"/>
          </a:xfrm>
          <a:prstGeom prst="rect">
            <a:avLst/>
          </a:prstGeom>
          <a:noFill/>
        </p:spPr>
        <p:txBody>
          <a:bodyPr wrap="none">
            <a:spAutoFit/>
          </a:bodyPr>
          <a:lstStyle/>
          <a:p>
            <a:pPr>
              <a:defRPr sz="2000" b="1">
                <a:solidFill>
                  <a:srgbClr val="1A365D"/>
                </a:solidFill>
              </a:defRPr>
            </a:pPr>
            <a:r>
              <a:rPr sz="2000"/>
              <a:t>Audit trail</a:t>
            </a:r>
          </a:p>
        </p:txBody>
      </p:sp>
      <p:sp>
        <p:nvSpPr>
          <p:cNvPr id="18" name="TextBox 17"/>
          <p:cNvSpPr txBox="1"/>
          <p:nvPr/>
        </p:nvSpPr>
        <p:spPr>
          <a:xfrm>
            <a:off x="5394960" y="3108960"/>
            <a:ext cx="3200400" cy="338554"/>
          </a:xfrm>
          <a:prstGeom prst="rect">
            <a:avLst/>
          </a:prstGeom>
          <a:noFill/>
        </p:spPr>
        <p:txBody>
          <a:bodyPr wrap="square">
            <a:spAutoFit/>
          </a:bodyPr>
          <a:lstStyle/>
          <a:p>
            <a:pPr>
              <a:defRPr sz="1600">
                <a:solidFill>
                  <a:srgbClr val="424242"/>
                </a:solidFill>
              </a:defRPr>
            </a:pPr>
            <a:r>
              <a:rPr sz="1600"/>
              <a:t>Compliance-ready, explainable</a:t>
            </a:r>
          </a:p>
        </p:txBody>
      </p:sp>
      <p:sp>
        <p:nvSpPr>
          <p:cNvPr id="19" name="TextBox 18"/>
          <p:cNvSpPr txBox="1"/>
          <p:nvPr/>
        </p:nvSpPr>
        <p:spPr>
          <a:xfrm>
            <a:off x="4846324" y="4023360"/>
            <a:ext cx="652743" cy="523220"/>
          </a:xfrm>
          <a:prstGeom prst="rect">
            <a:avLst/>
          </a:prstGeom>
          <a:noFill/>
        </p:spPr>
        <p:txBody>
          <a:bodyPr wrap="none">
            <a:spAutoFit/>
          </a:bodyPr>
          <a:lstStyle/>
          <a:p>
            <a:pPr>
              <a:defRPr sz="2800"/>
            </a:pPr>
            <a:r>
              <a:rPr sz="2800"/>
              <a:t>📈</a:t>
            </a:r>
          </a:p>
        </p:txBody>
      </p:sp>
      <p:sp>
        <p:nvSpPr>
          <p:cNvPr id="20" name="TextBox 19"/>
          <p:cNvSpPr txBox="1"/>
          <p:nvPr/>
        </p:nvSpPr>
        <p:spPr>
          <a:xfrm>
            <a:off x="5394960" y="4023360"/>
            <a:ext cx="2299476" cy="400110"/>
          </a:xfrm>
          <a:prstGeom prst="rect">
            <a:avLst/>
          </a:prstGeom>
          <a:noFill/>
        </p:spPr>
        <p:txBody>
          <a:bodyPr wrap="none">
            <a:spAutoFit/>
          </a:bodyPr>
          <a:lstStyle/>
          <a:p>
            <a:pPr>
              <a:defRPr sz="2000" b="1">
                <a:solidFill>
                  <a:srgbClr val="1A365D"/>
                </a:solidFill>
              </a:defRPr>
            </a:pPr>
            <a:r>
              <a:rPr sz="2000"/>
              <a:t>Platform economics</a:t>
            </a:r>
          </a:p>
        </p:txBody>
      </p:sp>
      <p:sp>
        <p:nvSpPr>
          <p:cNvPr id="21" name="TextBox 20"/>
          <p:cNvSpPr txBox="1"/>
          <p:nvPr/>
        </p:nvSpPr>
        <p:spPr>
          <a:xfrm>
            <a:off x="5394960" y="4389120"/>
            <a:ext cx="3200400" cy="338554"/>
          </a:xfrm>
          <a:prstGeom prst="rect">
            <a:avLst/>
          </a:prstGeom>
          <a:noFill/>
        </p:spPr>
        <p:txBody>
          <a:bodyPr wrap="square">
            <a:spAutoFit/>
          </a:bodyPr>
          <a:lstStyle/>
          <a:p>
            <a:pPr>
              <a:defRPr sz="1600">
                <a:solidFill>
                  <a:srgbClr val="424242"/>
                </a:solidFill>
              </a:defRPr>
            </a:pPr>
            <a:r>
              <a:rPr sz="1600"/>
              <a:t>Network effects, recurring revenue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365D"/>
        </a:solidFill>
        <a:effectLst/>
      </p:bgPr>
    </p:bg>
    <p:spTree>
      <p:nvGrpSpPr>
        <p:cNvPr id="1" name=""/>
        <p:cNvGrpSpPr/>
        <p:nvPr/>
      </p:nvGrpSpPr>
      <p:grpSpPr>
        <a:xfrm>
          <a:off x="0" y="0"/>
          <a:ext cx="0" cy="0"/>
          <a:chOff x="0" y="0"/>
          <a:chExt cx="0" cy="0"/>
        </a:xfrm>
      </p:grpSpPr>
      <p:sp>
        <p:nvSpPr>
          <p:cNvPr id="2" name="TextBox 1"/>
          <p:cNvSpPr txBox="1"/>
          <p:nvPr/>
        </p:nvSpPr>
        <p:spPr>
          <a:xfrm>
            <a:off x="2997534" y="2286000"/>
            <a:ext cx="3148939" cy="923330"/>
          </a:xfrm>
          <a:prstGeom prst="rect">
            <a:avLst/>
          </a:prstGeom>
          <a:noFill/>
        </p:spPr>
        <p:txBody>
          <a:bodyPr wrap="none">
            <a:spAutoFit/>
          </a:bodyPr>
          <a:lstStyle/>
          <a:p>
            <a:pPr algn="ctr">
              <a:defRPr sz="5400" b="1">
                <a:solidFill>
                  <a:srgbClr val="FFFFFF"/>
                </a:solidFill>
              </a:defRPr>
            </a:pPr>
            <a:r>
              <a:rPr sz="5400"/>
              <a:t>Thank You</a:t>
            </a:r>
          </a:p>
        </p:txBody>
      </p:sp>
      <p:sp>
        <p:nvSpPr>
          <p:cNvPr id="3" name="TextBox 2"/>
          <p:cNvSpPr txBox="1"/>
          <p:nvPr/>
        </p:nvSpPr>
        <p:spPr>
          <a:xfrm>
            <a:off x="2058848" y="3291840"/>
            <a:ext cx="5026311" cy="523220"/>
          </a:xfrm>
          <a:prstGeom prst="rect">
            <a:avLst/>
          </a:prstGeom>
          <a:noFill/>
        </p:spPr>
        <p:txBody>
          <a:bodyPr wrap="none">
            <a:spAutoFit/>
          </a:bodyPr>
          <a:lstStyle/>
          <a:p>
            <a:pPr algn="ctr">
              <a:defRPr sz="2800">
                <a:solidFill>
                  <a:srgbClr val="FFFFFF"/>
                </a:solidFill>
              </a:defRPr>
            </a:pPr>
            <a:r>
              <a:rPr sz="2800"/>
              <a:t>[Your Name] | [email@agent9.ai]</a:t>
            </a:r>
          </a:p>
        </p:txBody>
      </p:sp>
      <p:sp>
        <p:nvSpPr>
          <p:cNvPr id="4" name="TextBox 3"/>
          <p:cNvSpPr txBox="1"/>
          <p:nvPr/>
        </p:nvSpPr>
        <p:spPr>
          <a:xfrm>
            <a:off x="-1537814" y="4206240"/>
            <a:ext cx="12219628" cy="369332"/>
          </a:xfrm>
          <a:prstGeom prst="rect">
            <a:avLst/>
          </a:prstGeom>
          <a:noFill/>
        </p:spPr>
        <p:txBody>
          <a:bodyPr wrap="none">
            <a:spAutoFit/>
          </a:bodyPr>
          <a:lstStyle/>
          <a:p>
            <a:pPr algn="ctr">
              <a:defRPr sz="1800" i="1">
                <a:solidFill>
                  <a:srgbClr val="FFFFFF"/>
                </a:solidFill>
              </a:defRPr>
            </a:pPr>
            <a:r>
              <a:t>The future of consulting is not human OR AI—it's the best human expertise, encoded and debated by AI, with humans in the loop.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365D"/>
        </a:solidFill>
        <a:effectLst/>
      </p:bgPr>
    </p:bg>
    <p:spTree>
      <p:nvGrpSpPr>
        <p:cNvPr id="1" name=""/>
        <p:cNvGrpSpPr/>
        <p:nvPr/>
      </p:nvGrpSpPr>
      <p:grpSpPr>
        <a:xfrm>
          <a:off x="0" y="0"/>
          <a:ext cx="0" cy="0"/>
          <a:chOff x="0" y="0"/>
          <a:chExt cx="0" cy="0"/>
        </a:xfrm>
      </p:grpSpPr>
      <p:sp>
        <p:nvSpPr>
          <p:cNvPr id="2" name="TextBox 1"/>
          <p:cNvSpPr txBox="1"/>
          <p:nvPr/>
        </p:nvSpPr>
        <p:spPr>
          <a:xfrm>
            <a:off x="3276617" y="2743204"/>
            <a:ext cx="2590773" cy="769441"/>
          </a:xfrm>
          <a:prstGeom prst="rect">
            <a:avLst/>
          </a:prstGeom>
          <a:noFill/>
        </p:spPr>
        <p:txBody>
          <a:bodyPr wrap="none">
            <a:spAutoFit/>
          </a:bodyPr>
          <a:lstStyle/>
          <a:p>
            <a:pPr algn="ctr">
              <a:defRPr sz="4400" b="1">
                <a:solidFill>
                  <a:srgbClr val="FFFFFF"/>
                </a:solidFill>
              </a:defRPr>
            </a:pPr>
            <a:r>
              <a:rPr sz="4400"/>
              <a:t>APPENDIX</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4"/>
            <a:ext cx="5822428" cy="584775"/>
          </a:xfrm>
          <a:prstGeom prst="rect">
            <a:avLst/>
          </a:prstGeom>
          <a:noFill/>
        </p:spPr>
        <p:txBody>
          <a:bodyPr wrap="none">
            <a:spAutoFit/>
          </a:bodyPr>
          <a:lstStyle/>
          <a:p>
            <a:pPr>
              <a:defRPr sz="3200" b="1">
                <a:solidFill>
                  <a:srgbClr val="FFFFFF"/>
                </a:solidFill>
              </a:defRPr>
            </a:pPr>
            <a:r>
              <a:rPr sz="3200"/>
              <a:t>Appendix A: Customer ROI Detail</a:t>
            </a:r>
          </a:p>
        </p:txBody>
      </p:sp>
      <p:graphicFrame>
        <p:nvGraphicFramePr>
          <p:cNvPr id="4" name="Table 3"/>
          <p:cNvGraphicFramePr>
            <a:graphicFrameLocks noGrp="1"/>
          </p:cNvGraphicFramePr>
          <p:nvPr/>
        </p:nvGraphicFramePr>
        <p:xfrm>
          <a:off x="457200" y="1463040"/>
          <a:ext cx="8229600" cy="36576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7200">
                <a:tc>
                  <a:txBody>
                    <a:bodyPr/>
                    <a:lstStyle/>
                    <a:p>
                      <a:pPr algn="ctr">
                        <a:defRPr sz="1600" b="1">
                          <a:solidFill>
                            <a:srgbClr val="FFFFFF"/>
                          </a:solidFill>
                        </a:defRPr>
                      </a:pPr>
                      <a:r>
                        <a:t>Category</a:t>
                      </a:r>
                    </a:p>
                  </a:txBody>
                  <a:tcPr>
                    <a:solidFill>
                      <a:srgbClr val="1A365D"/>
                    </a:solidFill>
                  </a:tcPr>
                </a:tc>
                <a:tc>
                  <a:txBody>
                    <a:bodyPr/>
                    <a:lstStyle/>
                    <a:p>
                      <a:pPr algn="ctr">
                        <a:defRPr sz="1600" b="1">
                          <a:solidFill>
                            <a:srgbClr val="FFFFFF"/>
                          </a:solidFill>
                        </a:defRPr>
                      </a:pPr>
                      <a:r>
                        <a:t>Before</a:t>
                      </a:r>
                    </a:p>
                  </a:txBody>
                  <a:tcPr>
                    <a:solidFill>
                      <a:srgbClr val="1A365D"/>
                    </a:solidFill>
                  </a:tcPr>
                </a:tc>
                <a:tc>
                  <a:txBody>
                    <a:bodyPr/>
                    <a:lstStyle/>
                    <a:p>
                      <a:pPr algn="ctr">
                        <a:defRPr sz="1600" b="1">
                          <a:solidFill>
                            <a:srgbClr val="FFFFFF"/>
                          </a:solidFill>
                        </a:defRPr>
                      </a:pPr>
                      <a:r>
                        <a:t>After</a:t>
                      </a:r>
                    </a:p>
                  </a:txBody>
                  <a:tcPr>
                    <a:solidFill>
                      <a:srgbClr val="1A365D"/>
                    </a:solidFill>
                  </a:tcPr>
                </a:tc>
                <a:tc>
                  <a:txBody>
                    <a:bodyPr/>
                    <a:lstStyle/>
                    <a:p>
                      <a:pPr algn="ctr">
                        <a:defRPr sz="1600" b="1">
                          <a:solidFill>
                            <a:srgbClr val="FFFFFF"/>
                          </a:solidFill>
                        </a:defRPr>
                      </a:pPr>
                      <a:r>
                        <a:t>Savings</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Strategy consulting</a:t>
                      </a:r>
                    </a:p>
                  </a:txBody>
                  <a:tcPr>
                    <a:solidFill>
                      <a:srgbClr val="F5F5F5"/>
                    </a:solidFill>
                  </a:tcPr>
                </a:tc>
                <a:tc>
                  <a:txBody>
                    <a:bodyPr/>
                    <a:lstStyle/>
                    <a:p>
                      <a:pPr algn="ctr">
                        <a:defRPr sz="1400">
                          <a:solidFill>
                            <a:srgbClr val="424242"/>
                          </a:solidFill>
                        </a:defRPr>
                      </a:pPr>
                      <a:r>
                        <a:t>$1,000,000</a:t>
                      </a:r>
                    </a:p>
                  </a:txBody>
                  <a:tcPr>
                    <a:solidFill>
                      <a:srgbClr val="F5F5F5"/>
                    </a:solidFill>
                  </a:tcPr>
                </a:tc>
                <a:tc>
                  <a:txBody>
                    <a:bodyPr/>
                    <a:lstStyle/>
                    <a:p>
                      <a:pPr algn="ctr">
                        <a:defRPr sz="1400">
                          <a:solidFill>
                            <a:srgbClr val="424242"/>
                          </a:solidFill>
                        </a:defRPr>
                      </a:pPr>
                      <a:r>
                        <a:t>$200,000</a:t>
                      </a:r>
                    </a:p>
                  </a:txBody>
                  <a:tcPr>
                    <a:solidFill>
                      <a:srgbClr val="F5F5F5"/>
                    </a:solidFill>
                  </a:tcPr>
                </a:tc>
                <a:tc>
                  <a:txBody>
                    <a:bodyPr/>
                    <a:lstStyle/>
                    <a:p>
                      <a:pPr algn="ctr">
                        <a:defRPr sz="1400">
                          <a:solidFill>
                            <a:srgbClr val="424242"/>
                          </a:solidFill>
                        </a:defRPr>
                      </a:pPr>
                      <a:r>
                        <a:t>$800,000</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Operations consulting</a:t>
                      </a:r>
                    </a:p>
                  </a:txBody>
                  <a:tcPr/>
                </a:tc>
                <a:tc>
                  <a:txBody>
                    <a:bodyPr/>
                    <a:lstStyle/>
                    <a:p>
                      <a:pPr algn="ctr">
                        <a:defRPr sz="1400">
                          <a:solidFill>
                            <a:srgbClr val="424242"/>
                          </a:solidFill>
                        </a:defRPr>
                      </a:pPr>
                      <a:r>
                        <a:t>$900,000</a:t>
                      </a:r>
                    </a:p>
                  </a:txBody>
                  <a:tcPr/>
                </a:tc>
                <a:tc>
                  <a:txBody>
                    <a:bodyPr/>
                    <a:lstStyle/>
                    <a:p>
                      <a:pPr algn="ctr">
                        <a:defRPr sz="1400">
                          <a:solidFill>
                            <a:srgbClr val="424242"/>
                          </a:solidFill>
                        </a:defRPr>
                      </a:pPr>
                      <a:r>
                        <a:t>$150,000</a:t>
                      </a:r>
                    </a:p>
                  </a:txBody>
                  <a:tcPr/>
                </a:tc>
                <a:tc>
                  <a:txBody>
                    <a:bodyPr/>
                    <a:lstStyle/>
                    <a:p>
                      <a:pPr algn="ctr">
                        <a:defRPr sz="1400">
                          <a:solidFill>
                            <a:srgbClr val="424242"/>
                          </a:solidFill>
                        </a:defRPr>
                      </a:pPr>
                      <a:r>
                        <a:t>$750,000</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Technology advisory</a:t>
                      </a:r>
                    </a:p>
                  </a:txBody>
                  <a:tcPr>
                    <a:solidFill>
                      <a:srgbClr val="F5F5F5"/>
                    </a:solidFill>
                  </a:tcPr>
                </a:tc>
                <a:tc>
                  <a:txBody>
                    <a:bodyPr/>
                    <a:lstStyle/>
                    <a:p>
                      <a:pPr algn="ctr">
                        <a:defRPr sz="1400">
                          <a:solidFill>
                            <a:srgbClr val="424242"/>
                          </a:solidFill>
                        </a:defRPr>
                      </a:pPr>
                      <a:r>
                        <a:t>$800,000</a:t>
                      </a:r>
                    </a:p>
                  </a:txBody>
                  <a:tcPr>
                    <a:solidFill>
                      <a:srgbClr val="F5F5F5"/>
                    </a:solidFill>
                  </a:tcPr>
                </a:tc>
                <a:tc>
                  <a:txBody>
                    <a:bodyPr/>
                    <a:lstStyle/>
                    <a:p>
                      <a:pPr algn="ctr">
                        <a:defRPr sz="1400">
                          <a:solidFill>
                            <a:srgbClr val="424242"/>
                          </a:solidFill>
                        </a:defRPr>
                      </a:pPr>
                      <a:r>
                        <a:t>$100,000</a:t>
                      </a:r>
                    </a:p>
                  </a:txBody>
                  <a:tcPr>
                    <a:solidFill>
                      <a:srgbClr val="F5F5F5"/>
                    </a:solidFill>
                  </a:tcPr>
                </a:tc>
                <a:tc>
                  <a:txBody>
                    <a:bodyPr/>
                    <a:lstStyle/>
                    <a:p>
                      <a:pPr algn="ctr">
                        <a:defRPr sz="1400">
                          <a:solidFill>
                            <a:srgbClr val="424242"/>
                          </a:solidFill>
                        </a:defRPr>
                      </a:pPr>
                      <a:r>
                        <a:t>$700,000</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Internal analyst support</a:t>
                      </a:r>
                    </a:p>
                  </a:txBody>
                  <a:tcPr/>
                </a:tc>
                <a:tc>
                  <a:txBody>
                    <a:bodyPr/>
                    <a:lstStyle/>
                    <a:p>
                      <a:pPr algn="ctr">
                        <a:defRPr sz="1400">
                          <a:solidFill>
                            <a:srgbClr val="424242"/>
                          </a:solidFill>
                        </a:defRPr>
                      </a:pPr>
                      <a:r>
                        <a:t>$450,000</a:t>
                      </a:r>
                    </a:p>
                  </a:txBody>
                  <a:tcPr/>
                </a:tc>
                <a:tc>
                  <a:txBody>
                    <a:bodyPr/>
                    <a:lstStyle/>
                    <a:p>
                      <a:pPr algn="ctr">
                        <a:defRPr sz="1400">
                          <a:solidFill>
                            <a:srgbClr val="424242"/>
                          </a:solidFill>
                        </a:defRPr>
                      </a:pPr>
                      <a:r>
                        <a:t>$225,000</a:t>
                      </a:r>
                    </a:p>
                  </a:txBody>
                  <a:tcPr/>
                </a:tc>
                <a:tc>
                  <a:txBody>
                    <a:bodyPr/>
                    <a:lstStyle/>
                    <a:p>
                      <a:pPr algn="ctr">
                        <a:defRPr sz="1400">
                          <a:solidFill>
                            <a:srgbClr val="424242"/>
                          </a:solidFill>
                        </a:defRPr>
                      </a:pPr>
                      <a:r>
                        <a:t>$225,000</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Agent9 platform</a:t>
                      </a:r>
                    </a:p>
                  </a:txBody>
                  <a:tcPr>
                    <a:solidFill>
                      <a:srgbClr val="F5F5F5"/>
                    </a:solidFill>
                  </a:tcPr>
                </a:tc>
                <a:tc>
                  <a:txBody>
                    <a:bodyPr/>
                    <a:lstStyle/>
                    <a:p>
                      <a:pPr algn="ctr">
                        <a:defRPr sz="1400">
                          <a:solidFill>
                            <a:srgbClr val="424242"/>
                          </a:solidFill>
                        </a:defRPr>
                      </a:pPr>
                      <a:r>
                        <a:t>$0</a:t>
                      </a:r>
                    </a:p>
                  </a:txBody>
                  <a:tcPr>
                    <a:solidFill>
                      <a:srgbClr val="F5F5F5"/>
                    </a:solidFill>
                  </a:tcPr>
                </a:tc>
                <a:tc>
                  <a:txBody>
                    <a:bodyPr/>
                    <a:lstStyle/>
                    <a:p>
                      <a:pPr algn="ctr">
                        <a:defRPr sz="1400">
                          <a:solidFill>
                            <a:srgbClr val="424242"/>
                          </a:solidFill>
                        </a:defRPr>
                      </a:pPr>
                      <a:r>
                        <a:t>$180,000</a:t>
                      </a:r>
                    </a:p>
                  </a:txBody>
                  <a:tcPr>
                    <a:solidFill>
                      <a:srgbClr val="F5F5F5"/>
                    </a:solidFill>
                  </a:tcPr>
                </a:tc>
                <a:tc>
                  <a:txBody>
                    <a:bodyPr/>
                    <a:lstStyle/>
                    <a:p>
                      <a:pPr algn="ctr">
                        <a:defRPr sz="1400">
                          <a:solidFill>
                            <a:srgbClr val="424242"/>
                          </a:solidFill>
                        </a:defRPr>
                      </a:pPr>
                      <a:r>
                        <a:t>($180,000)</a:t>
                      </a:r>
                    </a:p>
                  </a:txBody>
                  <a:tcPr>
                    <a:solidFill>
                      <a:srgbClr val="F5F5F5"/>
                    </a:solidFill>
                  </a:tcPr>
                </a:tc>
                <a:extLst>
                  <a:ext uri="{0D108BD9-81ED-4DB2-BD59-A6C34878D82A}">
                    <a16:rowId xmlns:a16="http://schemas.microsoft.com/office/drawing/2014/main" val="10005"/>
                  </a:ext>
                </a:extLst>
              </a:tr>
              <a:tr h="457200">
                <a:tc>
                  <a:txBody>
                    <a:bodyPr/>
                    <a:lstStyle/>
                    <a:p>
                      <a:pPr algn="ctr">
                        <a:defRPr sz="1400">
                          <a:solidFill>
                            <a:srgbClr val="424242"/>
                          </a:solidFill>
                        </a:defRPr>
                      </a:pPr>
                      <a:r>
                        <a:t>Agent9 usage</a:t>
                      </a:r>
                    </a:p>
                  </a:txBody>
                  <a:tcPr/>
                </a:tc>
                <a:tc>
                  <a:txBody>
                    <a:bodyPr/>
                    <a:lstStyle/>
                    <a:p>
                      <a:pPr algn="ctr">
                        <a:defRPr sz="1400">
                          <a:solidFill>
                            <a:srgbClr val="424242"/>
                          </a:solidFill>
                        </a:defRPr>
                      </a:pPr>
                      <a:r>
                        <a:t>$0</a:t>
                      </a:r>
                    </a:p>
                  </a:txBody>
                  <a:tcPr/>
                </a:tc>
                <a:tc>
                  <a:txBody>
                    <a:bodyPr/>
                    <a:lstStyle/>
                    <a:p>
                      <a:pPr algn="ctr">
                        <a:defRPr sz="1400">
                          <a:solidFill>
                            <a:srgbClr val="424242"/>
                          </a:solidFill>
                        </a:defRPr>
                      </a:pPr>
                      <a:r>
                        <a:t>$120,000</a:t>
                      </a:r>
                    </a:p>
                  </a:txBody>
                  <a:tcPr/>
                </a:tc>
                <a:tc>
                  <a:txBody>
                    <a:bodyPr/>
                    <a:lstStyle/>
                    <a:p>
                      <a:pPr algn="ctr">
                        <a:defRPr sz="1400">
                          <a:solidFill>
                            <a:srgbClr val="424242"/>
                          </a:solidFill>
                        </a:defRPr>
                      </a:pPr>
                      <a:r>
                        <a:t>($120,000)</a:t>
                      </a:r>
                    </a:p>
                  </a:txBody>
                  <a:tcPr/>
                </a:tc>
                <a:extLst>
                  <a:ext uri="{0D108BD9-81ED-4DB2-BD59-A6C34878D82A}">
                    <a16:rowId xmlns:a16="http://schemas.microsoft.com/office/drawing/2014/main" val="10006"/>
                  </a:ext>
                </a:extLst>
              </a:tr>
              <a:tr h="457200">
                <a:tc>
                  <a:txBody>
                    <a:bodyPr/>
                    <a:lstStyle/>
                    <a:p>
                      <a:pPr algn="ctr">
                        <a:defRPr sz="1400">
                          <a:solidFill>
                            <a:srgbClr val="424242"/>
                          </a:solidFill>
                        </a:defRPr>
                      </a:pPr>
                      <a:r>
                        <a:t>TOTAL</a:t>
                      </a:r>
                    </a:p>
                  </a:txBody>
                  <a:tcPr>
                    <a:solidFill>
                      <a:srgbClr val="F5F5F5"/>
                    </a:solidFill>
                  </a:tcPr>
                </a:tc>
                <a:tc>
                  <a:txBody>
                    <a:bodyPr/>
                    <a:lstStyle/>
                    <a:p>
                      <a:pPr algn="ctr">
                        <a:defRPr sz="1400">
                          <a:solidFill>
                            <a:srgbClr val="424242"/>
                          </a:solidFill>
                        </a:defRPr>
                      </a:pPr>
                      <a:r>
                        <a:t>$3,150,000</a:t>
                      </a:r>
                    </a:p>
                  </a:txBody>
                  <a:tcPr>
                    <a:solidFill>
                      <a:srgbClr val="F5F5F5"/>
                    </a:solidFill>
                  </a:tcPr>
                </a:tc>
                <a:tc>
                  <a:txBody>
                    <a:bodyPr/>
                    <a:lstStyle/>
                    <a:p>
                      <a:pPr algn="ctr">
                        <a:defRPr sz="1400">
                          <a:solidFill>
                            <a:srgbClr val="424242"/>
                          </a:solidFill>
                        </a:defRPr>
                      </a:pPr>
                      <a:r>
                        <a:t>$975,000</a:t>
                      </a:r>
                    </a:p>
                  </a:txBody>
                  <a:tcPr>
                    <a:solidFill>
                      <a:srgbClr val="F5F5F5"/>
                    </a:solidFill>
                  </a:tcPr>
                </a:tc>
                <a:tc>
                  <a:txBody>
                    <a:bodyPr/>
                    <a:lstStyle/>
                    <a:p>
                      <a:pPr algn="ctr">
                        <a:defRPr sz="1400">
                          <a:solidFill>
                            <a:srgbClr val="424242"/>
                          </a:solidFill>
                        </a:defRPr>
                      </a:pPr>
                      <a:r>
                        <a:t>$2,175,000</a:t>
                      </a:r>
                    </a:p>
                  </a:txBody>
                  <a:tcPr>
                    <a:solidFill>
                      <a:srgbClr val="F5F5F5"/>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4" y="320044"/>
            <a:ext cx="6397905" cy="584775"/>
          </a:xfrm>
          <a:prstGeom prst="rect">
            <a:avLst/>
          </a:prstGeom>
          <a:noFill/>
        </p:spPr>
        <p:txBody>
          <a:bodyPr wrap="none">
            <a:spAutoFit/>
          </a:bodyPr>
          <a:lstStyle/>
          <a:p>
            <a:pPr>
              <a:defRPr sz="3200" b="1">
                <a:solidFill>
                  <a:srgbClr val="FFFFFF"/>
                </a:solidFill>
              </a:defRPr>
            </a:pPr>
            <a:r>
              <a:rPr sz="3200"/>
              <a:t>Appendix B: Partner Revenue Model</a:t>
            </a:r>
          </a:p>
        </p:txBody>
      </p:sp>
      <p:graphicFrame>
        <p:nvGraphicFramePr>
          <p:cNvPr id="4" name="Table 3"/>
          <p:cNvGraphicFramePr>
            <a:graphicFrameLocks noGrp="1"/>
          </p:cNvGraphicFramePr>
          <p:nvPr/>
        </p:nvGraphicFramePr>
        <p:xfrm>
          <a:off x="457200" y="1463040"/>
          <a:ext cx="8229600" cy="27432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pPr algn="ctr">
                        <a:defRPr sz="1600" b="1">
                          <a:solidFill>
                            <a:srgbClr val="FFFFFF"/>
                          </a:solidFill>
                        </a:defRPr>
                      </a:pPr>
                      <a:r>
                        <a:t>Revenue Source</a:t>
                      </a:r>
                    </a:p>
                  </a:txBody>
                  <a:tcPr>
                    <a:solidFill>
                      <a:srgbClr val="1A365D"/>
                    </a:solidFill>
                  </a:tcPr>
                </a:tc>
                <a:tc>
                  <a:txBody>
                    <a:bodyPr/>
                    <a:lstStyle/>
                    <a:p>
                      <a:pPr algn="ctr">
                        <a:defRPr sz="1600" b="1">
                          <a:solidFill>
                            <a:srgbClr val="FFFFFF"/>
                          </a:solidFill>
                        </a:defRPr>
                      </a:pPr>
                      <a:r>
                        <a:t>Partner Share</a:t>
                      </a:r>
                    </a:p>
                  </a:txBody>
                  <a:tcPr>
                    <a:solidFill>
                      <a:srgbClr val="1A365D"/>
                    </a:solidFill>
                  </a:tcPr>
                </a:tc>
                <a:tc>
                  <a:txBody>
                    <a:bodyPr/>
                    <a:lstStyle/>
                    <a:p>
                      <a:pPr algn="ctr">
                        <a:defRPr sz="1600" b="1">
                          <a:solidFill>
                            <a:srgbClr val="FFFFFF"/>
                          </a:solidFill>
                        </a:defRPr>
                      </a:pPr>
                      <a:r>
                        <a:t>Year 1 Example</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Agent subscription fees</a:t>
                      </a:r>
                    </a:p>
                  </a:txBody>
                  <a:tcPr>
                    <a:solidFill>
                      <a:srgbClr val="F5F5F5"/>
                    </a:solidFill>
                  </a:tcPr>
                </a:tc>
                <a:tc>
                  <a:txBody>
                    <a:bodyPr/>
                    <a:lstStyle/>
                    <a:p>
                      <a:pPr algn="ctr">
                        <a:defRPr sz="1400">
                          <a:solidFill>
                            <a:srgbClr val="424242"/>
                          </a:solidFill>
                        </a:defRPr>
                      </a:pPr>
                      <a:r>
                        <a:t>70-85%</a:t>
                      </a:r>
                    </a:p>
                  </a:txBody>
                  <a:tcPr>
                    <a:solidFill>
                      <a:srgbClr val="F5F5F5"/>
                    </a:solidFill>
                  </a:tcPr>
                </a:tc>
                <a:tc>
                  <a:txBody>
                    <a:bodyPr/>
                    <a:lstStyle/>
                    <a:p>
                      <a:pPr algn="ctr">
                        <a:defRPr sz="1400">
                          <a:solidFill>
                            <a:srgbClr val="424242"/>
                          </a:solidFill>
                        </a:defRPr>
                      </a:pPr>
                      <a:r>
                        <a:t>$350,000</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Per-debate transaction fees</a:t>
                      </a:r>
                    </a:p>
                  </a:txBody>
                  <a:tcPr/>
                </a:tc>
                <a:tc>
                  <a:txBody>
                    <a:bodyPr/>
                    <a:lstStyle/>
                    <a:p>
                      <a:pPr algn="ctr">
                        <a:defRPr sz="1400">
                          <a:solidFill>
                            <a:srgbClr val="424242"/>
                          </a:solidFill>
                        </a:defRPr>
                      </a:pPr>
                      <a:r>
                        <a:t>60-75%</a:t>
                      </a:r>
                    </a:p>
                  </a:txBody>
                  <a:tcPr/>
                </a:tc>
                <a:tc>
                  <a:txBody>
                    <a:bodyPr/>
                    <a:lstStyle/>
                    <a:p>
                      <a:pPr algn="ctr">
                        <a:defRPr sz="1400">
                          <a:solidFill>
                            <a:srgbClr val="424242"/>
                          </a:solidFill>
                        </a:defRPr>
                      </a:pPr>
                      <a:r>
                        <a:t>$150,000</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Data onboarding (passive)</a:t>
                      </a:r>
                    </a:p>
                  </a:txBody>
                  <a:tcPr>
                    <a:solidFill>
                      <a:srgbClr val="F5F5F5"/>
                    </a:solidFill>
                  </a:tcPr>
                </a:tc>
                <a:tc>
                  <a:txBody>
                    <a:bodyPr/>
                    <a:lstStyle/>
                    <a:p>
                      <a:pPr algn="ctr">
                        <a:defRPr sz="1400">
                          <a:solidFill>
                            <a:srgbClr val="424242"/>
                          </a:solidFill>
                        </a:defRPr>
                      </a:pPr>
                      <a:r>
                        <a:t>10-15%</a:t>
                      </a:r>
                    </a:p>
                  </a:txBody>
                  <a:tcPr>
                    <a:solidFill>
                      <a:srgbClr val="F5F5F5"/>
                    </a:solidFill>
                  </a:tcPr>
                </a:tc>
                <a:tc>
                  <a:txBody>
                    <a:bodyPr/>
                    <a:lstStyle/>
                    <a:p>
                      <a:pPr algn="ctr">
                        <a:defRPr sz="1400">
                          <a:solidFill>
                            <a:srgbClr val="424242"/>
                          </a:solidFill>
                        </a:defRPr>
                      </a:pPr>
                      <a:r>
                        <a:t>$50,000</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Human engagement upsells</a:t>
                      </a:r>
                    </a:p>
                  </a:txBody>
                  <a:tcPr/>
                </a:tc>
                <a:tc>
                  <a:txBody>
                    <a:bodyPr/>
                    <a:lstStyle/>
                    <a:p>
                      <a:pPr algn="ctr">
                        <a:defRPr sz="1400">
                          <a:solidFill>
                            <a:srgbClr val="424242"/>
                          </a:solidFill>
                        </a:defRPr>
                      </a:pPr>
                      <a:r>
                        <a:t>100%</a:t>
                      </a:r>
                    </a:p>
                  </a:txBody>
                  <a:tcPr/>
                </a:tc>
                <a:tc>
                  <a:txBody>
                    <a:bodyPr/>
                    <a:lstStyle/>
                    <a:p>
                      <a:pPr algn="ctr">
                        <a:defRPr sz="1400">
                          <a:solidFill>
                            <a:srgbClr val="424242"/>
                          </a:solidFill>
                        </a:defRPr>
                      </a:pPr>
                      <a:r>
                        <a:t>$500,000</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TOTAL</a:t>
                      </a:r>
                    </a:p>
                  </a:txBody>
                  <a:tcPr>
                    <a:solidFill>
                      <a:srgbClr val="F5F5F5"/>
                    </a:solidFill>
                  </a:tcPr>
                </a:tc>
                <a:tc>
                  <a:txBody>
                    <a:bodyPr/>
                    <a:lstStyle/>
                    <a:p>
                      <a:pPr algn="ctr">
                        <a:defRPr sz="1400">
                          <a:solidFill>
                            <a:srgbClr val="424242"/>
                          </a:solidFill>
                        </a:defRPr>
                      </a:pPr>
                      <a:endParaRPr/>
                    </a:p>
                  </a:txBody>
                  <a:tcPr>
                    <a:solidFill>
                      <a:srgbClr val="F5F5F5"/>
                    </a:solidFill>
                  </a:tcPr>
                </a:tc>
                <a:tc>
                  <a:txBody>
                    <a:bodyPr/>
                    <a:lstStyle/>
                    <a:p>
                      <a:pPr algn="ctr">
                        <a:defRPr sz="1400">
                          <a:solidFill>
                            <a:srgbClr val="424242"/>
                          </a:solidFill>
                        </a:defRPr>
                      </a:pPr>
                      <a:r>
                        <a:t>$1,050,000</a:t>
                      </a:r>
                    </a:p>
                  </a:txBody>
                  <a:tcPr>
                    <a:solidFill>
                      <a:srgbClr val="F5F5F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4"/>
            <a:ext cx="7051930" cy="584775"/>
          </a:xfrm>
          <a:prstGeom prst="rect">
            <a:avLst/>
          </a:prstGeom>
          <a:noFill/>
        </p:spPr>
        <p:txBody>
          <a:bodyPr wrap="none">
            <a:spAutoFit/>
          </a:bodyPr>
          <a:lstStyle/>
          <a:p>
            <a:pPr>
              <a:defRPr sz="3200" b="1">
                <a:solidFill>
                  <a:srgbClr val="FFFFFF"/>
                </a:solidFill>
              </a:defRPr>
            </a:pPr>
            <a:r>
              <a:rPr sz="3200"/>
              <a:t>Appendix C: Competitive Feature Matrix</a:t>
            </a:r>
          </a:p>
        </p:txBody>
      </p:sp>
      <p:graphicFrame>
        <p:nvGraphicFramePr>
          <p:cNvPr id="4" name="Table 3"/>
          <p:cNvGraphicFramePr>
            <a:graphicFrameLocks noGrp="1"/>
          </p:cNvGraphicFramePr>
          <p:nvPr/>
        </p:nvGraphicFramePr>
        <p:xfrm>
          <a:off x="457200" y="1463040"/>
          <a:ext cx="8229600" cy="32004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57200">
                <a:tc>
                  <a:txBody>
                    <a:bodyPr/>
                    <a:lstStyle/>
                    <a:p>
                      <a:pPr algn="ctr">
                        <a:defRPr sz="1600" b="1">
                          <a:solidFill>
                            <a:srgbClr val="FFFFFF"/>
                          </a:solidFill>
                        </a:defRPr>
                      </a:pPr>
                      <a:r>
                        <a:t>Feature</a:t>
                      </a:r>
                    </a:p>
                  </a:txBody>
                  <a:tcPr>
                    <a:solidFill>
                      <a:srgbClr val="1A365D"/>
                    </a:solidFill>
                  </a:tcPr>
                </a:tc>
                <a:tc>
                  <a:txBody>
                    <a:bodyPr/>
                    <a:lstStyle/>
                    <a:p>
                      <a:pPr algn="ctr">
                        <a:defRPr sz="1600" b="1">
                          <a:solidFill>
                            <a:srgbClr val="FFFFFF"/>
                          </a:solidFill>
                        </a:defRPr>
                      </a:pPr>
                      <a:r>
                        <a:t>Agent9</a:t>
                      </a:r>
                    </a:p>
                  </a:txBody>
                  <a:tcPr>
                    <a:solidFill>
                      <a:srgbClr val="1A365D"/>
                    </a:solidFill>
                  </a:tcPr>
                </a:tc>
                <a:tc>
                  <a:txBody>
                    <a:bodyPr/>
                    <a:lstStyle/>
                    <a:p>
                      <a:pPr algn="ctr">
                        <a:defRPr sz="1600" b="1">
                          <a:solidFill>
                            <a:srgbClr val="FFFFFF"/>
                          </a:solidFill>
                        </a:defRPr>
                      </a:pPr>
                      <a:r>
                        <a:t>McKinsey</a:t>
                      </a:r>
                    </a:p>
                  </a:txBody>
                  <a:tcPr>
                    <a:solidFill>
                      <a:srgbClr val="1A365D"/>
                    </a:solidFill>
                  </a:tcPr>
                </a:tc>
                <a:tc>
                  <a:txBody>
                    <a:bodyPr/>
                    <a:lstStyle/>
                    <a:p>
                      <a:pPr algn="ctr">
                        <a:defRPr sz="1600" b="1">
                          <a:solidFill>
                            <a:srgbClr val="FFFFFF"/>
                          </a:solidFill>
                        </a:defRPr>
                      </a:pPr>
                      <a:r>
                        <a:t>ChatGPT</a:t>
                      </a:r>
                    </a:p>
                  </a:txBody>
                  <a:tcPr>
                    <a:solidFill>
                      <a:srgbClr val="1A365D"/>
                    </a:solidFill>
                  </a:tcPr>
                </a:tc>
                <a:tc>
                  <a:txBody>
                    <a:bodyPr/>
                    <a:lstStyle/>
                    <a:p>
                      <a:pPr algn="ctr">
                        <a:defRPr sz="1600" b="1">
                          <a:solidFill>
                            <a:srgbClr val="FFFFFF"/>
                          </a:solidFill>
                        </a:defRPr>
                      </a:pPr>
                      <a:r>
                        <a:t>Palantir</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Strategic expertise</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On-demand (24/7)</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Multi-agent debate</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Full audit trail</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Enterprise data</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5"/>
                  </a:ext>
                </a:extLst>
              </a:tr>
              <a:tr h="457200">
                <a:tc>
                  <a:txBody>
                    <a:bodyPr/>
                    <a:lstStyle/>
                    <a:p>
                      <a:pPr algn="ctr">
                        <a:defRPr sz="1400">
                          <a:solidFill>
                            <a:srgbClr val="424242"/>
                          </a:solidFill>
                        </a:defRPr>
                      </a:pPr>
                      <a:r>
                        <a:t>Cost per insight</a:t>
                      </a:r>
                    </a:p>
                  </a:txBody>
                  <a:tcPr/>
                </a:tc>
                <a:tc>
                  <a:txBody>
                    <a:bodyPr/>
                    <a:lstStyle/>
                    <a:p>
                      <a:pPr algn="ctr">
                        <a:defRPr sz="1400">
                          <a:solidFill>
                            <a:srgbClr val="424242"/>
                          </a:solidFill>
                        </a:defRPr>
                      </a:pPr>
                      <a:r>
                        <a:t>$100-500</a:t>
                      </a:r>
                    </a:p>
                  </a:txBody>
                  <a:tcPr/>
                </a:tc>
                <a:tc>
                  <a:txBody>
                    <a:bodyPr/>
                    <a:lstStyle/>
                    <a:p>
                      <a:pPr algn="ctr">
                        <a:defRPr sz="1400">
                          <a:solidFill>
                            <a:srgbClr val="424242"/>
                          </a:solidFill>
                        </a:defRPr>
                      </a:pPr>
                      <a:r>
                        <a:t>$50K+</a:t>
                      </a:r>
                    </a:p>
                  </a:txBody>
                  <a:tcPr/>
                </a:tc>
                <a:tc>
                  <a:txBody>
                    <a:bodyPr/>
                    <a:lstStyle/>
                    <a:p>
                      <a:pPr algn="ctr">
                        <a:defRPr sz="1400">
                          <a:solidFill>
                            <a:srgbClr val="424242"/>
                          </a:solidFill>
                        </a:defRPr>
                      </a:pPr>
                      <a:r>
                        <a:t>$0.10</a:t>
                      </a:r>
                    </a:p>
                  </a:txBody>
                  <a:tcPr/>
                </a:tc>
                <a:tc>
                  <a:txBody>
                    <a:bodyPr/>
                    <a:lstStyle/>
                    <a:p>
                      <a:pPr algn="ctr">
                        <a:defRPr sz="1400">
                          <a:solidFill>
                            <a:srgbClr val="424242"/>
                          </a:solidFill>
                        </a:defRPr>
                      </a:pPr>
                      <a:r>
                        <a:t>$10K+</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73AE9F4-29A6-445A-8E80-74D6BFBD5D0A}">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286</TotalTime>
  <Words>2022</Words>
  <Application>Microsoft Office PowerPoint</Application>
  <PresentationFormat>On-screen Show (4:3)</PresentationFormat>
  <Paragraphs>389</Paragraphs>
  <Slides>24</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Barry Ellis</cp:lastModifiedBy>
  <cp:revision>3</cp:revision>
  <dcterms:created xsi:type="dcterms:W3CDTF">2013-01-27T09:14:16Z</dcterms:created>
  <dcterms:modified xsi:type="dcterms:W3CDTF">2025-12-03T21:53:14Z</dcterms:modified>
  <cp:category/>
</cp:coreProperties>
</file>