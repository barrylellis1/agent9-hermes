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paint the picture...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gap in the market...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customer has a strategic question...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core technical differentiation. Agent9 isn't a chatbot...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 Awareness is our always-on monitoring layer...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Situation Awareness flags an issue, Deep Analysis investigates...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CaaS marketplace comes alive...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business model connects Partners (Supply) with Customers (Demand) via the Platform...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Agent9 occupies the upper right quadrant: Branded Expertise at AI Scale...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defensibility comes from network effects...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</a:defRPr>
            </a:pPr>
            <a:r>
              <a:t>Agent9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FFFFFF"/>
                </a:solidFill>
              </a:defRPr>
            </a:pPr>
            <a:r>
              <a:t>The Agentic Consulting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i="1">
                <a:solidFill>
                  <a:srgbClr val="F5F5F5"/>
                </a:solidFill>
              </a:defRPr>
            </a:pPr>
            <a:r>
              <a:t>Transforming $800B of consulting into on-demand, AI-powered expertise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Enterprise Decision-Making is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⏱️  Consulting is slow — 12-24 weeks for strategic insights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💰  Consulting is expensive — $500K-$2M minimum engagements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👁️  Single perspective — One firm's bias, no debate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📋  No audit trail — "Trust us" doesn't satisfy boards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🚪  IP walks out — Knowledge leaves with consultants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$800B Market, Zero Agentic Players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Traditional Consulting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Generic AI (ChatGPT)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Agent9 CaaS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Expertise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Agent9: Agentic Consulting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Multiple branded AI agents debate your problem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→ McKinsey Agent + BCG Agent + AWS Agent + ...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Platform synthesizes best ideas into recommendation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→ Multi-agent debate surfaces optimal solutions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Complete audit trail for every decision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→ Full transcript, evidence citations, confidence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Intelligence Pipeline: How Agent9 Thinks</a:t>
            </a:r>
          </a:p>
        </p:txBody>
      </p:sp>
      <p:sp>
        <p:nvSpPr>
          <p:cNvPr id="4" name="Chevron 3"/>
          <p:cNvSpPr/>
          <p:nvPr/>
        </p:nvSpPr>
        <p:spPr>
          <a:xfrm>
            <a:off x="914400" y="2286000"/>
            <a:ext cx="3200400" cy="1828800"/>
          </a:xfrm>
          <a:prstGeom prst="chevron">
            <a:avLst/>
          </a:prstGeom>
          <a:solidFill>
            <a:srgbClr val="2C52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1. SITUATION</a:t>
            </a:r>
          </a:p>
          <a:p>
            <a:r>
              <a:t>AWARENESS</a:t>
            </a:r>
          </a:p>
        </p:txBody>
      </p:sp>
      <p:sp>
        <p:nvSpPr>
          <p:cNvPr id="5" name="Chevron 4"/>
          <p:cNvSpPr/>
          <p:nvPr/>
        </p:nvSpPr>
        <p:spPr>
          <a:xfrm>
            <a:off x="4389120" y="2286000"/>
            <a:ext cx="3200400" cy="1828800"/>
          </a:xfrm>
          <a:prstGeom prst="chevron">
            <a:avLst/>
          </a:prstGeom>
          <a:solidFill>
            <a:srgbClr val="2C52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2. DEEP</a:t>
            </a:r>
          </a:p>
          <a:p>
            <a:r>
              <a:t>ANALYSIS</a:t>
            </a:r>
          </a:p>
        </p:txBody>
      </p:sp>
      <p:sp>
        <p:nvSpPr>
          <p:cNvPr id="6" name="Chevron 5"/>
          <p:cNvSpPr/>
          <p:nvPr/>
        </p:nvSpPr>
        <p:spPr>
          <a:xfrm>
            <a:off x="7863840" y="2286000"/>
            <a:ext cx="3200400" cy="1828800"/>
          </a:xfrm>
          <a:prstGeom prst="chevron">
            <a:avLst/>
          </a:prstGeom>
          <a:solidFill>
            <a:srgbClr val="2E7D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3. SOLUTION</a:t>
            </a:r>
          </a:p>
          <a:p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• Continuous KPI monitoring</a:t>
            </a:r>
            <a:br/>
            <a:r>
              <a:t>• Anomaly detection</a:t>
            </a:r>
            <a:br/>
            <a:r>
              <a:t>• Impact prioritization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297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• Root cause investigation</a:t>
            </a:r>
            <a:br/>
            <a:r>
              <a:t>• Multi-dimensional drill-down</a:t>
            </a:r>
            <a:br/>
            <a:r>
              <a:t>• Evidence gathering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297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• Multi-agent debate</a:t>
            </a:r>
            <a:br/>
            <a:r>
              <a:t>• Branded expert perspectives</a:t>
            </a:r>
            <a:br/>
            <a:r>
              <a:t>• Consensus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</a:defRPr>
            </a:pPr>
            <a:r>
              <a:t>Unlike ChatGPT, Agent9 continuously monitors your business and answers "WHY?" before you 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Stage 1: Automated Situation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🔍  WHAT IT DOES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Continuously monitors 100s of KPIs across your data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Detects anomalies, trends, and threshold breaches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Prioritizes by business impact and principal context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⚡  WHY IT MATTERS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Problems surface in hours, not quarterly reviews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No analyst time spent on routine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Stage 2: Automated Deep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🔍  WHAT IT DOES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Investigates root causes of detected situations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Drills down across dimensions (region, product, channel)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Builds evidence-based problem framing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⚡  WHY IT MATTERS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Answers "why?" before you have to ask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Eliminates weeks of analyst investigation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Stage 3: Multi-Agent Solution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🔍  WHAT IT DOES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Multiple expert agents debate solution options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Each agent applies its methodology to the problem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Platform synthesizes consensus recommendation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⚡  WHY IT MATTERS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Multiple perspectives, not single-firm bias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Full debate transcript for audit/compliance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Three-Sided Marketplace</a:t>
            </a:r>
          </a:p>
        </p:txBody>
      </p:sp>
      <p:sp>
        <p:nvSpPr>
          <p:cNvPr id="4" name="Oval 3"/>
          <p:cNvSpPr/>
          <p:nvPr/>
        </p:nvSpPr>
        <p:spPr>
          <a:xfrm>
            <a:off x="4724247" y="2286000"/>
            <a:ext cx="2743200" cy="2743200"/>
          </a:xfrm>
          <a:prstGeom prst="ellipse">
            <a:avLst/>
          </a:prstGeom>
          <a:solidFill>
            <a:srgbClr val="1A36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/>
            </a:pPr>
            <a:r>
              <a:t>AGENT9</a:t>
            </a:r>
          </a:p>
          <a:p>
            <a:r>
              <a:t>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743200" cy="1828800"/>
          </a:xfrm>
          <a:prstGeom prst="roundRect">
            <a:avLst/>
          </a:prstGeom>
          <a:solidFill>
            <a:srgbClr val="2C5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PARTNERS (Supply)</a:t>
            </a:r>
          </a:p>
          <a:p>
            <a:r>
              <a:t>• Consulting Firms</a:t>
            </a:r>
          </a:p>
          <a:p>
            <a:r>
              <a:t>• Domain Experts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1352" y="2743200"/>
            <a:ext cx="2743200" cy="1828800"/>
          </a:xfrm>
          <a:prstGeom prst="roundRect">
            <a:avLst/>
          </a:prstGeom>
          <a:solidFill>
            <a:srgbClr val="2C5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CUSTOMERS (Demand)</a:t>
            </a:r>
          </a:p>
          <a:p>
            <a:r>
              <a:t>• Enterprises</a:t>
            </a:r>
          </a:p>
          <a:p>
            <a:r>
              <a:t>• PE Firms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3429000"/>
            <a:ext cx="1371600" cy="457200"/>
          </a:xfrm>
          <a:prstGeom prst="rightArrow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ft Arrow 7"/>
          <p:cNvSpPr/>
          <p:nvPr/>
        </p:nvSpPr>
        <p:spPr>
          <a:xfrm>
            <a:off x="6949440" y="3429000"/>
            <a:ext cx="1371600" cy="457200"/>
          </a:xfrm>
          <a:prstGeom prst="leftArrow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5486400"/>
            <a:ext cx="2286000" cy="91440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Platform Fees</a:t>
            </a:r>
          </a:p>
          <a:p>
            <a:r>
              <a:t>$80K-$300K/yr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5486400"/>
            <a:ext cx="2286000" cy="91440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Transaction Fees</a:t>
            </a:r>
          </a:p>
          <a:p>
            <a:r>
              <a:t>$100-$500/debate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5486400"/>
            <a:ext cx="2286000" cy="91440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Partner Share</a:t>
            </a:r>
          </a:p>
          <a:p>
            <a:r>
              <a:t>15-30%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5486400"/>
            <a:ext cx="2286000" cy="91440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Implementation</a:t>
            </a:r>
          </a:p>
          <a:p>
            <a:r>
              <a:t>$50K-$150K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Who We're Targeting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Avg. Deal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PE Portfolio Ops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500 firms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$200K+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⭐⭐⭐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Mid-Market CFOs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⭐⭐⭐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Corp Strategy Teams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500 F500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$300K+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⭐⭐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Data Platform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⭐⭐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Go-to-Market: Land, Expand,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PHASE 1: LAND (Q1-Q2 2025)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Direct sales to 10-20 early adopters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Goal: 5-10 customers, $500K ARR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PHASE 2: EXPAND (Q3-Q4 2025)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Grow within accounts, add use cases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Goal: $150K avg ACV, $2M ARR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PHASE 3: PARTNER (2026)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Launch branded agent marketplace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   • Goal: 50% revenue from partner channel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We're Creating a New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828800"/>
            <a:ext cx="45720" cy="4572000"/>
          </a:xfrm>
          <a:prstGeom prst="rect">
            <a:avLst/>
          </a:prstGeom>
          <a:solidFill>
            <a:srgbClr val="4242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4114800"/>
            <a:ext cx="6400800" cy="45720"/>
          </a:xfrm>
          <a:prstGeom prst="rect">
            <a:avLst/>
          </a:prstGeom>
          <a:solidFill>
            <a:srgbClr val="4242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HIGH 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400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t>LOW 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/>
            </a:pPr>
            <a:r>
              <a:t>LOW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3886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t>HIGH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11680"/>
            <a:ext cx="2743200" cy="1828800"/>
          </a:xfrm>
          <a:prstGeom prst="roundRect">
            <a:avLst/>
          </a:prstGeom>
          <a:noFill/>
          <a:ln>
            <a:solidFill>
              <a:srgbClr val="42424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424242"/>
                </a:solidFill>
              </a:defRPr>
            </a:pPr>
            <a:r>
              <a:t>Traditional Consulting</a:t>
            </a:r>
          </a:p>
          <a:p/>
          <a:p>
            <a:r>
              <a:t>(McKinsey/BCG)</a:t>
            </a:r>
          </a:p>
          <a:p>
            <a:r>
              <a:t>High Expertise, Low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97680"/>
            <a:ext cx="2743200" cy="1828800"/>
          </a:xfrm>
          <a:prstGeom prst="roundRect">
            <a:avLst/>
          </a:prstGeom>
          <a:noFill/>
          <a:ln>
            <a:solidFill>
              <a:srgbClr val="42424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424242"/>
                </a:solidFill>
              </a:defRPr>
            </a:pPr>
            <a:r>
              <a:t>Generic AI</a:t>
            </a:r>
          </a:p>
          <a:p/>
          <a:p>
            <a:r>
              <a:t>(ChatGPT)</a:t>
            </a:r>
          </a:p>
          <a:p>
            <a:r>
              <a:t>High Scale, Low Expertise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743200" cy="1828800"/>
          </a:xfrm>
          <a:prstGeom prst="roundRect">
            <a:avLst/>
          </a:prstGeom>
          <a:solidFill>
            <a:srgbClr val="1A36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Agent9 CaaS</a:t>
            </a:r>
          </a:p>
          <a:p/>
          <a:p>
            <a:r>
              <a:t>Branded Agents at AI Scale</a:t>
            </a:r>
          </a:p>
          <a:p>
            <a:r>
              <a:t>★ WE ARE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Moat Deepens Over Time</a:t>
            </a:r>
          </a:p>
        </p:txBody>
      </p:sp>
      <p:sp>
        <p:nvSpPr>
          <p:cNvPr id="4" name="Donut 3"/>
          <p:cNvSpPr/>
          <p:nvPr/>
        </p:nvSpPr>
        <p:spPr>
          <a:xfrm>
            <a:off x="5181447" y="3200400"/>
            <a:ext cx="1828800" cy="1828800"/>
          </a:xfrm>
          <a:prstGeom prst="donut">
            <a:avLst/>
          </a:prstGeom>
          <a:solidFill>
            <a:srgbClr val="1A36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4247" y="1143000"/>
            <a:ext cx="2743200" cy="1371600"/>
          </a:xfrm>
          <a:prstGeom prst="roundRect">
            <a:avLst/>
          </a:prstGeom>
          <a:solidFill>
            <a:srgbClr val="EBF8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A365D"/>
                </a:solidFill>
              </a:defRPr>
            </a:pPr>
            <a:r>
              <a:t>🤝 Partner Network</a:t>
            </a:r>
          </a:p>
          <a:p>
            <a:pPr>
              <a:defRPr sz="1200"/>
            </a:pPr>
            <a:r>
              <a:t>More expertise → more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10247" y="3429000"/>
            <a:ext cx="2743200" cy="1371600"/>
          </a:xfrm>
          <a:prstGeom prst="roundRect">
            <a:avLst/>
          </a:prstGeom>
          <a:solidFill>
            <a:srgbClr val="EBF8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A365D"/>
                </a:solidFill>
              </a:defRPr>
            </a:pPr>
            <a:r>
              <a:t>📊 Data Network</a:t>
            </a:r>
          </a:p>
          <a:p>
            <a:pPr>
              <a:defRPr sz="1200"/>
            </a:pPr>
            <a:r>
              <a:t>More customers → better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4247" y="5715000"/>
            <a:ext cx="2743200" cy="1371600"/>
          </a:xfrm>
          <a:prstGeom prst="roundRect">
            <a:avLst/>
          </a:prstGeom>
          <a:solidFill>
            <a:srgbClr val="EBF8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A365D"/>
                </a:solidFill>
              </a:defRPr>
            </a:pPr>
            <a:r>
              <a:t>🔒 Methodology</a:t>
            </a:r>
          </a:p>
          <a:p>
            <a:pPr>
              <a:defRPr sz="1200"/>
            </a:pPr>
            <a:r>
              <a:t>IP encoded, hard to replicate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8247" y="3429000"/>
            <a:ext cx="2743200" cy="1371600"/>
          </a:xfrm>
          <a:prstGeom prst="roundRect">
            <a:avLst/>
          </a:prstGeom>
          <a:solidFill>
            <a:srgbClr val="EBF8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A365D"/>
                </a:solidFill>
              </a:defRPr>
            </a:pPr>
            <a:r>
              <a:t>📈 Flywheel</a:t>
            </a:r>
          </a:p>
          <a:p>
            <a:pPr>
              <a:defRPr sz="1200"/>
            </a:pPr>
            <a:r>
              <a:t>Network effects compound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Path to $10M+ ARR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01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Customers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Avg. ACV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$130K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$2M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$7.5M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$23M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[CEO NAME] - Consulting/Enterprise Software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[CTO NAME] - AI/ML Platform Architecture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[HEAD OF PARTNERSHIPS] - Consulting Alliances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ADVISORS: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• Former McKinsey Partner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• Former CDO, Fortune 500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A365D"/>
                </a:solidFill>
              </a:defRPr>
            </a:pPr>
            <a:r>
              <a:t>Investors 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• $X M Seed/Series A</a:t>
            </a:r>
          </a:p>
          <a:p>
            <a:pPr>
              <a:spcAft>
                <a:spcPts val="1000"/>
              </a:spcAft>
              <a:defRPr sz="2000"/>
            </a:pPr>
            <a:r>
              <a:t>• 50% Engineering</a:t>
            </a:r>
          </a:p>
          <a:p>
            <a:pPr>
              <a:spcAft>
                <a:spcPts val="1000"/>
              </a:spcAft>
              <a:defRPr sz="2000"/>
            </a:pPr>
            <a:r>
              <a:t>• 30% GTM</a:t>
            </a:r>
          </a:p>
          <a:p>
            <a:pPr>
              <a:spcAft>
                <a:spcPts val="1000"/>
              </a:spcAft>
              <a:defRPr sz="2000"/>
            </a:pPr>
            <a:r>
              <a:t>• 20%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A365D"/>
                </a:solidFill>
              </a:defRPr>
            </a:pPr>
            <a:r>
              <a:t>Partners &amp; Customers 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• 2-3 Strategic Partners</a:t>
            </a:r>
          </a:p>
          <a:p>
            <a:pPr>
              <a:spcAft>
                <a:spcPts val="1000"/>
              </a:spcAft>
              <a:defRPr sz="2000"/>
            </a:pPr>
            <a:r>
              <a:t>• 5-10 Early Adopters</a:t>
            </a:r>
          </a:p>
          <a:p>
            <a:pPr>
              <a:spcAft>
                <a:spcPts val="1000"/>
              </a:spcAft>
              <a:defRPr sz="2000"/>
            </a:pPr>
            <a:r>
              <a:t>• Pilot Programs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Summary: The Agentic Consulting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💰 $800B market, underserved by technology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⚡ 10-50x faster insights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📉 70-90% cheaper than traditional firms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🗣️ Multi-perspective AI debate</a:t>
            </a:r>
          </a:p>
          <a:p>
            <a:pPr>
              <a:spcAft>
                <a:spcPts val="1400"/>
              </a:spcAft>
              <a:defRPr sz="2400">
                <a:solidFill>
                  <a:srgbClr val="424242"/>
                </a:solidFill>
              </a:defRPr>
            </a:pPr>
            <a:r>
              <a:t>✅ Full audit trail and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